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2"/>
    <p:sldMasterId id="2147483674" r:id="rId3"/>
  </p:sldMasterIdLst>
  <p:notesMasterIdLst>
    <p:notesMasterId r:id="rId65"/>
  </p:notesMasterIdLst>
  <p:sldIdLst>
    <p:sldId id="257" r:id="rId4"/>
    <p:sldId id="258" r:id="rId5"/>
    <p:sldId id="313" r:id="rId6"/>
    <p:sldId id="259" r:id="rId7"/>
    <p:sldId id="307" r:id="rId8"/>
    <p:sldId id="306" r:id="rId9"/>
    <p:sldId id="309" r:id="rId10"/>
    <p:sldId id="310" r:id="rId11"/>
    <p:sldId id="316" r:id="rId12"/>
    <p:sldId id="317" r:id="rId13"/>
    <p:sldId id="318" r:id="rId14"/>
    <p:sldId id="319" r:id="rId15"/>
    <p:sldId id="320" r:id="rId16"/>
    <p:sldId id="269" r:id="rId17"/>
    <p:sldId id="270" r:id="rId18"/>
    <p:sldId id="272" r:id="rId19"/>
    <p:sldId id="308" r:id="rId20"/>
    <p:sldId id="271" r:id="rId21"/>
    <p:sldId id="273" r:id="rId22"/>
    <p:sldId id="274" r:id="rId23"/>
    <p:sldId id="275" r:id="rId24"/>
    <p:sldId id="276" r:id="rId25"/>
    <p:sldId id="311" r:id="rId26"/>
    <p:sldId id="277" r:id="rId27"/>
    <p:sldId id="278" r:id="rId28"/>
    <p:sldId id="279" r:id="rId29"/>
    <p:sldId id="263" r:id="rId30"/>
    <p:sldId id="264" r:id="rId31"/>
    <p:sldId id="265" r:id="rId32"/>
    <p:sldId id="266" r:id="rId33"/>
    <p:sldId id="280" r:id="rId34"/>
    <p:sldId id="281" r:id="rId35"/>
    <p:sldId id="262" r:id="rId36"/>
    <p:sldId id="261" r:id="rId37"/>
    <p:sldId id="260" r:id="rId38"/>
    <p:sldId id="267" r:id="rId39"/>
    <p:sldId id="282" r:id="rId40"/>
    <p:sldId id="283" r:id="rId41"/>
    <p:sldId id="284" r:id="rId42"/>
    <p:sldId id="285" r:id="rId43"/>
    <p:sldId id="286" r:id="rId44"/>
    <p:sldId id="287" r:id="rId45"/>
    <p:sldId id="288" r:id="rId46"/>
    <p:sldId id="289" r:id="rId47"/>
    <p:sldId id="291" r:id="rId48"/>
    <p:sldId id="292" r:id="rId49"/>
    <p:sldId id="293" r:id="rId50"/>
    <p:sldId id="294" r:id="rId51"/>
    <p:sldId id="295" r:id="rId52"/>
    <p:sldId id="296" r:id="rId53"/>
    <p:sldId id="297" r:id="rId54"/>
    <p:sldId id="298" r:id="rId55"/>
    <p:sldId id="299" r:id="rId56"/>
    <p:sldId id="300" r:id="rId57"/>
    <p:sldId id="303" r:id="rId58"/>
    <p:sldId id="304" r:id="rId59"/>
    <p:sldId id="305" r:id="rId60"/>
    <p:sldId id="312" r:id="rId61"/>
    <p:sldId id="290" r:id="rId62"/>
    <p:sldId id="301" r:id="rId63"/>
    <p:sldId id="302"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bidonog@outlook.fr" initials="" lastIdx="1" clrIdx="0">
    <p:extLst>
      <p:ext uri="{19B8F6BF-5375-455C-9EA6-DF929625EA0E}">
        <p15:presenceInfo xmlns:p15="http://schemas.microsoft.com/office/powerpoint/2012/main" userId="f8051bce2e8e3d4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34" autoAdjust="0"/>
    <p:restoredTop sz="94660"/>
  </p:normalViewPr>
  <p:slideViewPr>
    <p:cSldViewPr>
      <p:cViewPr varScale="1">
        <p:scale>
          <a:sx n="59" d="100"/>
          <a:sy n="59" d="100"/>
        </p:scale>
        <p:origin x="1532" y="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1.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commentAuthors" Target="commentAuthor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2.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charts/_rels/chart1.xml.rels><?xml version="1.0" encoding="UTF-8" standalone="yes"?>
<Relationships xmlns="http://schemas.openxmlformats.org/package/2006/relationships"><Relationship Id="rId3" Type="http://schemas.openxmlformats.org/officeDocument/2006/relationships/oleObject" Target="Classeur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Classeur1"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1" i="0" u="none" strike="noStrike" kern="1200" spc="0" baseline="0">
                <a:solidFill>
                  <a:schemeClr val="tx1">
                    <a:lumMod val="65000"/>
                    <a:lumOff val="35000"/>
                  </a:schemeClr>
                </a:solidFill>
                <a:latin typeface="Bodoni MT Condensed" panose="02070606080606020203" pitchFamily="18" charset="0"/>
                <a:ea typeface="+mn-ea"/>
                <a:cs typeface="+mn-cs"/>
              </a:defRPr>
            </a:pPr>
            <a:r>
              <a:rPr lang="en-US" sz="2400" b="1"/>
              <a:t>Statut matrimonial</a:t>
            </a:r>
          </a:p>
        </c:rich>
      </c:tx>
      <c:overlay val="0"/>
      <c:spPr>
        <a:noFill/>
        <a:ln>
          <a:noFill/>
        </a:ln>
        <a:effectLst/>
      </c:spPr>
      <c:txPr>
        <a:bodyPr rot="0" spcFirstLastPara="1" vertOverflow="ellipsis" vert="horz" wrap="square" anchor="ctr" anchorCtr="1"/>
        <a:lstStyle/>
        <a:p>
          <a:pPr>
            <a:defRPr sz="2400" b="1" i="0" u="none" strike="noStrike" kern="1200" spc="0" baseline="0">
              <a:solidFill>
                <a:schemeClr val="tx1">
                  <a:lumMod val="65000"/>
                  <a:lumOff val="35000"/>
                </a:schemeClr>
              </a:solidFill>
              <a:latin typeface="Bodoni MT Condensed" panose="02070606080606020203" pitchFamily="18" charset="0"/>
              <a:ea typeface="+mn-ea"/>
              <a:cs typeface="+mn-cs"/>
            </a:defRPr>
          </a:pPr>
          <a:endParaRPr lang="fr-FR"/>
        </a:p>
      </c:txPr>
    </c:title>
    <c:autoTitleDeleted val="0"/>
    <c:plotArea>
      <c:layout/>
      <c:pieChart>
        <c:varyColors val="1"/>
        <c:ser>
          <c:idx val="0"/>
          <c:order val="0"/>
          <c:tx>
            <c:strRef>
              <c:f>Feuil1!$C$3</c:f>
              <c:strCache>
                <c:ptCount val="1"/>
                <c:pt idx="0">
                  <c:v>Effectif</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AC7-4882-917B-A327113C93B4}"/>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AC7-4882-917B-A327113C93B4}"/>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AC7-4882-917B-A327113C93B4}"/>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AC7-4882-917B-A327113C93B4}"/>
              </c:ext>
            </c:extLst>
          </c:dPt>
          <c:dLbls>
            <c:spPr>
              <a:noFill/>
              <a:ln>
                <a:noFill/>
              </a:ln>
              <a:effectLst/>
            </c:spPr>
            <c:txPr>
              <a:bodyPr rot="0" spcFirstLastPara="1" vertOverflow="ellipsis" vert="horz" wrap="square" anchor="ctr" anchorCtr="1"/>
              <a:lstStyle/>
              <a:p>
                <a:pPr>
                  <a:defRPr sz="1600" b="1" i="0" u="none" strike="noStrike" kern="1200" baseline="0">
                    <a:solidFill>
                      <a:schemeClr val="tx1">
                        <a:lumMod val="75000"/>
                        <a:lumOff val="25000"/>
                      </a:schemeClr>
                    </a:solidFill>
                    <a:latin typeface="Bodoni MT Condensed" panose="02070606080606020203" pitchFamily="18" charset="0"/>
                    <a:ea typeface="+mn-ea"/>
                    <a:cs typeface="+mn-cs"/>
                  </a:defRPr>
                </a:pPr>
                <a:endParaRPr lang="fr-FR"/>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Feuil1!$B$4:$B$7</c:f>
              <c:strCache>
                <c:ptCount val="4"/>
                <c:pt idx="0">
                  <c:v>Célibataire</c:v>
                </c:pt>
                <c:pt idx="1">
                  <c:v>Marié</c:v>
                </c:pt>
                <c:pt idx="2">
                  <c:v>Divorcé/séparé</c:v>
                </c:pt>
                <c:pt idx="3">
                  <c:v>Veuf</c:v>
                </c:pt>
              </c:strCache>
            </c:strRef>
          </c:cat>
          <c:val>
            <c:numRef>
              <c:f>Feuil1!$C$4:$C$7</c:f>
              <c:numCache>
                <c:formatCode>General</c:formatCode>
                <c:ptCount val="4"/>
                <c:pt idx="0">
                  <c:v>35</c:v>
                </c:pt>
                <c:pt idx="1">
                  <c:v>19</c:v>
                </c:pt>
                <c:pt idx="2">
                  <c:v>2</c:v>
                </c:pt>
                <c:pt idx="3">
                  <c:v>4</c:v>
                </c:pt>
              </c:numCache>
            </c:numRef>
          </c:val>
          <c:extLst>
            <c:ext xmlns:c16="http://schemas.microsoft.com/office/drawing/2014/chart" uri="{C3380CC4-5D6E-409C-BE32-E72D297353CC}">
              <c16:uniqueId val="{00000008-4AC7-4882-917B-A327113C93B4}"/>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layout>
        <c:manualLayout>
          <c:xMode val="edge"/>
          <c:yMode val="edge"/>
          <c:x val="0.17163998520712309"/>
          <c:y val="0.87433986662980601"/>
          <c:w val="0.73161638813343421"/>
          <c:h val="0.10105046467705139"/>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Bodoni MT Condensed" panose="02070606080606020203" pitchFamily="18" charset="0"/>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a:latin typeface="Bodoni MT Condensed" panose="02070606080606020203" pitchFamily="18" charset="0"/>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none" spc="0" normalizeH="0" baseline="0">
                <a:solidFill>
                  <a:schemeClr val="dk1">
                    <a:lumMod val="50000"/>
                    <a:lumOff val="50000"/>
                  </a:schemeClr>
                </a:solidFill>
                <a:latin typeface="+mj-lt"/>
                <a:ea typeface="+mj-ea"/>
                <a:cs typeface="+mj-cs"/>
              </a:defRPr>
            </a:pPr>
            <a:r>
              <a:rPr lang="fr-FR"/>
              <a:t>Statut matrimonial</a:t>
            </a:r>
          </a:p>
          <a:p>
            <a:pPr>
              <a:defRPr/>
            </a:pPr>
            <a:endParaRPr lang="fr-FR"/>
          </a:p>
        </c:rich>
      </c:tx>
      <c:overlay val="0"/>
      <c:spPr>
        <a:noFill/>
        <a:ln>
          <a:noFill/>
        </a:ln>
        <a:effectLst/>
      </c:spPr>
      <c:txPr>
        <a:bodyPr rot="0" spcFirstLastPara="1" vertOverflow="ellipsis" vert="horz" wrap="square" anchor="ctr" anchorCtr="1"/>
        <a:lstStyle/>
        <a:p>
          <a:pPr>
            <a:defRPr sz="1600" b="1" i="0" u="none" strike="noStrike" kern="1200" cap="none" spc="0" normalizeH="0" baseline="0">
              <a:solidFill>
                <a:schemeClr val="dk1">
                  <a:lumMod val="50000"/>
                  <a:lumOff val="50000"/>
                </a:schemeClr>
              </a:solidFill>
              <a:latin typeface="+mj-lt"/>
              <a:ea typeface="+mj-ea"/>
              <a:cs typeface="+mj-cs"/>
            </a:defRPr>
          </a:pPr>
          <a:endParaRPr lang="fr-FR"/>
        </a:p>
      </c:txPr>
    </c:title>
    <c:autoTitleDeleted val="0"/>
    <c:plotArea>
      <c:layout/>
      <c:barChart>
        <c:barDir val="col"/>
        <c:grouping val="clustered"/>
        <c:varyColors val="0"/>
        <c:ser>
          <c:idx val="0"/>
          <c:order val="0"/>
          <c:tx>
            <c:strRef>
              <c:f>Feuil1!$B$4</c:f>
              <c:strCache>
                <c:ptCount val="1"/>
                <c:pt idx="0">
                  <c:v>Célibataire</c:v>
                </c:pt>
              </c:strCache>
            </c:strRef>
          </c:tx>
          <c:spPr>
            <a:solidFill>
              <a:schemeClr val="accent1"/>
            </a:solidFill>
            <a:ln>
              <a:noFill/>
            </a:ln>
            <a:effectLst/>
          </c:spPr>
          <c:invertIfNegative val="0"/>
          <c:cat>
            <c:strRef>
              <c:f>Feuil1!$C$3</c:f>
              <c:strCache>
                <c:ptCount val="1"/>
                <c:pt idx="0">
                  <c:v>Effectif</c:v>
                </c:pt>
              </c:strCache>
            </c:strRef>
          </c:cat>
          <c:val>
            <c:numRef>
              <c:f>Feuil1!$C$4</c:f>
              <c:numCache>
                <c:formatCode>General</c:formatCode>
                <c:ptCount val="1"/>
                <c:pt idx="0">
                  <c:v>35</c:v>
                </c:pt>
              </c:numCache>
            </c:numRef>
          </c:val>
          <c:extLst>
            <c:ext xmlns:c16="http://schemas.microsoft.com/office/drawing/2014/chart" uri="{C3380CC4-5D6E-409C-BE32-E72D297353CC}">
              <c16:uniqueId val="{00000000-83C3-4088-9550-6669BBA372BA}"/>
            </c:ext>
          </c:extLst>
        </c:ser>
        <c:ser>
          <c:idx val="1"/>
          <c:order val="1"/>
          <c:tx>
            <c:strRef>
              <c:f>Feuil1!$B$5</c:f>
              <c:strCache>
                <c:ptCount val="1"/>
                <c:pt idx="0">
                  <c:v>Marié</c:v>
                </c:pt>
              </c:strCache>
            </c:strRef>
          </c:tx>
          <c:spPr>
            <a:solidFill>
              <a:schemeClr val="accent2"/>
            </a:solidFill>
            <a:ln>
              <a:noFill/>
            </a:ln>
            <a:effectLst/>
          </c:spPr>
          <c:invertIfNegative val="0"/>
          <c:cat>
            <c:strRef>
              <c:f>Feuil1!$C$3</c:f>
              <c:strCache>
                <c:ptCount val="1"/>
                <c:pt idx="0">
                  <c:v>Effectif</c:v>
                </c:pt>
              </c:strCache>
            </c:strRef>
          </c:cat>
          <c:val>
            <c:numRef>
              <c:f>Feuil1!$C$5</c:f>
              <c:numCache>
                <c:formatCode>General</c:formatCode>
                <c:ptCount val="1"/>
                <c:pt idx="0">
                  <c:v>19</c:v>
                </c:pt>
              </c:numCache>
            </c:numRef>
          </c:val>
          <c:extLst>
            <c:ext xmlns:c16="http://schemas.microsoft.com/office/drawing/2014/chart" uri="{C3380CC4-5D6E-409C-BE32-E72D297353CC}">
              <c16:uniqueId val="{00000001-83C3-4088-9550-6669BBA372BA}"/>
            </c:ext>
          </c:extLst>
        </c:ser>
        <c:ser>
          <c:idx val="2"/>
          <c:order val="2"/>
          <c:tx>
            <c:strRef>
              <c:f>Feuil1!$B$6</c:f>
              <c:strCache>
                <c:ptCount val="1"/>
                <c:pt idx="0">
                  <c:v>Divorcé/séparé</c:v>
                </c:pt>
              </c:strCache>
            </c:strRef>
          </c:tx>
          <c:spPr>
            <a:solidFill>
              <a:schemeClr val="accent3"/>
            </a:solidFill>
            <a:ln>
              <a:noFill/>
            </a:ln>
            <a:effectLst/>
          </c:spPr>
          <c:invertIfNegative val="0"/>
          <c:cat>
            <c:strRef>
              <c:f>Feuil1!$C$3</c:f>
              <c:strCache>
                <c:ptCount val="1"/>
                <c:pt idx="0">
                  <c:v>Effectif</c:v>
                </c:pt>
              </c:strCache>
            </c:strRef>
          </c:cat>
          <c:val>
            <c:numRef>
              <c:f>Feuil1!$C$6</c:f>
              <c:numCache>
                <c:formatCode>General</c:formatCode>
                <c:ptCount val="1"/>
                <c:pt idx="0">
                  <c:v>2</c:v>
                </c:pt>
              </c:numCache>
            </c:numRef>
          </c:val>
          <c:extLst>
            <c:ext xmlns:c16="http://schemas.microsoft.com/office/drawing/2014/chart" uri="{C3380CC4-5D6E-409C-BE32-E72D297353CC}">
              <c16:uniqueId val="{00000002-83C3-4088-9550-6669BBA372BA}"/>
            </c:ext>
          </c:extLst>
        </c:ser>
        <c:ser>
          <c:idx val="3"/>
          <c:order val="3"/>
          <c:tx>
            <c:strRef>
              <c:f>Feuil1!$B$7</c:f>
              <c:strCache>
                <c:ptCount val="1"/>
                <c:pt idx="0">
                  <c:v>Veuf</c:v>
                </c:pt>
              </c:strCache>
            </c:strRef>
          </c:tx>
          <c:spPr>
            <a:solidFill>
              <a:schemeClr val="accent4"/>
            </a:solidFill>
            <a:ln>
              <a:noFill/>
            </a:ln>
            <a:effectLst/>
          </c:spPr>
          <c:invertIfNegative val="0"/>
          <c:cat>
            <c:strRef>
              <c:f>Feuil1!$C$3</c:f>
              <c:strCache>
                <c:ptCount val="1"/>
                <c:pt idx="0">
                  <c:v>Effectif</c:v>
                </c:pt>
              </c:strCache>
            </c:strRef>
          </c:cat>
          <c:val>
            <c:numRef>
              <c:f>Feuil1!$C$7</c:f>
              <c:numCache>
                <c:formatCode>General</c:formatCode>
                <c:ptCount val="1"/>
                <c:pt idx="0">
                  <c:v>4</c:v>
                </c:pt>
              </c:numCache>
            </c:numRef>
          </c:val>
          <c:extLst>
            <c:ext xmlns:c16="http://schemas.microsoft.com/office/drawing/2014/chart" uri="{C3380CC4-5D6E-409C-BE32-E72D297353CC}">
              <c16:uniqueId val="{00000003-83C3-4088-9550-6669BBA372BA}"/>
            </c:ext>
          </c:extLst>
        </c:ser>
        <c:dLbls>
          <c:showLegendKey val="0"/>
          <c:showVal val="0"/>
          <c:showCatName val="0"/>
          <c:showSerName val="0"/>
          <c:showPercent val="0"/>
          <c:showBubbleSize val="0"/>
        </c:dLbls>
        <c:gapWidth val="267"/>
        <c:overlap val="-43"/>
        <c:axId val="515205416"/>
        <c:axId val="515210992"/>
      </c:barChart>
      <c:catAx>
        <c:axId val="515205416"/>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dk1">
                    <a:lumMod val="65000"/>
                    <a:lumOff val="35000"/>
                  </a:schemeClr>
                </a:solidFill>
                <a:latin typeface="+mn-lt"/>
                <a:ea typeface="+mn-ea"/>
                <a:cs typeface="+mn-cs"/>
              </a:defRPr>
            </a:pPr>
            <a:endParaRPr lang="fr-FR"/>
          </a:p>
        </c:txPr>
        <c:crossAx val="515210992"/>
        <c:crosses val="autoZero"/>
        <c:auto val="1"/>
        <c:lblAlgn val="ctr"/>
        <c:lblOffset val="100"/>
        <c:noMultiLvlLbl val="0"/>
      </c:catAx>
      <c:valAx>
        <c:axId val="515210992"/>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fr-FR"/>
          </a:p>
        </c:txPr>
        <c:crossAx val="515205416"/>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fr-FR"/>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60F3E1A-F44A-4BDC-BFDE-3CE901F7CC0B}" type="datetimeFigureOut">
              <a:rPr lang="en-US" smtClean="0"/>
              <a:t>3/4/2026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BE1359-2DA2-4102-8E5F-3C314329F386}" type="slidenum">
              <a:rPr lang="en-US" smtClean="0"/>
              <a:t>‹N°›</a:t>
            </a:fld>
            <a:endParaRPr lang="en-US"/>
          </a:p>
        </p:txBody>
      </p:sp>
    </p:spTree>
    <p:extLst>
      <p:ext uri="{BB962C8B-B14F-4D97-AF65-F5344CB8AC3E}">
        <p14:creationId xmlns:p14="http://schemas.microsoft.com/office/powerpoint/2010/main" val="122871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3/4/2026 8:00 AM</a:t>
            </a:fld>
            <a:endParaRPr lang="en-US" sz="1200" b="0" i="0">
              <a:latin typeface="Calibri"/>
              <a:ea typeface="+mn-ea"/>
              <a:cs typeface="+mn-cs"/>
            </a:endParaRPr>
          </a:p>
        </p:txBody>
      </p:sp>
      <p:sp>
        <p:nvSpPr>
          <p:cNvPr id="6" name="Footer Placeholder 5"/>
          <p:cNvSpPr>
            <a:spLocks noGrp="1"/>
          </p:cNvSpPr>
          <p:nvPr>
            <p:ph type="ftr" sz="quarter" idx="12"/>
          </p:nvPr>
        </p:nvSpPr>
        <p:spPr>
          <a:xfrm>
            <a:off x="0" y="8685213"/>
            <a:ext cx="6172200" cy="457200"/>
          </a:xfrm>
        </p:spPr>
        <p:txBody>
          <a:bodyPr/>
          <a:lstStyle/>
          <a:p>
            <a:pPr algn="l" defTabSz="914400">
              <a:buNone/>
            </a:pPr>
            <a:r>
              <a:rPr lang="en-US" sz="500" b="0" i="0">
                <a:solidFill>
                  <a:srgbClr val="000000"/>
                </a:solidFill>
                <a:latin typeface="Calibri"/>
                <a:ea typeface="+mn-ea"/>
                <a:cs typeface="+mn-cs"/>
              </a:rPr>
              <a:t>© 2007 Microsoft Corporation. Tous droits réservés. Microsoft, Windows, Windows Vista and other product names are or may be registered trademarks and/or trademarks in the U.S. and/or other countries.</a:t>
            </a:r>
          </a:p>
          <a:p>
            <a:pPr algn="l" defTabSz="914400">
              <a:buNone/>
            </a:pPr>
            <a:r>
              <a:rPr lang="en-US" sz="500" b="0" i="0">
                <a:solidFill>
                  <a:srgbClr val="000000"/>
                </a:solidFill>
                <a:latin typeface="Calibri"/>
                <a:ea typeface="+mn-ea"/>
                <a:cs typeface="+mn-cs"/>
              </a:rPr>
              <a:t>The information herein is for informational purposes only and represents the current view of Microsoft Corporation as of the date of this presentation.  Microsoft devant répondre à des conditions de marché en perpétuelle évolution, ces informations ne doivent en aucun cas être interprétées comme un engagement de la part de Microsoft, et Microsoft ne saurait garantir leur exactitude au-delà de la date de cette présentation.  </a:t>
            </a:r>
            <a:br>
              <a:rPr lang="en-US" sz="500" b="0" i="0">
                <a:solidFill>
                  <a:srgbClr val="000000"/>
                </a:solidFill>
                <a:latin typeface="Calibri"/>
                <a:ea typeface="+mn-ea"/>
                <a:cs typeface="+mn-cs"/>
              </a:rPr>
            </a:br>
            <a:r>
              <a:rPr lang="en-US" sz="500" b="0" i="0">
                <a:solidFill>
                  <a:srgbClr val="000000"/>
                </a:solidFill>
                <a:latin typeface="Calibri"/>
                <a:ea typeface="+mn-ea"/>
                <a:cs typeface="+mn-cs"/>
              </a:rPr>
              <a:t>MICROSOFT MAKES NO WARRANTIES, EXPRESS, IMPLIED OR STATUTORY, AS TO THE INFORMATION IN THIS PRESENTATION.</a:t>
            </a:r>
          </a:p>
          <a:p>
            <a:pPr algn="l" defTabSz="914400">
              <a:buNone/>
            </a:pPr>
            <a:endParaRPr lang="en-US" sz="500" dirty="0"/>
          </a:p>
        </p:txBody>
      </p:sp>
      <p:sp>
        <p:nvSpPr>
          <p:cNvPr id="7" name="Slide Number Placeholder 6"/>
          <p:cNvSpPr>
            <a:spLocks noGrp="1"/>
          </p:cNvSpPr>
          <p:nvPr>
            <p:ph type="sldNum" sz="quarter" idx="13"/>
          </p:nvPr>
        </p:nvSpPr>
        <p:spPr>
          <a:xfrm>
            <a:off x="6172199" y="8685213"/>
            <a:ext cx="684213" cy="457200"/>
          </a:xfrm>
        </p:spPr>
        <p:txBody>
          <a:bodyPr/>
          <a:lstStyle/>
          <a:p>
            <a:pPr algn="r" defTabSz="914400">
              <a:buNone/>
            </a:pPr>
            <a:fld id="{EC87E0CF-87F6-4B58-B8B8-DCAB2DAAF3CA}" type="slidenum">
              <a:rPr lang="en-US" sz="1200" b="0" i="0">
                <a:latin typeface="Calibri"/>
                <a:ea typeface="+mn-ea"/>
                <a:cs typeface="+mn-cs"/>
              </a:rPr>
              <a:t>1</a:t>
            </a:fld>
            <a:endParaRPr lang="en-US" sz="1200" b="0" i="0">
              <a:latin typeface="Calibri"/>
              <a:ea typeface="+mn-ea"/>
              <a:cs typeface="+mn-cs"/>
            </a:endParaRPr>
          </a:p>
        </p:txBody>
      </p:sp>
    </p:spTree>
    <p:extLst>
      <p:ext uri="{BB962C8B-B14F-4D97-AF65-F5344CB8AC3E}">
        <p14:creationId xmlns:p14="http://schemas.microsoft.com/office/powerpoint/2010/main" val="2727028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3/4/2026 8:00 AM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Tous droits réservés. Microsoft, Windows, Windows Vista and other product names are or may be registered trademarks and/or trademarks in the U.S. and/or other countries.</a:t>
            </a:r>
          </a:p>
          <a:p>
            <a:pPr algn="l" defTabSz="914400">
              <a:buNone/>
            </a:pPr>
            <a:r>
              <a:rPr lang="en-US" sz="1200" b="0" i="0">
                <a:solidFill>
                  <a:srgbClr val="000000"/>
                </a:solidFill>
                <a:latin typeface="Calibri"/>
                <a:ea typeface="+mn-ea"/>
                <a:cs typeface="+mn-cs"/>
              </a:rPr>
              <a:t>The information herein is for informational purposes only and represents the current view of Microsoft Corporation as of the date of this presentation.  Microsoft devant répondre à des conditions de marché en perpétuelle évolution, ces informations ne doivent en aucun cas être interprétées comme un engagement de la part de Microsoft, et Microsoft ne saurait garantir leur exactitude au-delà de la date de cette présentation.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MAKES NO WARRANTIES, EXPRESS, IMPLIED OR STATUTORY, AS TO THE INFORMATION IN THIS PRESENTATION.</a:t>
            </a:r>
          </a:p>
          <a:p>
            <a:pPr algn="l" defTabSz="914400">
              <a:buNone/>
            </a:pPr>
            <a:endParaRPr lang="en-US" dirty="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2</a:t>
            </a:fld>
            <a:endParaRPr lang="en-US" sz="1200" b="0" i="0">
              <a:latin typeface="Calibri"/>
              <a:ea typeface="+mn-ea"/>
              <a:cs typeface="+mn-cs"/>
            </a:endParaRPr>
          </a:p>
        </p:txBody>
      </p:sp>
    </p:spTree>
    <p:extLst>
      <p:ext uri="{BB962C8B-B14F-4D97-AF65-F5344CB8AC3E}">
        <p14:creationId xmlns:p14="http://schemas.microsoft.com/office/powerpoint/2010/main" val="944435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3/4/2026 8:00 AM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Tous droits réservés. Microsoft, Windows, Windows Vista and other product names are or may be registered trademarks and/or trademarks in the U.S. and/or other countries.</a:t>
            </a:r>
          </a:p>
          <a:p>
            <a:pPr algn="l" defTabSz="914400">
              <a:buNone/>
            </a:pPr>
            <a:r>
              <a:rPr lang="en-US" sz="1200" b="0" i="0">
                <a:solidFill>
                  <a:srgbClr val="000000"/>
                </a:solidFill>
                <a:latin typeface="Calibri"/>
                <a:ea typeface="+mn-ea"/>
                <a:cs typeface="+mn-cs"/>
              </a:rPr>
              <a:t>The information herein is for informational purposes only and represents the current view of Microsoft Corporation as of the date of this presentation.  Microsoft devant répondre à des conditions de marché en perpétuelle évolution, ces informations ne doivent en aucun cas être interprétées comme un engagement de la part de Microsoft, et Microsoft ne saurait garantir leur exactitude au-delà de la date de cette présentation.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MAKES NO WARRANTIES, EXPRESS, IMPLIED OR STATUTORY, AS TO THE INFORMATION IN THIS PRESENTATION.</a:t>
            </a:r>
          </a:p>
          <a:p>
            <a:pPr algn="l" defTabSz="914400">
              <a:buNone/>
            </a:pPr>
            <a:endParaRPr lang="en-US" dirty="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4</a:t>
            </a:fld>
            <a:endParaRPr lang="en-US" sz="1200" b="0" i="0">
              <a:latin typeface="Calibri"/>
              <a:ea typeface="+mn-ea"/>
              <a:cs typeface="+mn-cs"/>
            </a:endParaRPr>
          </a:p>
        </p:txBody>
      </p:sp>
    </p:spTree>
    <p:extLst>
      <p:ext uri="{BB962C8B-B14F-4D97-AF65-F5344CB8AC3E}">
        <p14:creationId xmlns:p14="http://schemas.microsoft.com/office/powerpoint/2010/main" val="1912996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3/4/2026 8:00 AM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Tous droits réservés. Microsoft, Windows, Windows Vista and other product names are or may be registered trademarks and/or trademarks in the U.S. and/or other countries.</a:t>
            </a:r>
          </a:p>
          <a:p>
            <a:pPr algn="l" defTabSz="914400">
              <a:buNone/>
            </a:pPr>
            <a:r>
              <a:rPr lang="en-US" sz="1200" b="0" i="0">
                <a:solidFill>
                  <a:srgbClr val="000000"/>
                </a:solidFill>
                <a:latin typeface="Calibri"/>
                <a:ea typeface="+mn-ea"/>
                <a:cs typeface="+mn-cs"/>
              </a:rPr>
              <a:t>The information herein is for informational purposes only and represents the current view of Microsoft Corporation as of the date of this presentation.  Microsoft devant répondre à des conditions de marché en perpétuelle évolution, ces informations ne doivent en aucun cas être interprétées comme un engagement de la part de Microsoft, et Microsoft ne saurait garantir leur exactitude au-delà de la date de cette présentation.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MAKES NO WARRANTIES, EXPRESS, IMPLIED OR STATUTORY, AS TO THE INFORMATION IN THIS PRESENTATION.</a:t>
            </a:r>
          </a:p>
          <a:p>
            <a:pPr algn="l" defTabSz="914400">
              <a:buNone/>
            </a:pPr>
            <a:endParaRPr lang="en-US" dirty="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5</a:t>
            </a:fld>
            <a:endParaRPr lang="en-US" sz="1200" b="0" i="0">
              <a:latin typeface="Calibri"/>
              <a:ea typeface="+mn-ea"/>
              <a:cs typeface="+mn-cs"/>
            </a:endParaRPr>
          </a:p>
        </p:txBody>
      </p:sp>
    </p:spTree>
    <p:extLst>
      <p:ext uri="{BB962C8B-B14F-4D97-AF65-F5344CB8AC3E}">
        <p14:creationId xmlns:p14="http://schemas.microsoft.com/office/powerpoint/2010/main" val="1369759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3/4/2026 8:00 AM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Tous droits réservés. Microsoft, Windows, Windows Vista and other product names are or may be registered trademarks and/or trademarks in the U.S. and/or other countries.</a:t>
            </a:r>
          </a:p>
          <a:p>
            <a:pPr algn="l" defTabSz="914400">
              <a:buNone/>
            </a:pPr>
            <a:r>
              <a:rPr lang="en-US" sz="1200" b="0" i="0">
                <a:solidFill>
                  <a:srgbClr val="000000"/>
                </a:solidFill>
                <a:latin typeface="Calibri"/>
                <a:ea typeface="+mn-ea"/>
                <a:cs typeface="+mn-cs"/>
              </a:rPr>
              <a:t>The information herein is for informational purposes only and represents the current view of Microsoft Corporation as of the date of this presentation.  Microsoft devant répondre à des conditions de marché en perpétuelle évolution, ces informations ne doivent en aucun cas être interprétées comme un engagement de la part de Microsoft, et Microsoft ne saurait garantir leur exactitude au-delà de la date de cette présentation.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MAKES NO WARRANTIES, EXPRESS, IMPLIED OR STATUTORY, AS TO THE INFORMATION IN THIS PRESENTATION.</a:t>
            </a:r>
          </a:p>
          <a:p>
            <a:pPr algn="l" defTabSz="914400">
              <a:buNone/>
            </a:pPr>
            <a:endParaRPr lang="en-US" dirty="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6</a:t>
            </a:fld>
            <a:endParaRPr lang="en-US" sz="1200" b="0" i="0">
              <a:latin typeface="Calibri"/>
              <a:ea typeface="+mn-ea"/>
              <a:cs typeface="+mn-cs"/>
            </a:endParaRPr>
          </a:p>
        </p:txBody>
      </p:sp>
    </p:spTree>
    <p:extLst>
      <p:ext uri="{BB962C8B-B14F-4D97-AF65-F5344CB8AC3E}">
        <p14:creationId xmlns:p14="http://schemas.microsoft.com/office/powerpoint/2010/main" val="3021666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3/4/2026 8:00 AM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Tous droits réservés. Microsoft, Windows, Windows Vista and other product names are or may be registered trademarks and/or trademarks in the U.S. and/or other countries.</a:t>
            </a:r>
          </a:p>
          <a:p>
            <a:pPr algn="l" defTabSz="914400">
              <a:buNone/>
            </a:pPr>
            <a:r>
              <a:rPr lang="en-US" sz="1200" b="0" i="0">
                <a:solidFill>
                  <a:srgbClr val="000000"/>
                </a:solidFill>
                <a:latin typeface="Calibri"/>
                <a:ea typeface="+mn-ea"/>
                <a:cs typeface="+mn-cs"/>
              </a:rPr>
              <a:t>The information herein is for informational purposes only and represents the current view of Microsoft Corporation as of the date of this presentation.  Microsoft devant répondre à des conditions de marché en perpétuelle évolution, ces informations ne doivent en aucun cas être interprétées comme un engagement de la part de Microsoft, et Microsoft ne saurait garantir leur exactitude au-delà de la date de cette présentation.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MAKES NO WARRANTIES, EXPRESS, IMPLIED OR STATUTORY, AS TO THE INFORMATION IN THIS PRESENTATION.</a:t>
            </a:r>
          </a:p>
          <a:p>
            <a:pPr algn="l" defTabSz="914400">
              <a:buNone/>
            </a:pPr>
            <a:endParaRPr lang="en-US" dirty="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7</a:t>
            </a:fld>
            <a:endParaRPr lang="en-US" sz="1200" b="0" i="0">
              <a:latin typeface="Calibri"/>
              <a:ea typeface="+mn-ea"/>
              <a:cs typeface="+mn-cs"/>
            </a:endParaRPr>
          </a:p>
        </p:txBody>
      </p:sp>
    </p:spTree>
    <p:extLst>
      <p:ext uri="{BB962C8B-B14F-4D97-AF65-F5344CB8AC3E}">
        <p14:creationId xmlns:p14="http://schemas.microsoft.com/office/powerpoint/2010/main" val="1776708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3/4/2026 8:00 AM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Tous droits réservés. Microsoft, Windows, Windows Vista and other product names are or may be registered trademarks and/or trademarks in the U.S. and/or other countries.</a:t>
            </a:r>
          </a:p>
          <a:p>
            <a:pPr algn="l" defTabSz="914400">
              <a:buNone/>
            </a:pPr>
            <a:r>
              <a:rPr lang="en-US" sz="1200" b="0" i="0">
                <a:solidFill>
                  <a:srgbClr val="000000"/>
                </a:solidFill>
                <a:latin typeface="Calibri"/>
                <a:ea typeface="+mn-ea"/>
                <a:cs typeface="+mn-cs"/>
              </a:rPr>
              <a:t>The information herein is for informational purposes only and represents the current view of Microsoft Corporation as of the date of this presentation.  Microsoft devant répondre à des conditions de marché en perpétuelle évolution, ces informations ne doivent en aucun cas être interprétées comme un engagement de la part de Microsoft, et Microsoft ne saurait garantir leur exactitude au-delà de la date de cette présentation.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MAKES NO WARRANTIES, EXPRESS, IMPLIED OR STATUTORY, AS TO THE INFORMATION IN THIS PRESENTATION.</a:t>
            </a:r>
          </a:p>
          <a:p>
            <a:pPr algn="l" defTabSz="914400">
              <a:buNone/>
            </a:pPr>
            <a:endParaRPr lang="en-US" dirty="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8</a:t>
            </a:fld>
            <a:endParaRPr lang="en-US" sz="1200" b="0" i="0">
              <a:latin typeface="Calibri"/>
              <a:ea typeface="+mn-ea"/>
              <a:cs typeface="+mn-cs"/>
            </a:endParaRPr>
          </a:p>
        </p:txBody>
      </p:sp>
    </p:spTree>
    <p:extLst>
      <p:ext uri="{BB962C8B-B14F-4D97-AF65-F5344CB8AC3E}">
        <p14:creationId xmlns:p14="http://schemas.microsoft.com/office/powerpoint/2010/main" val="15218756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effectLst/>
                <a:latin typeface="Times New Roman" panose="02020603050405020304" pitchFamily="18" charset="0"/>
                <a:ea typeface="Times New Roman" panose="02020603050405020304" pitchFamily="18" charset="0"/>
              </a:rPr>
              <a:t>Les</a:t>
            </a:r>
            <a:r>
              <a:rPr lang="fr-FR" sz="1800" spc="135" dirty="0">
                <a:effectLst/>
                <a:latin typeface="Times New Roman" panose="02020603050405020304" pitchFamily="18" charset="0"/>
                <a:ea typeface="Times New Roman" panose="02020603050405020304" pitchFamily="18" charset="0"/>
              </a:rPr>
              <a:t> </a:t>
            </a:r>
            <a:r>
              <a:rPr lang="fr-FR" sz="1800" dirty="0">
                <a:effectLst/>
                <a:latin typeface="Times New Roman" panose="02020603050405020304" pitchFamily="18" charset="0"/>
                <a:ea typeface="Times New Roman" panose="02020603050405020304" pitchFamily="18" charset="0"/>
              </a:rPr>
              <a:t>m</a:t>
            </a:r>
            <a:r>
              <a:rPr lang="fr-FR" sz="1800" spc="30" dirty="0">
                <a:effectLst/>
                <a:latin typeface="Times New Roman" panose="02020603050405020304" pitchFamily="18" charset="0"/>
                <a:ea typeface="Times New Roman" panose="02020603050405020304" pitchFamily="18" charset="0"/>
              </a:rPr>
              <a:t>o</a:t>
            </a:r>
            <a:r>
              <a:rPr lang="fr-FR" sz="1800" dirty="0">
                <a:effectLst/>
                <a:latin typeface="Times New Roman" panose="02020603050405020304" pitchFamily="18" charset="0"/>
                <a:ea typeface="Times New Roman" panose="02020603050405020304" pitchFamily="18" charset="0"/>
              </a:rPr>
              <a:t>dalités </a:t>
            </a:r>
            <a:r>
              <a:rPr lang="fr-FR" sz="1800" spc="125" dirty="0">
                <a:effectLst/>
                <a:latin typeface="Times New Roman" panose="02020603050405020304" pitchFamily="18" charset="0"/>
                <a:ea typeface="Times New Roman" panose="02020603050405020304" pitchFamily="18" charset="0"/>
              </a:rPr>
              <a:t> </a:t>
            </a:r>
            <a:r>
              <a:rPr lang="fr-FR" sz="1800" dirty="0">
                <a:effectLst/>
                <a:latin typeface="Times New Roman" panose="02020603050405020304" pitchFamily="18" charset="0"/>
                <a:ea typeface="Times New Roman" panose="02020603050405020304" pitchFamily="18" charset="0"/>
              </a:rPr>
              <a:t>d’une</a:t>
            </a:r>
            <a:r>
              <a:rPr lang="fr-FR" sz="1800" spc="230" dirty="0">
                <a:effectLst/>
                <a:latin typeface="Times New Roman" panose="02020603050405020304" pitchFamily="18" charset="0"/>
                <a:ea typeface="Times New Roman" panose="02020603050405020304" pitchFamily="18" charset="0"/>
              </a:rPr>
              <a:t> </a:t>
            </a:r>
            <a:r>
              <a:rPr lang="fr-FR" sz="1800" spc="-60" dirty="0">
                <a:effectLst/>
                <a:latin typeface="Times New Roman" panose="02020603050405020304" pitchFamily="18" charset="0"/>
                <a:ea typeface="Times New Roman" panose="02020603050405020304" pitchFamily="18" charset="0"/>
              </a:rPr>
              <a:t>v</a:t>
            </a:r>
            <a:r>
              <a:rPr lang="fr-FR" sz="1800" dirty="0">
                <a:effectLst/>
                <a:latin typeface="Times New Roman" panose="02020603050405020304" pitchFamily="18" charset="0"/>
                <a:ea typeface="Times New Roman" panose="02020603050405020304" pitchFamily="18" charset="0"/>
              </a:rPr>
              <a:t>ariable </a:t>
            </a:r>
            <a:r>
              <a:rPr lang="fr-FR" sz="1800" spc="85" dirty="0">
                <a:effectLst/>
                <a:latin typeface="Times New Roman" panose="02020603050405020304" pitchFamily="18" charset="0"/>
                <a:ea typeface="Times New Roman" panose="02020603050405020304" pitchFamily="18" charset="0"/>
              </a:rPr>
              <a:t> </a:t>
            </a:r>
            <a:r>
              <a:rPr lang="fr-FR" sz="1800" dirty="0">
                <a:effectLst/>
                <a:latin typeface="Times New Roman" panose="02020603050405020304" pitchFamily="18" charset="0"/>
                <a:ea typeface="Times New Roman" panose="02020603050405020304" pitchFamily="18" charset="0"/>
              </a:rPr>
              <a:t>statistique</a:t>
            </a:r>
            <a:r>
              <a:rPr lang="fr-FR" sz="1800" spc="100" dirty="0">
                <a:effectLst/>
                <a:latin typeface="Times New Roman" panose="02020603050405020304" pitchFamily="18" charset="0"/>
                <a:ea typeface="Times New Roman" panose="02020603050405020304" pitchFamily="18" charset="0"/>
              </a:rPr>
              <a:t> </a:t>
            </a:r>
            <a:r>
              <a:rPr lang="fr-FR" sz="1800" dirty="0">
                <a:effectLst/>
                <a:latin typeface="Times New Roman" panose="02020603050405020304" pitchFamily="18" charset="0"/>
                <a:ea typeface="Times New Roman" panose="02020603050405020304" pitchFamily="18" charset="0"/>
              </a:rPr>
              <a:t>so</a:t>
            </a:r>
            <a:r>
              <a:rPr lang="fr-FR" sz="1800" spc="-30" dirty="0">
                <a:effectLst/>
                <a:latin typeface="Times New Roman" panose="02020603050405020304" pitchFamily="18" charset="0"/>
                <a:ea typeface="Times New Roman" panose="02020603050405020304" pitchFamily="18" charset="0"/>
              </a:rPr>
              <a:t>n</a:t>
            </a:r>
            <a:r>
              <a:rPr lang="fr-FR" sz="1800" dirty="0">
                <a:effectLst/>
                <a:latin typeface="Times New Roman" panose="02020603050405020304" pitchFamily="18" charset="0"/>
                <a:ea typeface="Times New Roman" panose="02020603050405020304" pitchFamily="18" charset="0"/>
              </a:rPr>
              <a:t>t</a:t>
            </a:r>
            <a:r>
              <a:rPr lang="fr-FR" sz="1800" spc="130" dirty="0">
                <a:effectLst/>
                <a:latin typeface="Times New Roman" panose="02020603050405020304" pitchFamily="18" charset="0"/>
                <a:ea typeface="Times New Roman" panose="02020603050405020304" pitchFamily="18" charset="0"/>
              </a:rPr>
              <a:t> </a:t>
            </a:r>
            <a:r>
              <a:rPr lang="fr-FR" sz="1800" dirty="0">
                <a:effectLst/>
                <a:latin typeface="Times New Roman" panose="02020603050405020304" pitchFamily="18" charset="0"/>
                <a:ea typeface="Times New Roman" panose="02020603050405020304" pitchFamily="18" charset="0"/>
              </a:rPr>
              <a:t>les</a:t>
            </a:r>
            <a:r>
              <a:rPr lang="fr-FR" sz="1800" spc="125" dirty="0">
                <a:effectLst/>
                <a:latin typeface="Times New Roman" panose="02020603050405020304" pitchFamily="18" charset="0"/>
                <a:ea typeface="Times New Roman" panose="02020603050405020304" pitchFamily="18" charset="0"/>
              </a:rPr>
              <a:t> </a:t>
            </a:r>
            <a:r>
              <a:rPr lang="fr-FR" sz="1800" dirty="0">
                <a:effectLst/>
                <a:latin typeface="Times New Roman" panose="02020603050405020304" pitchFamily="18" charset="0"/>
                <a:ea typeface="Times New Roman" panose="02020603050405020304" pitchFamily="18" charset="0"/>
              </a:rPr>
              <a:t>différe</a:t>
            </a:r>
            <a:r>
              <a:rPr lang="fr-FR" sz="1800" spc="-30" dirty="0">
                <a:effectLst/>
                <a:latin typeface="Times New Roman" panose="02020603050405020304" pitchFamily="18" charset="0"/>
                <a:ea typeface="Times New Roman" panose="02020603050405020304" pitchFamily="18" charset="0"/>
              </a:rPr>
              <a:t>n</a:t>
            </a:r>
            <a:r>
              <a:rPr lang="fr-FR" sz="1800" dirty="0">
                <a:effectLst/>
                <a:latin typeface="Times New Roman" panose="02020603050405020304" pitchFamily="18" charset="0"/>
                <a:ea typeface="Times New Roman" panose="02020603050405020304" pitchFamily="18" charset="0"/>
              </a:rPr>
              <a:t>tes </a:t>
            </a:r>
            <a:r>
              <a:rPr lang="fr-FR" sz="1800" spc="40" dirty="0">
                <a:effectLst/>
                <a:latin typeface="Times New Roman" panose="02020603050405020304" pitchFamily="18" charset="0"/>
                <a:ea typeface="Times New Roman" panose="02020603050405020304" pitchFamily="18" charset="0"/>
              </a:rPr>
              <a:t> </a:t>
            </a:r>
            <a:r>
              <a:rPr lang="fr-FR" sz="1800" spc="-60" dirty="0">
                <a:effectLst/>
                <a:latin typeface="Times New Roman" panose="02020603050405020304" pitchFamily="18" charset="0"/>
                <a:ea typeface="Times New Roman" panose="02020603050405020304" pitchFamily="18" charset="0"/>
              </a:rPr>
              <a:t>v</a:t>
            </a:r>
            <a:r>
              <a:rPr lang="fr-FR" sz="1800" dirty="0">
                <a:effectLst/>
                <a:latin typeface="Times New Roman" panose="02020603050405020304" pitchFamily="18" charset="0"/>
                <a:ea typeface="Times New Roman" panose="02020603050405020304" pitchFamily="18" charset="0"/>
              </a:rPr>
              <a:t>aleurs </a:t>
            </a:r>
            <a:r>
              <a:rPr lang="fr-FR" sz="1800" spc="35" dirty="0">
                <a:effectLst/>
                <a:latin typeface="Times New Roman" panose="02020603050405020304" pitchFamily="18" charset="0"/>
                <a:ea typeface="Times New Roman" panose="02020603050405020304" pitchFamily="18" charset="0"/>
              </a:rPr>
              <a:t> </a:t>
            </a:r>
            <a:r>
              <a:rPr lang="fr-FR" sz="1800" dirty="0">
                <a:effectLst/>
                <a:latin typeface="Times New Roman" panose="02020603050405020304" pitchFamily="18" charset="0"/>
                <a:ea typeface="Times New Roman" panose="02020603050405020304" pitchFamily="18" charset="0"/>
              </a:rPr>
              <a:t>que</a:t>
            </a:r>
            <a:r>
              <a:rPr lang="fr-FR" sz="1800" spc="210" dirty="0">
                <a:effectLst/>
                <a:latin typeface="Times New Roman" panose="02020603050405020304" pitchFamily="18" charset="0"/>
                <a:ea typeface="Times New Roman" panose="02020603050405020304" pitchFamily="18" charset="0"/>
              </a:rPr>
              <a:t> </a:t>
            </a:r>
            <a:r>
              <a:rPr lang="fr-FR" sz="1800" spc="30" dirty="0">
                <a:effectLst/>
                <a:latin typeface="Times New Roman" panose="02020603050405020304" pitchFamily="18" charset="0"/>
                <a:ea typeface="Times New Roman" panose="02020603050405020304" pitchFamily="18" charset="0"/>
              </a:rPr>
              <a:t>p</a:t>
            </a:r>
            <a:r>
              <a:rPr lang="fr-FR" sz="1800" dirty="0">
                <a:effectLst/>
                <a:latin typeface="Times New Roman" panose="02020603050405020304" pitchFamily="18" charset="0"/>
                <a:ea typeface="Times New Roman" panose="02020603050405020304" pitchFamily="18" charset="0"/>
              </a:rPr>
              <a:t>eut </a:t>
            </a:r>
            <a:r>
              <a:rPr lang="fr-FR" sz="1800" spc="70" dirty="0">
                <a:effectLst/>
                <a:latin typeface="Times New Roman" panose="02020603050405020304" pitchFamily="18" charset="0"/>
                <a:ea typeface="Times New Roman" panose="02020603050405020304" pitchFamily="18" charset="0"/>
              </a:rPr>
              <a:t> </a:t>
            </a:r>
            <a:r>
              <a:rPr lang="fr-FR" sz="1800" dirty="0">
                <a:effectLst/>
                <a:latin typeface="Times New Roman" panose="02020603050405020304" pitchFamily="18" charset="0"/>
                <a:ea typeface="Times New Roman" panose="02020603050405020304" pitchFamily="18" charset="0"/>
              </a:rPr>
              <a:t>prendre celle-ci.</a:t>
            </a:r>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3/4/2026 8:00 AM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Tous droits réservés. Microsoft, Windows, Windows Vista and other product names are or may be registered trademarks and/or trademarks in the U.S. and/or other countries.</a:t>
            </a:r>
          </a:p>
          <a:p>
            <a:pPr algn="l" defTabSz="914400">
              <a:buNone/>
            </a:pPr>
            <a:r>
              <a:rPr lang="en-US" sz="1200" b="0" i="0">
                <a:solidFill>
                  <a:srgbClr val="000000"/>
                </a:solidFill>
                <a:latin typeface="Calibri"/>
                <a:ea typeface="+mn-ea"/>
                <a:cs typeface="+mn-cs"/>
              </a:rPr>
              <a:t>The information herein is for informational purposes only and represents the current view of Microsoft Corporation as of the date of this presentation.  Microsoft devant répondre à des conditions de marché en perpétuelle évolution, ces informations ne doivent en aucun cas être interprétées comme un engagement de la part de Microsoft, et Microsoft ne saurait garantir leur exactitude au-delà de la date de cette présentation.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MAKES NO WARRANTIES, EXPRESS, IMPLIED OR STATUTORY, AS TO THE INFORMATION IN THIS PRESENTATION.</a:t>
            </a:r>
          </a:p>
          <a:p>
            <a:pPr algn="l" defTabSz="914400">
              <a:buNone/>
            </a:pPr>
            <a:endParaRPr lang="en-US" dirty="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14</a:t>
            </a:fld>
            <a:endParaRPr lang="en-US" sz="1200" b="0" i="0">
              <a:latin typeface="Calibri"/>
              <a:ea typeface="+mn-ea"/>
              <a:cs typeface="+mn-cs"/>
            </a:endParaRPr>
          </a:p>
        </p:txBody>
      </p:sp>
    </p:spTree>
    <p:extLst>
      <p:ext uri="{BB962C8B-B14F-4D97-AF65-F5344CB8AC3E}">
        <p14:creationId xmlns:p14="http://schemas.microsoft.com/office/powerpoint/2010/main" val="261716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3/4/2026 8:00 AM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Tous droits réservés. Microsoft, Windows, Windows Vista and other product names are or may be registered trademarks and/or trademarks in the U.S. and/or other countries.</a:t>
            </a:r>
          </a:p>
          <a:p>
            <a:pPr algn="l" defTabSz="914400">
              <a:buNone/>
            </a:pPr>
            <a:r>
              <a:rPr lang="en-US" sz="1200" b="0" i="0">
                <a:solidFill>
                  <a:srgbClr val="000000"/>
                </a:solidFill>
                <a:latin typeface="Calibri"/>
                <a:ea typeface="+mn-ea"/>
                <a:cs typeface="+mn-cs"/>
              </a:rPr>
              <a:t>The information herein is for informational purposes only and represents the current view of Microsoft Corporation as of the date of this presentation.  Microsoft devant répondre à des conditions de marché en perpétuelle évolution, ces informations ne doivent en aucun cas être interprétées comme un engagement de la part de Microsoft, et Microsoft ne saurait garantir leur exactitude au-delà de la date de cette présentation.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MAKES NO WARRANTIES, EXPRESS, IMPLIED OR STATUTORY, AS TO THE INFORMATION IN THIS PRESENTATION.</a:t>
            </a:r>
          </a:p>
          <a:p>
            <a:pPr algn="l" defTabSz="914400">
              <a:buNone/>
            </a:pPr>
            <a:endParaRPr lang="en-US" dirty="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15</a:t>
            </a:fld>
            <a:endParaRPr lang="en-US" sz="1200" b="0" i="0">
              <a:latin typeface="Calibri"/>
              <a:ea typeface="+mn-ea"/>
              <a:cs typeface="+mn-cs"/>
            </a:endParaRPr>
          </a:p>
        </p:txBody>
      </p:sp>
    </p:spTree>
    <p:extLst>
      <p:ext uri="{BB962C8B-B14F-4D97-AF65-F5344CB8AC3E}">
        <p14:creationId xmlns:p14="http://schemas.microsoft.com/office/powerpoint/2010/main" val="1246198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3/4/2026 8:00 AM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Tous droits réservés. Microsoft, Windows, Windows Vista and other product names are or may be registered trademarks and/or trademarks in the U.S. and/or other countries.</a:t>
            </a:r>
          </a:p>
          <a:p>
            <a:pPr algn="l" defTabSz="914400">
              <a:buNone/>
            </a:pPr>
            <a:r>
              <a:rPr lang="en-US" sz="1200" b="0" i="0">
                <a:solidFill>
                  <a:srgbClr val="000000"/>
                </a:solidFill>
                <a:latin typeface="Calibri"/>
                <a:ea typeface="+mn-ea"/>
                <a:cs typeface="+mn-cs"/>
              </a:rPr>
              <a:t>The information herein is for informational purposes only and represents the current view of Microsoft Corporation as of the date of this presentation.  Microsoft devant répondre à des conditions de marché en perpétuelle évolution, ces informations ne doivent en aucun cas être interprétées comme un engagement de la part de Microsoft, et Microsoft ne saurait garantir leur exactitude au-delà de la date de cette présentation.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MAKES NO WARRANTIES, EXPRESS, IMPLIED OR STATUTORY, AS TO THE INFORMATION IN THIS PRESENTATION.</a:t>
            </a:r>
          </a:p>
          <a:p>
            <a:pPr algn="l" defTabSz="914400">
              <a:buNone/>
            </a:pPr>
            <a:endParaRPr lang="en-US" dirty="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16</a:t>
            </a:fld>
            <a:endParaRPr lang="en-US" sz="1200" b="0" i="0">
              <a:latin typeface="Calibri"/>
              <a:ea typeface="+mn-ea"/>
              <a:cs typeface="+mn-cs"/>
            </a:endParaRPr>
          </a:p>
        </p:txBody>
      </p:sp>
    </p:spTree>
    <p:extLst>
      <p:ext uri="{BB962C8B-B14F-4D97-AF65-F5344CB8AC3E}">
        <p14:creationId xmlns:p14="http://schemas.microsoft.com/office/powerpoint/2010/main" val="3804870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3/4/2026 8:00 AM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Tous droits réservés. Microsoft, Windows, Windows Vista and other product names are or may be registered trademarks and/or trademarks in the U.S. and/or other countries.</a:t>
            </a:r>
          </a:p>
          <a:p>
            <a:pPr algn="l" defTabSz="914400">
              <a:buNone/>
            </a:pPr>
            <a:r>
              <a:rPr lang="en-US" sz="1200" b="0" i="0">
                <a:solidFill>
                  <a:srgbClr val="000000"/>
                </a:solidFill>
                <a:latin typeface="Calibri"/>
                <a:ea typeface="+mn-ea"/>
                <a:cs typeface="+mn-cs"/>
              </a:rPr>
              <a:t>The information herein is for informational purposes only and represents the current view of Microsoft Corporation as of the date of this presentation.  Microsoft devant répondre à des conditions de marché en perpétuelle évolution, ces informations ne doivent en aucun cas être interprétées comme un engagement de la part de Microsoft, et Microsoft ne saurait garantir leur exactitude au-delà de la date de cette présentation.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MAKES NO WARRANTIES, EXPRESS, IMPLIED OR STATUTORY, AS TO THE INFORMATION IN THIS PRESENTATION.</a:t>
            </a:r>
          </a:p>
          <a:p>
            <a:pPr algn="l" defTabSz="914400">
              <a:buNone/>
            </a:pPr>
            <a:endParaRPr lang="en-US" dirty="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17</a:t>
            </a:fld>
            <a:endParaRPr lang="en-US" sz="1200" b="0" i="0">
              <a:latin typeface="Calibri"/>
              <a:ea typeface="+mn-ea"/>
              <a:cs typeface="+mn-cs"/>
            </a:endParaRPr>
          </a:p>
        </p:txBody>
      </p:sp>
    </p:spTree>
    <p:extLst>
      <p:ext uri="{BB962C8B-B14F-4D97-AF65-F5344CB8AC3E}">
        <p14:creationId xmlns:p14="http://schemas.microsoft.com/office/powerpoint/2010/main" val="1178155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3/4/2026 8:00 AM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Tous droits réservés. Microsoft, Windows, Windows Vista and other product names are or may be registered trademarks and/or trademarks in the U.S. and/or other countries.</a:t>
            </a:r>
          </a:p>
          <a:p>
            <a:pPr algn="l" defTabSz="914400">
              <a:buNone/>
            </a:pPr>
            <a:r>
              <a:rPr lang="en-US" sz="1200" b="0" i="0">
                <a:solidFill>
                  <a:srgbClr val="000000"/>
                </a:solidFill>
                <a:latin typeface="Calibri"/>
                <a:ea typeface="+mn-ea"/>
                <a:cs typeface="+mn-cs"/>
              </a:rPr>
              <a:t>The information herein is for informational purposes only and represents the current view of Microsoft Corporation as of the date of this presentation.  Microsoft devant répondre à des conditions de marché en perpétuelle évolution, ces informations ne doivent en aucun cas être interprétées comme un engagement de la part de Microsoft, et Microsoft ne saurait garantir leur exactitude au-delà de la date de cette présentation.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MAKES NO WARRANTIES, EXPRESS, IMPLIED OR STATUTORY, AS TO THE INFORMATION IN THIS PRESENTATION.</a:t>
            </a:r>
          </a:p>
          <a:p>
            <a:pPr algn="l" defTabSz="914400">
              <a:buNone/>
            </a:pPr>
            <a:endParaRPr lang="en-US" dirty="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18</a:t>
            </a:fld>
            <a:endParaRPr lang="en-US" sz="1200" b="0" i="0">
              <a:latin typeface="Calibri"/>
              <a:ea typeface="+mn-ea"/>
              <a:cs typeface="+mn-cs"/>
            </a:endParaRPr>
          </a:p>
        </p:txBody>
      </p:sp>
    </p:spTree>
    <p:extLst>
      <p:ext uri="{BB962C8B-B14F-4D97-AF65-F5344CB8AC3E}">
        <p14:creationId xmlns:p14="http://schemas.microsoft.com/office/powerpoint/2010/main" val="29887436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3/4/2026 8:00 AM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Tous droits réservés. Microsoft, Windows, Windows Vista and other product names are or may be registered trademarks and/or trademarks in the U.S. and/or other countries.</a:t>
            </a:r>
          </a:p>
          <a:p>
            <a:pPr algn="l" defTabSz="914400">
              <a:buNone/>
            </a:pPr>
            <a:r>
              <a:rPr lang="en-US" sz="1200" b="0" i="0">
                <a:solidFill>
                  <a:srgbClr val="000000"/>
                </a:solidFill>
                <a:latin typeface="Calibri"/>
                <a:ea typeface="+mn-ea"/>
                <a:cs typeface="+mn-cs"/>
              </a:rPr>
              <a:t>The information herein is for informational purposes only and represents the current view of Microsoft Corporation as of the date of this presentation.  Microsoft devant répondre à des conditions de marché en perpétuelle évolution, ces informations ne doivent en aucun cas être interprétées comme un engagement de la part de Microsoft, et Microsoft ne saurait garantir leur exactitude au-delà de la date de cette présentation.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MAKES NO WARRANTIES, EXPRESS, IMPLIED OR STATUTORY, AS TO THE INFORMATION IN THIS PRESENTATION.</a:t>
            </a:r>
          </a:p>
          <a:p>
            <a:pPr algn="l" defTabSz="914400">
              <a:buNone/>
            </a:pPr>
            <a:endParaRPr lang="en-US" dirty="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19</a:t>
            </a:fld>
            <a:endParaRPr lang="en-US" sz="1200" b="0" i="0">
              <a:latin typeface="Calibri"/>
              <a:ea typeface="+mn-ea"/>
              <a:cs typeface="+mn-cs"/>
            </a:endParaRPr>
          </a:p>
        </p:txBody>
      </p:sp>
    </p:spTree>
    <p:extLst>
      <p:ext uri="{BB962C8B-B14F-4D97-AF65-F5344CB8AC3E}">
        <p14:creationId xmlns:p14="http://schemas.microsoft.com/office/powerpoint/2010/main" val="5480186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3/4/2026 8:00 AM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Tous droits réservés. Microsoft, Windows, Windows Vista and other product names are or may be registered trademarks and/or trademarks in the U.S. and/or other countries.</a:t>
            </a:r>
          </a:p>
          <a:p>
            <a:pPr algn="l" defTabSz="914400">
              <a:buNone/>
            </a:pPr>
            <a:r>
              <a:rPr lang="en-US" sz="1200" b="0" i="0">
                <a:solidFill>
                  <a:srgbClr val="000000"/>
                </a:solidFill>
                <a:latin typeface="Calibri"/>
                <a:ea typeface="+mn-ea"/>
                <a:cs typeface="+mn-cs"/>
              </a:rPr>
              <a:t>The information herein is for informational purposes only and represents the current view of Microsoft Corporation as of the date of this presentation.  Microsoft devant répondre à des conditions de marché en perpétuelle évolution, ces informations ne doivent en aucun cas être interprétées comme un engagement de la part de Microsoft, et Microsoft ne saurait garantir leur exactitude au-delà de la date de cette présentation.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MAKES NO WARRANTIES, EXPRESS, IMPLIED OR STATUTORY, AS TO THE INFORMATION IN THIS PRESENTATION.</a:t>
            </a:r>
          </a:p>
          <a:p>
            <a:pPr algn="l" defTabSz="914400">
              <a:buNone/>
            </a:pPr>
            <a:endParaRPr lang="en-US" dirty="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20</a:t>
            </a:fld>
            <a:endParaRPr lang="en-US" sz="1200" b="0" i="0">
              <a:latin typeface="Calibri"/>
              <a:ea typeface="+mn-ea"/>
              <a:cs typeface="+mn-cs"/>
            </a:endParaRPr>
          </a:p>
        </p:txBody>
      </p:sp>
    </p:spTree>
    <p:extLst>
      <p:ext uri="{BB962C8B-B14F-4D97-AF65-F5344CB8AC3E}">
        <p14:creationId xmlns:p14="http://schemas.microsoft.com/office/powerpoint/2010/main" val="18032514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3/4/2026 8:00 AM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Tous droits réservés. Microsoft, Windows, Windows Vista and other product names are or may be registered trademarks and/or trademarks in the U.S. and/or other countries.</a:t>
            </a:r>
          </a:p>
          <a:p>
            <a:pPr algn="l" defTabSz="914400">
              <a:buNone/>
            </a:pPr>
            <a:r>
              <a:rPr lang="en-US" sz="1200" b="0" i="0">
                <a:solidFill>
                  <a:srgbClr val="000000"/>
                </a:solidFill>
                <a:latin typeface="Calibri"/>
                <a:ea typeface="+mn-ea"/>
                <a:cs typeface="+mn-cs"/>
              </a:rPr>
              <a:t>The information herein is for informational purposes only and represents the current view of Microsoft Corporation as of the date of this presentation.  Microsoft devant répondre à des conditions de marché en perpétuelle évolution, ces informations ne doivent en aucun cas être interprétées comme un engagement de la part de Microsoft, et Microsoft ne saurait garantir leur exactitude au-delà de la date de cette présentation.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MAKES NO WARRANTIES, EXPRESS, IMPLIED OR STATUTORY, AS TO THE INFORMATION IN THIS PRESENTATION.</a:t>
            </a:r>
          </a:p>
          <a:p>
            <a:pPr algn="l" defTabSz="914400">
              <a:buNone/>
            </a:pPr>
            <a:endParaRPr lang="en-US" dirty="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21</a:t>
            </a:fld>
            <a:endParaRPr lang="en-US" sz="1200" b="0" i="0">
              <a:latin typeface="Calibri"/>
              <a:ea typeface="+mn-ea"/>
              <a:cs typeface="+mn-cs"/>
            </a:endParaRPr>
          </a:p>
        </p:txBody>
      </p:sp>
    </p:spTree>
    <p:extLst>
      <p:ext uri="{BB962C8B-B14F-4D97-AF65-F5344CB8AC3E}">
        <p14:creationId xmlns:p14="http://schemas.microsoft.com/office/powerpoint/2010/main" val="34668379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3/4/2026 8:00 AM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Tous droits réservés. Microsoft, Windows, Windows Vista and other product names are or may be registered trademarks and/or trademarks in the U.S. and/or other countries.</a:t>
            </a:r>
          </a:p>
          <a:p>
            <a:pPr algn="l" defTabSz="914400">
              <a:buNone/>
            </a:pPr>
            <a:r>
              <a:rPr lang="en-US" sz="1200" b="0" i="0">
                <a:solidFill>
                  <a:srgbClr val="000000"/>
                </a:solidFill>
                <a:latin typeface="Calibri"/>
                <a:ea typeface="+mn-ea"/>
                <a:cs typeface="+mn-cs"/>
              </a:rPr>
              <a:t>The information herein is for informational purposes only and represents the current view of Microsoft Corporation as of the date of this presentation.  Microsoft devant répondre à des conditions de marché en perpétuelle évolution, ces informations ne doivent en aucun cas être interprétées comme un engagement de la part de Microsoft, et Microsoft ne saurait garantir leur exactitude au-delà de la date de cette présentation.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MAKES NO WARRANTIES, EXPRESS, IMPLIED OR STATUTORY, AS TO THE INFORMATION IN THIS PRESENTATION.</a:t>
            </a:r>
          </a:p>
          <a:p>
            <a:pPr algn="l" defTabSz="914400">
              <a:buNone/>
            </a:pPr>
            <a:endParaRPr lang="en-US" dirty="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22</a:t>
            </a:fld>
            <a:endParaRPr lang="en-US" sz="1200" b="0" i="0">
              <a:latin typeface="Calibri"/>
              <a:ea typeface="+mn-ea"/>
              <a:cs typeface="+mn-cs"/>
            </a:endParaRPr>
          </a:p>
        </p:txBody>
      </p:sp>
    </p:spTree>
    <p:extLst>
      <p:ext uri="{BB962C8B-B14F-4D97-AF65-F5344CB8AC3E}">
        <p14:creationId xmlns:p14="http://schemas.microsoft.com/office/powerpoint/2010/main" val="41943792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3/4/2026 8:00 AM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Tous droits réservés. Microsoft, Windows, Windows Vista and other product names are or may be registered trademarks and/or trademarks in the U.S. and/or other countries.</a:t>
            </a:r>
          </a:p>
          <a:p>
            <a:pPr algn="l" defTabSz="914400">
              <a:buNone/>
            </a:pPr>
            <a:r>
              <a:rPr lang="en-US" sz="1200" b="0" i="0">
                <a:solidFill>
                  <a:srgbClr val="000000"/>
                </a:solidFill>
                <a:latin typeface="Calibri"/>
                <a:ea typeface="+mn-ea"/>
                <a:cs typeface="+mn-cs"/>
              </a:rPr>
              <a:t>The information herein is for informational purposes only and represents the current view of Microsoft Corporation as of the date of this presentation.  Microsoft devant répondre à des conditions de marché en perpétuelle évolution, ces informations ne doivent en aucun cas être interprétées comme un engagement de la part de Microsoft, et Microsoft ne saurait garantir leur exactitude au-delà de la date de cette présentation.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MAKES NO WARRANTIES, EXPRESS, IMPLIED OR STATUTORY, AS TO THE INFORMATION IN THIS PRESENTATION.</a:t>
            </a:r>
          </a:p>
          <a:p>
            <a:pPr algn="l" defTabSz="914400">
              <a:buNone/>
            </a:pPr>
            <a:endParaRPr lang="en-US" dirty="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24</a:t>
            </a:fld>
            <a:endParaRPr lang="en-US" sz="1200" b="0" i="0">
              <a:latin typeface="Calibri"/>
              <a:ea typeface="+mn-ea"/>
              <a:cs typeface="+mn-cs"/>
            </a:endParaRPr>
          </a:p>
        </p:txBody>
      </p:sp>
    </p:spTree>
    <p:extLst>
      <p:ext uri="{BB962C8B-B14F-4D97-AF65-F5344CB8AC3E}">
        <p14:creationId xmlns:p14="http://schemas.microsoft.com/office/powerpoint/2010/main" val="13462132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3/4/2026 8:00 AM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Tous droits réservés. Microsoft, Windows, Windows Vista and other product names are or may be registered trademarks and/or trademarks in the U.S. and/or other countries.</a:t>
            </a:r>
          </a:p>
          <a:p>
            <a:pPr algn="l" defTabSz="914400">
              <a:buNone/>
            </a:pPr>
            <a:r>
              <a:rPr lang="en-US" sz="1200" b="0" i="0">
                <a:solidFill>
                  <a:srgbClr val="000000"/>
                </a:solidFill>
                <a:latin typeface="Calibri"/>
                <a:ea typeface="+mn-ea"/>
                <a:cs typeface="+mn-cs"/>
              </a:rPr>
              <a:t>The information herein is for informational purposes only and represents the current view of Microsoft Corporation as of the date of this presentation.  Microsoft devant répondre à des conditions de marché en perpétuelle évolution, ces informations ne doivent en aucun cas être interprétées comme un engagement de la part de Microsoft, et Microsoft ne saurait garantir leur exactitude au-delà de la date de cette présentation.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MAKES NO WARRANTIES, EXPRESS, IMPLIED OR STATUTORY, AS TO THE INFORMATION IN THIS PRESENTATION.</a:t>
            </a:r>
          </a:p>
          <a:p>
            <a:pPr algn="l" defTabSz="914400">
              <a:buNone/>
            </a:pPr>
            <a:endParaRPr lang="en-US" dirty="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25</a:t>
            </a:fld>
            <a:endParaRPr lang="en-US" sz="1200" b="0" i="0">
              <a:latin typeface="Calibri"/>
              <a:ea typeface="+mn-ea"/>
              <a:cs typeface="+mn-cs"/>
            </a:endParaRPr>
          </a:p>
        </p:txBody>
      </p:sp>
    </p:spTree>
    <p:extLst>
      <p:ext uri="{BB962C8B-B14F-4D97-AF65-F5344CB8AC3E}">
        <p14:creationId xmlns:p14="http://schemas.microsoft.com/office/powerpoint/2010/main" val="1071309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730250" y="1905000"/>
            <a:ext cx="7681913" cy="1523495"/>
          </a:xfrm>
        </p:spPr>
        <p:txBody>
          <a:bodyPr>
            <a:noAutofit/>
          </a:bodyPr>
          <a:lstStyle>
            <a:lvl1pPr>
              <a:lnSpc>
                <a:spcPct val="90000"/>
              </a:lnSpc>
              <a:defRPr sz="5400"/>
            </a:lvl1pPr>
          </a:lstStyle>
          <a:p>
            <a:r>
              <a:rPr lang="fr-FR"/>
              <a:t>Modifiez le style du titre</a:t>
            </a:r>
            <a:endParaRPr lang="en-US" dirty="0"/>
          </a:p>
        </p:txBody>
      </p:sp>
      <p:sp>
        <p:nvSpPr>
          <p:cNvPr id="3" name="Subtitle 2"/>
          <p:cNvSpPr>
            <a:spLocks noGrp="1"/>
          </p:cNvSpPr>
          <p:nvPr>
            <p:ph type="subTitle" idx="1"/>
          </p:nvPr>
        </p:nvSpPr>
        <p:spPr>
          <a:xfrm>
            <a:off x="730249" y="4344988"/>
            <a:ext cx="7681913" cy="461665"/>
          </a:xfrm>
        </p:spPr>
        <p:txBody>
          <a:bodyPr>
            <a:noAutofit/>
          </a:bodyPr>
          <a:lstStyle>
            <a:lvl1pPr marL="0" indent="0" algn="l">
              <a:lnSpc>
                <a:spcPct val="90000"/>
              </a:lnSpc>
              <a:spcBef>
                <a:spcPts val="0"/>
              </a:spcBef>
              <a:buNone/>
              <a:defRPr>
                <a:solidFill>
                  <a:schemeClr val="tx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fr-FR"/>
              <a:t>Modifiez le style des sous-titres du masque</a:t>
            </a:r>
            <a:endParaRPr lang="en-US"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vl1pPr>
          </a:lstStyle>
          <a:p>
            <a:r>
              <a:rPr lang="fr-FR"/>
              <a:t>Modifiez le style du titre</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fr-FR"/>
              <a:t>Modifiez le style des sous-titres du masque</a:t>
            </a:r>
            <a:endParaRPr lang="en-US" dirty="0"/>
          </a:p>
        </p:txBody>
      </p:sp>
      <p:sp>
        <p:nvSpPr>
          <p:cNvPr id="7" name="Text Placeholder 6"/>
          <p:cNvSpPr>
            <a:spLocks noGrp="1"/>
          </p:cNvSpPr>
          <p:nvPr>
            <p:ph type="body" sz="quarter" idx="10" hasCustomPrompt="1"/>
          </p:nvPr>
        </p:nvSpPr>
        <p:spPr>
          <a:xfrm>
            <a:off x="722049" y="2355850"/>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0066FF"/>
                    </a:gs>
                    <a:gs pos="28000">
                      <a:srgbClr val="2E59B0"/>
                    </a:gs>
                    <a:gs pos="62000">
                      <a:srgbClr val="2B395F"/>
                    </a:gs>
                    <a:gs pos="88000">
                      <a:srgbClr val="000000"/>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a:t>click to…</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Text Placeholder 5"/>
          <p:cNvSpPr>
            <a:spLocks noGrp="1"/>
          </p:cNvSpPr>
          <p:nvPr>
            <p:ph type="body" sz="quarter" idx="10"/>
          </p:nvPr>
        </p:nvSpPr>
        <p:spPr>
          <a:xfrm>
            <a:off x="381000" y="1411552"/>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a:xfrm>
            <a:off x="381000" y="1412875"/>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381000" y="1411553"/>
            <a:ext cx="4114800" cy="2129814"/>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48200" y="1411553"/>
            <a:ext cx="4114800" cy="2129814"/>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381000" y="1411553"/>
            <a:ext cx="4114800"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380999" y="2174875"/>
            <a:ext cx="41148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45981" y="1411553"/>
            <a:ext cx="4117019"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4645026" y="2174875"/>
            <a:ext cx="4117974"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Title and Content">
    <p:bg bwMode="black">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solidFill>
                  <a:srgbClr val="FFFFFF"/>
                </a:solidFill>
              </a:defRPr>
            </a:lvl1pPr>
          </a:lstStyle>
          <a:p>
            <a:r>
              <a:rPr lang="fr-FR"/>
              <a:t>Modifiez le style du titre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rgbClr val="FFFFFF"/>
              </a:buClr>
              <a:buSzPct val="70000"/>
              <a:buFont typeface="Wingdings" pitchFamily="2" charset="2"/>
              <a:buChar char="l"/>
              <a:defRPr>
                <a:solidFill>
                  <a:srgbClr val="FFFFFF"/>
                </a:solidFill>
              </a:defRPr>
            </a:lvl1pPr>
            <a:lvl2pPr>
              <a:buClr>
                <a:srgbClr val="FFFFFF"/>
              </a:buClr>
              <a:buSzPct val="70000"/>
              <a:buFont typeface="Wingdings" pitchFamily="2" charset="2"/>
              <a:buChar char="l"/>
              <a:defRPr>
                <a:solidFill>
                  <a:srgbClr val="FFFFFF"/>
                </a:solidFill>
              </a:defRPr>
            </a:lvl2pPr>
            <a:lvl3pPr>
              <a:buClr>
                <a:srgbClr val="FFFFFF"/>
              </a:buClr>
              <a:buSzPct val="70000"/>
              <a:buFont typeface="Wingdings" pitchFamily="2" charset="2"/>
              <a:buChar char="l"/>
              <a:defRPr>
                <a:solidFill>
                  <a:srgbClr val="FFFFFF"/>
                </a:solidFill>
              </a:defRPr>
            </a:lvl3pPr>
            <a:lvl4pPr>
              <a:buClr>
                <a:srgbClr val="FFFFFF"/>
              </a:buClr>
              <a:buSzPct val="70000"/>
              <a:buFont typeface="Wingdings" pitchFamily="2" charset="2"/>
              <a:buChar char="l"/>
              <a:defRPr>
                <a:solidFill>
                  <a:srgbClr val="FFFFFF"/>
                </a:solidFill>
              </a:defRPr>
            </a:lvl4pPr>
            <a:lvl5pPr>
              <a:buClr>
                <a:srgbClr val="FFFFFF"/>
              </a:buClr>
              <a:buSzPct val="70000"/>
              <a:buFont typeface="Wingdings" pitchFamily="2" charset="2"/>
              <a:buChar char="l"/>
              <a:defRPr>
                <a:solidFill>
                  <a:srgbClr val="FFFFFF"/>
                </a:solidFill>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Title and Content">
    <p:bg bwMode="black">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solidFill>
                  <a:srgbClr val="FFFFFF"/>
                </a:solidFill>
              </a:defRPr>
            </a:lvl1pPr>
          </a:lstStyle>
          <a:p>
            <a:r>
              <a:rPr lang="fr-FR"/>
              <a:t>Modifiez le style du titre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rgbClr val="FFFFFF"/>
              </a:buClr>
              <a:buSzPct val="70000"/>
              <a:buFont typeface="Wingdings" pitchFamily="2" charset="2"/>
              <a:buChar char="l"/>
              <a:defRPr>
                <a:solidFill>
                  <a:srgbClr val="FFFFFF"/>
                </a:solidFill>
              </a:defRPr>
            </a:lvl1pPr>
            <a:lvl2pPr>
              <a:buClr>
                <a:srgbClr val="FFFFFF"/>
              </a:buClr>
              <a:buSzPct val="70000"/>
              <a:buFont typeface="Wingdings" pitchFamily="2" charset="2"/>
              <a:buChar char="l"/>
              <a:defRPr>
                <a:solidFill>
                  <a:srgbClr val="FFFFFF"/>
                </a:solidFill>
              </a:defRPr>
            </a:lvl2pPr>
            <a:lvl3pPr>
              <a:buClr>
                <a:srgbClr val="FFFFFF"/>
              </a:buClr>
              <a:buSzPct val="70000"/>
              <a:buFont typeface="Wingdings" pitchFamily="2" charset="2"/>
              <a:buChar char="l"/>
              <a:defRPr>
                <a:solidFill>
                  <a:srgbClr val="FFFFFF"/>
                </a:solidFill>
              </a:defRPr>
            </a:lvl3pPr>
            <a:lvl4pPr>
              <a:buClr>
                <a:srgbClr val="FFFFFF"/>
              </a:buClr>
              <a:buSzPct val="70000"/>
              <a:buFont typeface="Wingdings" pitchFamily="2" charset="2"/>
              <a:buChar char="l"/>
              <a:defRPr>
                <a:solidFill>
                  <a:srgbClr val="FFFFFF"/>
                </a:solidFill>
              </a:defRPr>
            </a:lvl4pPr>
            <a:lvl5pPr>
              <a:buClr>
                <a:srgbClr val="FFFFFF"/>
              </a:buClr>
              <a:buSzPct val="70000"/>
              <a:buFont typeface="Wingdings" pitchFamily="2" charset="2"/>
              <a:buChar char="l"/>
              <a:defRPr>
                <a:solidFill>
                  <a:srgbClr val="FFFFFF"/>
                </a:solidFill>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6"/>
          <p:cNvSpPr>
            <a:spLocks noGrp="1"/>
          </p:cNvSpPr>
          <p:nvPr>
            <p:ph type="body" sz="quarter" idx="11"/>
          </p:nvPr>
        </p:nvSpPr>
        <p:spPr>
          <a:xfrm>
            <a:off x="0" y="6238875"/>
            <a:ext cx="9144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fr-FR"/>
              <a:t>Modifiez les styles du texte du masque</a:t>
            </a: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vl1pPr>
          </a:lstStyle>
          <a:p>
            <a:r>
              <a:rPr lang="fr-FR"/>
              <a:t>Modifiez le style du titre</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fr-FR"/>
              <a:t>Modifiez le style des sous-titres du masque</a:t>
            </a:r>
            <a:endParaRPr lang="en-US" dirty="0"/>
          </a:p>
        </p:txBody>
      </p:sp>
      <p:sp>
        <p:nvSpPr>
          <p:cNvPr id="7" name="Text Placeholder 6"/>
          <p:cNvSpPr>
            <a:spLocks noGrp="1"/>
          </p:cNvSpPr>
          <p:nvPr>
            <p:ph type="body" sz="quarter" idx="10" hasCustomPrompt="1"/>
          </p:nvPr>
        </p:nvSpPr>
        <p:spPr>
          <a:xfrm>
            <a:off x="722049" y="2355850"/>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0066FF"/>
                    </a:gs>
                    <a:gs pos="28000">
                      <a:srgbClr val="2E59B0"/>
                    </a:gs>
                    <a:gs pos="62000">
                      <a:srgbClr val="2B395F"/>
                    </a:gs>
                    <a:gs pos="88000">
                      <a:srgbClr val="000000"/>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a:t>click to…</a:t>
            </a:r>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722313" y="1905000"/>
            <a:ext cx="8040688" cy="193899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13.xml"/><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pic>
        <p:nvPicPr>
          <p:cNvPr id="7" name="Picture 25" descr="7-00029_BAK_v03TOP"/>
          <p:cNvPicPr>
            <a:picLocks noChangeAspect="1" noChangeArrowheads="1"/>
          </p:cNvPicPr>
          <p:nvPr/>
        </p:nvPicPr>
        <p:blipFill>
          <a:blip r:embed="rId15"/>
          <a:srcRect/>
          <a:stretch>
            <a:fillRect/>
          </a:stretch>
        </p:blipFill>
        <p:spPr bwMode="auto">
          <a:xfrm>
            <a:off x="-15875" y="6007100"/>
            <a:ext cx="9159875" cy="849313"/>
          </a:xfrm>
          <a:prstGeom prst="rect">
            <a:avLst/>
          </a:prstGeom>
          <a:noFill/>
        </p:spPr>
      </p:pic>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fr-FR"/>
              <a:t>Modifiez le style du titre</a:t>
            </a:r>
            <a:endParaRPr lang="en-US" dirty="0"/>
          </a:p>
        </p:txBody>
      </p:sp>
      <p:sp>
        <p:nvSpPr>
          <p:cNvPr id="3" name="Text Placeholder 2"/>
          <p:cNvSpPr>
            <a:spLocks noGrp="1"/>
          </p:cNvSpPr>
          <p:nvPr>
            <p:ph type="body" idx="1"/>
          </p:nvPr>
        </p:nvSpPr>
        <p:spPr>
          <a:xfrm>
            <a:off x="381000" y="1412875"/>
            <a:ext cx="8382000" cy="2135969"/>
          </a:xfrm>
          <a:prstGeom prst="rect">
            <a:avLst/>
          </a:prstGeom>
        </p:spPr>
        <p:txBody>
          <a:bodyPr vert="horz" lIns="0" tIns="0" rIns="0" bIns="0" rtlCol="0">
            <a:sp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61" r:id="rId12"/>
  </p:sldLayoutIdLst>
  <p:transition>
    <p:fade/>
  </p:transition>
  <p:txStyles>
    <p:title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16"/>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7"/>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Picture 3" descr="white rectangle.png"/>
          <p:cNvPicPr>
            <a:picLocks noChangeAspect="1"/>
          </p:cNvPicPr>
          <p:nvPr/>
        </p:nvPicPr>
        <p:blipFill>
          <a:blip r:embed="rId4"/>
          <a:srcRect b="10453"/>
          <a:stretch>
            <a:fillRect/>
          </a:stretch>
        </p:blipFill>
        <p:spPr>
          <a:xfrm>
            <a:off x="0" y="1299706"/>
            <a:ext cx="9144000" cy="5558294"/>
          </a:xfrm>
          <a:prstGeom prst="rect">
            <a:avLst/>
          </a:prstGeom>
        </p:spPr>
      </p:pic>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en-US" dirty="0"/>
              <a:t>Click to edit Master title style</a:t>
            </a:r>
          </a:p>
        </p:txBody>
      </p:sp>
      <p:sp>
        <p:nvSpPr>
          <p:cNvPr id="3" name="Text Placeholder 2"/>
          <p:cNvSpPr>
            <a:spLocks noGrp="1"/>
          </p:cNvSpPr>
          <p:nvPr>
            <p:ph type="body" idx="1"/>
          </p:nvPr>
        </p:nvSpPr>
        <p:spPr>
          <a:xfrm>
            <a:off x="722312" y="1905000"/>
            <a:ext cx="8040688" cy="2108269"/>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 bg1="lt1" tx1="dk1" bg2="lt2" tx2="dk2" accent1="accent1" accent2="accent2" accent3="accent3" accent4="accent4" accent5="accent5" accent6="accent6" hlink="hlink" folHlink="folHlink"/>
  <p:sldLayoutIdLst>
    <p:sldLayoutId id="2147483675" r:id="rId1"/>
  </p:sldLayoutIdLst>
  <p:transition>
    <p:fade/>
  </p:transition>
  <p:txStyles>
    <p:titleStyle>
      <a:lvl1pPr algn="l" defTabSz="914363" rtl="0" eaLnBrk="1" latinLnBrk="0" hangingPunct="1">
        <a:lnSpc>
          <a:spcPct val="90000"/>
        </a:lnSpc>
        <a:spcBef>
          <a:spcPct val="0"/>
        </a:spcBef>
        <a:buNone/>
        <a:defRPr lang="en-US" sz="4800" b="0" kern="1200" cap="none" spc="-125"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p:titleStyle>
    <p:bodyStyle>
      <a:lvl1pPr marL="0" indent="0" algn="l" defTabSz="914363" rtl="0" eaLnBrk="1" latinLnBrk="0" hangingPunct="1">
        <a:lnSpc>
          <a:spcPct val="90000"/>
        </a:lnSpc>
        <a:spcBef>
          <a:spcPct val="20000"/>
        </a:spcBef>
        <a:buFont typeface="Arial" pitchFamily="34" charset="0"/>
        <a:buNone/>
        <a:defRPr sz="3000" b="1" kern="1200">
          <a:solidFill>
            <a:schemeClr val="tx1"/>
          </a:solidFill>
          <a:latin typeface="Courier New" pitchFamily="49" charset="0"/>
          <a:ea typeface="+mn-ea"/>
          <a:cs typeface="Courier New" pitchFamily="49" charset="0"/>
        </a:defRPr>
      </a:lvl1pPr>
      <a:lvl2pPr marL="384954" indent="-7937" algn="l" defTabSz="914363" rtl="0" eaLnBrk="1" latinLnBrk="0" hangingPunct="1">
        <a:lnSpc>
          <a:spcPct val="90000"/>
        </a:lnSpc>
        <a:spcBef>
          <a:spcPct val="20000"/>
        </a:spcBef>
        <a:buFont typeface="Arial" pitchFamily="34" charset="0"/>
        <a:buNone/>
        <a:defRPr sz="2800" b="1" kern="1200">
          <a:solidFill>
            <a:schemeClr val="tx1"/>
          </a:solidFill>
          <a:latin typeface="Courier New" pitchFamily="49" charset="0"/>
          <a:ea typeface="+mn-ea"/>
          <a:cs typeface="Courier New" pitchFamily="49" charset="0"/>
        </a:defRPr>
      </a:lvl2pPr>
      <a:lvl3pPr marL="761970" indent="-7937"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3pPr>
      <a:lvl4pPr marL="1094009" indent="7937"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4pPr>
      <a:lvl5pPr marL="1426047" indent="0"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0248" y="2123860"/>
            <a:ext cx="7681913" cy="1523495"/>
          </a:xfrm>
        </p:spPr>
        <p:txBody>
          <a:bodyPr/>
          <a:lstStyle/>
          <a:p>
            <a:pPr algn="ctr" defTabSz="914400">
              <a:lnSpc>
                <a:spcPct val="90000"/>
              </a:lnSpc>
              <a:spcBef>
                <a:spcPts val="0"/>
              </a:spcBef>
              <a:buNone/>
            </a:pPr>
            <a:r>
              <a:rPr lang="fr-FR" sz="4000" b="0" i="0" spc="-150" dirty="0">
                <a:solidFill>
                  <a:schemeClr val="accent2">
                    <a:lumMod val="75000"/>
                  </a:schemeClr>
                </a:solidFill>
                <a:effectLst>
                  <a:outerShdw blurRad="50800" dist="38100" dir="2700000" algn="tl">
                    <a:prstClr val="black">
                      <a:alpha val="40000"/>
                    </a:prstClr>
                  </a:outerShdw>
                </a:effectLst>
                <a:latin typeface="Bauhaus 93" panose="04030905020B02020C02" pitchFamily="82" charset="0"/>
                <a:cs typeface="Arial"/>
              </a:rPr>
              <a:t>INTRODUCTION GENERALE ET RAPPEL DE STATISTIQUES DESCRIPTIVES</a:t>
            </a:r>
          </a:p>
        </p:txBody>
      </p:sp>
      <p:sp>
        <p:nvSpPr>
          <p:cNvPr id="3" name="Subtitle 2"/>
          <p:cNvSpPr>
            <a:spLocks noGrp="1"/>
          </p:cNvSpPr>
          <p:nvPr>
            <p:ph type="subTitle" idx="1"/>
          </p:nvPr>
        </p:nvSpPr>
        <p:spPr>
          <a:xfrm>
            <a:off x="730248" y="4725144"/>
            <a:ext cx="7681913" cy="740196"/>
          </a:xfrm>
        </p:spPr>
        <p:txBody>
          <a:bodyPr>
            <a:normAutofit/>
          </a:bodyPr>
          <a:lstStyle/>
          <a:p>
            <a:pPr marL="0" indent="0" algn="l">
              <a:lnSpc>
                <a:spcPct val="90000"/>
              </a:lnSpc>
              <a:spcBef>
                <a:spcPts val="0"/>
              </a:spcBef>
              <a:buNone/>
            </a:pPr>
            <a:r>
              <a:rPr lang="fr-FR" sz="2400" b="0" i="0" dirty="0">
                <a:solidFill>
                  <a:srgbClr val="000000"/>
                </a:solidFill>
                <a:latin typeface="Gill Sans Nova Light" panose="020B0302020104020203" pitchFamily="34" charset="0"/>
              </a:rPr>
              <a:t>  Par: Obidon OGOUMEDI </a:t>
            </a:r>
          </a:p>
          <a:p>
            <a:pPr marL="0" indent="0" algn="l">
              <a:lnSpc>
                <a:spcPct val="90000"/>
              </a:lnSpc>
              <a:spcBef>
                <a:spcPts val="0"/>
              </a:spcBef>
              <a:buNone/>
            </a:pPr>
            <a:r>
              <a:rPr lang="fr-FR" sz="2400" b="0" i="0" dirty="0">
                <a:solidFill>
                  <a:srgbClr val="000000"/>
                </a:solidFill>
                <a:latin typeface="Gill Sans Nova Light" panose="020B0302020104020203" pitchFamily="34" charset="0"/>
              </a:rPr>
              <a:t>  </a:t>
            </a:r>
          </a:p>
        </p:txBody>
      </p:sp>
      <p:sp>
        <p:nvSpPr>
          <p:cNvPr id="4" name="Rectangle 2">
            <a:extLst>
              <a:ext uri="{FF2B5EF4-FFF2-40B4-BE49-F238E27FC236}">
                <a16:creationId xmlns:a16="http://schemas.microsoft.com/office/drawing/2014/main" id="{18824669-A4C3-447C-B6D0-F2A5768B06F7}"/>
              </a:ext>
            </a:extLst>
          </p:cNvPr>
          <p:cNvSpPr txBox="1">
            <a:spLocks noChangeArrowheads="1"/>
          </p:cNvSpPr>
          <p:nvPr/>
        </p:nvSpPr>
        <p:spPr bwMode="auto">
          <a:xfrm>
            <a:off x="85806" y="179975"/>
            <a:ext cx="6966021" cy="1039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a:bodyPr>
          <a:lstStyle>
            <a:lvl1pPr algn="l" defTabSz="914363" rtl="0" eaLnBrk="0" fontAlgn="base" latinLnBrk="0" hangingPunct="0">
              <a:lnSpc>
                <a:spcPct val="90000"/>
              </a:lnSpc>
              <a:spcBef>
                <a:spcPct val="0"/>
              </a:spcBef>
              <a:spcAft>
                <a:spcPct val="0"/>
              </a:spcAft>
              <a:buNone/>
              <a:defRPr lang="en-US" sz="4400" b="0" kern="1200" cap="none" spc="-150">
                <a:ln w="3175">
                  <a:noFill/>
                </a:ln>
                <a:solidFill>
                  <a:schemeClr val="tx2"/>
                </a:solidFill>
                <a:effectLst>
                  <a:outerShdw blurRad="50800" dist="38100" dir="2700000" algn="tl" rotWithShape="0">
                    <a:prstClr val="black">
                      <a:alpha val="40000"/>
                    </a:prstClr>
                  </a:outerShdw>
                </a:effectLst>
                <a:latin typeface="+mj-lt"/>
                <a:ea typeface="+mj-ea"/>
                <a:cs typeface="+mj-cs"/>
              </a:defRPr>
            </a:lvl1pPr>
            <a:lvl2pPr algn="l" rtl="0" eaLnBrk="0" fontAlgn="base" hangingPunct="0">
              <a:spcBef>
                <a:spcPct val="0"/>
              </a:spcBef>
              <a:spcAft>
                <a:spcPct val="0"/>
              </a:spcAft>
              <a:defRPr sz="4400">
                <a:solidFill>
                  <a:schemeClr val="tx2"/>
                </a:solidFill>
                <a:latin typeface="Garamond" pitchFamily="18" charset="0"/>
              </a:defRPr>
            </a:lvl2pPr>
            <a:lvl3pPr algn="l" rtl="0" eaLnBrk="0" fontAlgn="base" hangingPunct="0">
              <a:spcBef>
                <a:spcPct val="0"/>
              </a:spcBef>
              <a:spcAft>
                <a:spcPct val="0"/>
              </a:spcAft>
              <a:defRPr sz="4400">
                <a:solidFill>
                  <a:schemeClr val="tx2"/>
                </a:solidFill>
                <a:latin typeface="Garamond" pitchFamily="18" charset="0"/>
              </a:defRPr>
            </a:lvl3pPr>
            <a:lvl4pPr algn="l" rtl="0" eaLnBrk="0" fontAlgn="base" hangingPunct="0">
              <a:spcBef>
                <a:spcPct val="0"/>
              </a:spcBef>
              <a:spcAft>
                <a:spcPct val="0"/>
              </a:spcAft>
              <a:defRPr sz="4400">
                <a:solidFill>
                  <a:schemeClr val="tx2"/>
                </a:solidFill>
                <a:latin typeface="Garamond" pitchFamily="18" charset="0"/>
              </a:defRPr>
            </a:lvl4pPr>
            <a:lvl5pPr algn="l" rtl="0" eaLnBrk="0" fontAlgn="base" hangingPunct="0">
              <a:spcBef>
                <a:spcPct val="0"/>
              </a:spcBef>
              <a:spcAft>
                <a:spcPct val="0"/>
              </a:spcAft>
              <a:defRPr sz="4400">
                <a:solidFill>
                  <a:schemeClr val="tx2"/>
                </a:solidFill>
                <a:latin typeface="Garamond" pitchFamily="18" charset="0"/>
              </a:defRPr>
            </a:lvl5pPr>
            <a:lvl6pPr marL="457200" algn="l" rtl="0" fontAlgn="base">
              <a:spcBef>
                <a:spcPct val="0"/>
              </a:spcBef>
              <a:spcAft>
                <a:spcPct val="0"/>
              </a:spcAft>
              <a:defRPr sz="4400">
                <a:solidFill>
                  <a:schemeClr val="tx2"/>
                </a:solidFill>
                <a:latin typeface="Garamond" pitchFamily="18" charset="0"/>
              </a:defRPr>
            </a:lvl6pPr>
            <a:lvl7pPr marL="914400" algn="l" rtl="0" fontAlgn="base">
              <a:spcBef>
                <a:spcPct val="0"/>
              </a:spcBef>
              <a:spcAft>
                <a:spcPct val="0"/>
              </a:spcAft>
              <a:defRPr sz="4400">
                <a:solidFill>
                  <a:schemeClr val="tx2"/>
                </a:solidFill>
                <a:latin typeface="Garamond" pitchFamily="18" charset="0"/>
              </a:defRPr>
            </a:lvl7pPr>
            <a:lvl8pPr marL="1371600" algn="l" rtl="0" fontAlgn="base">
              <a:spcBef>
                <a:spcPct val="0"/>
              </a:spcBef>
              <a:spcAft>
                <a:spcPct val="0"/>
              </a:spcAft>
              <a:defRPr sz="4400">
                <a:solidFill>
                  <a:schemeClr val="tx2"/>
                </a:solidFill>
                <a:latin typeface="Garamond" pitchFamily="18" charset="0"/>
              </a:defRPr>
            </a:lvl8pPr>
            <a:lvl9pPr marL="1828800" algn="l" rtl="0" fontAlgn="base">
              <a:spcBef>
                <a:spcPct val="0"/>
              </a:spcBef>
              <a:spcAft>
                <a:spcPct val="0"/>
              </a:spcAft>
              <a:defRPr sz="4400">
                <a:solidFill>
                  <a:schemeClr val="tx2"/>
                </a:solidFill>
                <a:latin typeface="Garamond" pitchFamily="18" charset="0"/>
              </a:defRPr>
            </a:lvl9pPr>
          </a:lstStyle>
          <a:p>
            <a:pPr algn="ctr" eaLnBrk="1" hangingPunct="1"/>
            <a:r>
              <a:rPr lang="fr-FR" altLang="fr-FR" sz="2400" b="1" dirty="0">
                <a:solidFill>
                  <a:schemeClr val="tx1"/>
                </a:solidFill>
                <a:latin typeface="Gill Sans Nova Light" panose="020B0302020104020203" pitchFamily="34" charset="0"/>
                <a:ea typeface="Ebrima" panose="02000000000000000000" pitchFamily="2" charset="0"/>
                <a:cs typeface="Ebrima" panose="02000000000000000000" pitchFamily="2" charset="0"/>
              </a:rPr>
              <a:t>UNIVERSITE CATHOLITIQUE DE L’AFRIQUE DE L’OUEST</a:t>
            </a:r>
          </a:p>
          <a:p>
            <a:pPr algn="ctr" eaLnBrk="1" hangingPunct="1"/>
            <a:r>
              <a:rPr lang="fr-FR" altLang="fr-FR" sz="2400" b="1" dirty="0">
                <a:solidFill>
                  <a:schemeClr val="tx1"/>
                </a:solidFill>
                <a:latin typeface="Gill Sans Nova Light" panose="020B0302020104020203" pitchFamily="34" charset="0"/>
                <a:ea typeface="Ebrima" panose="02000000000000000000" pitchFamily="2" charset="0"/>
                <a:cs typeface="Ebrima" panose="02000000000000000000" pitchFamily="2" charset="0"/>
              </a:rPr>
              <a:t>UNITE UNIVERSITAIRE DU TOGO</a:t>
            </a:r>
          </a:p>
        </p:txBody>
      </p:sp>
      <p:pic>
        <p:nvPicPr>
          <p:cNvPr id="5" name="Picture 71717">
            <a:extLst>
              <a:ext uri="{FF2B5EF4-FFF2-40B4-BE49-F238E27FC236}">
                <a16:creationId xmlns:a16="http://schemas.microsoft.com/office/drawing/2014/main" id="{12DCD9EF-3284-4FDE-B581-D8C3338FA689}"/>
              </a:ext>
            </a:extLst>
          </p:cNvPr>
          <p:cNvPicPr/>
          <p:nvPr/>
        </p:nvPicPr>
        <p:blipFill rotWithShape="1">
          <a:blip r:embed="rId3"/>
          <a:srcRect l="34505" t="17139" r="32743" b="61043"/>
          <a:stretch/>
        </p:blipFill>
        <p:spPr bwMode="auto">
          <a:xfrm>
            <a:off x="6876256" y="0"/>
            <a:ext cx="2160240" cy="1916832"/>
          </a:xfrm>
          <a:prstGeom prst="rect">
            <a:avLst/>
          </a:prstGeom>
          <a:ln>
            <a:noFill/>
          </a:ln>
          <a:extLst>
            <a:ext uri="{53640926-AAD7-44D8-BBD7-CCE9431645EC}">
              <a14:shadowObscured xmlns:a14="http://schemas.microsoft.com/office/drawing/2010/main"/>
            </a:ext>
          </a:extLst>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664797"/>
          </a:xfrm>
        </p:spPr>
        <p:txBody>
          <a:bodyPr/>
          <a:lstStyle/>
          <a:p>
            <a:pPr algn="l" defTabSz="914400">
              <a:lnSpc>
                <a:spcPct val="90000"/>
              </a:lnSpc>
              <a:spcBef>
                <a:spcPts val="0"/>
              </a:spcBef>
              <a:buNone/>
            </a:pPr>
            <a:r>
              <a:rPr lang="fr-FR" sz="4800" b="0" i="0" spc="-150" noProof="1">
                <a:effectLst>
                  <a:outerShdw blurRad="50800" dist="38100" dir="2700000" algn="tl">
                    <a:prstClr val="black">
                      <a:alpha val="40000"/>
                    </a:prstClr>
                  </a:outerShdw>
                </a:effectLst>
                <a:latin typeface="Calibri"/>
                <a:ea typeface="+mn-ea"/>
                <a:cs typeface="Arial"/>
              </a:rPr>
              <a:t>Plan de la présentation</a:t>
            </a:r>
          </a:p>
        </p:txBody>
      </p:sp>
      <p:sp>
        <p:nvSpPr>
          <p:cNvPr id="3" name="Text Placeholder 2"/>
          <p:cNvSpPr>
            <a:spLocks noGrp="1"/>
          </p:cNvSpPr>
          <p:nvPr>
            <p:ph type="body" sz="quarter" idx="10"/>
          </p:nvPr>
        </p:nvSpPr>
        <p:spPr>
          <a:xfrm>
            <a:off x="228600" y="1548595"/>
            <a:ext cx="8686800" cy="3132845"/>
          </a:xfrm>
        </p:spPr>
        <p:txBody>
          <a:bodyPr/>
          <a:lstStyle/>
          <a:p>
            <a:pPr marL="393192" indent="-393192" algn="l" defTabSz="914400">
              <a:lnSpc>
                <a:spcPct val="80000"/>
              </a:lnSpc>
              <a:spcBef>
                <a:spcPts val="768"/>
              </a:spcBef>
              <a:buClr>
                <a:srgbClr val="000000"/>
              </a:buClr>
              <a:buFontTx/>
            </a:pPr>
            <a:r>
              <a:rPr lang="fr-FR" sz="4400" b="0" i="0" noProof="1">
                <a:solidFill>
                  <a:srgbClr val="000000"/>
                </a:solidFill>
                <a:latin typeface="Bodoni MT Condensed" panose="02070606080606020203" pitchFamily="18" charset="0"/>
              </a:rPr>
              <a:t>Introduction</a:t>
            </a:r>
          </a:p>
          <a:p>
            <a:pPr marL="393192" indent="-393192" algn="l" defTabSz="914400">
              <a:lnSpc>
                <a:spcPct val="80000"/>
              </a:lnSpc>
              <a:spcBef>
                <a:spcPts val="768"/>
              </a:spcBef>
              <a:buClr>
                <a:srgbClr val="000000"/>
              </a:buClr>
              <a:buFontTx/>
            </a:pPr>
            <a:r>
              <a:rPr lang="fr-FR" sz="4400" b="0" i="0" noProof="1">
                <a:solidFill>
                  <a:srgbClr val="000000"/>
                </a:solidFill>
                <a:latin typeface="Bodoni MT Condensed" panose="02070606080606020203" pitchFamily="18" charset="0"/>
              </a:rPr>
              <a:t>Les variables statistiques </a:t>
            </a:r>
          </a:p>
          <a:p>
            <a:pPr marL="393192" indent="-393192" algn="l" defTabSz="914400">
              <a:lnSpc>
                <a:spcPct val="80000"/>
              </a:lnSpc>
              <a:spcBef>
                <a:spcPts val="768"/>
              </a:spcBef>
              <a:buClr>
                <a:srgbClr val="000000"/>
              </a:buClr>
              <a:buFontTx/>
            </a:pPr>
            <a:r>
              <a:rPr lang="fr-FR" sz="4400" noProof="1">
                <a:solidFill>
                  <a:srgbClr val="000000"/>
                </a:solidFill>
                <a:latin typeface="Bodoni MT Condensed" panose="02070606080606020203" pitchFamily="18" charset="0"/>
              </a:rPr>
              <a:t>Représentations </a:t>
            </a:r>
            <a:r>
              <a:rPr lang="fr-FR" sz="4400" b="0" i="0" noProof="1">
                <a:solidFill>
                  <a:srgbClr val="000000"/>
                </a:solidFill>
                <a:latin typeface="Bodoni MT Condensed" panose="02070606080606020203" pitchFamily="18" charset="0"/>
              </a:rPr>
              <a:t>graphiques</a:t>
            </a:r>
          </a:p>
          <a:p>
            <a:pPr marL="393192" indent="-393192" defTabSz="914400">
              <a:lnSpc>
                <a:spcPct val="80000"/>
              </a:lnSpc>
              <a:spcBef>
                <a:spcPts val="768"/>
              </a:spcBef>
              <a:buClr>
                <a:srgbClr val="000000"/>
              </a:buClr>
            </a:pPr>
            <a:r>
              <a:rPr lang="fr-FR" sz="4400" noProof="1">
                <a:latin typeface="Bodoni MT Condensed" panose="02070606080606020203" pitchFamily="18" charset="0"/>
              </a:rPr>
              <a:t>Caractéristiques de tendance centrale</a:t>
            </a:r>
          </a:p>
          <a:p>
            <a:pPr marL="393192" indent="-393192" defTabSz="914400">
              <a:lnSpc>
                <a:spcPct val="80000"/>
              </a:lnSpc>
              <a:spcBef>
                <a:spcPts val="768"/>
              </a:spcBef>
              <a:buClr>
                <a:srgbClr val="000000"/>
              </a:buClr>
            </a:pPr>
            <a:r>
              <a:rPr lang="fr-FR" sz="4400" b="0" i="0" noProof="1">
                <a:solidFill>
                  <a:srgbClr val="000000"/>
                </a:solidFill>
                <a:latin typeface="Bodoni MT Condensed" panose="02070606080606020203" pitchFamily="18" charset="0"/>
              </a:rPr>
              <a:t>Cas pratiques</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0F2D7C-D366-F67D-F58E-FB91290649E1}"/>
              </a:ext>
            </a:extLst>
          </p:cNvPr>
          <p:cNvSpPr>
            <a:spLocks noGrp="1"/>
          </p:cNvSpPr>
          <p:nvPr>
            <p:ph type="title"/>
          </p:nvPr>
        </p:nvSpPr>
        <p:spPr>
          <a:xfrm>
            <a:off x="381000" y="230188"/>
            <a:ext cx="8382000" cy="830997"/>
          </a:xfrm>
        </p:spPr>
        <p:txBody>
          <a:bodyPr/>
          <a:lstStyle/>
          <a:p>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INTODUCTION</a:t>
            </a:r>
            <a:endParaRPr lang="fr-TG" sz="6000" dirty="0">
              <a:solidFill>
                <a:schemeClr val="tx2"/>
              </a:solidFill>
              <a:latin typeface="Bauhaus 93" panose="04030905020B02020C02" pitchFamily="82" charset="0"/>
            </a:endParaRPr>
          </a:p>
        </p:txBody>
      </p:sp>
      <p:sp>
        <p:nvSpPr>
          <p:cNvPr id="3" name="Espace réservé du contenu 2">
            <a:extLst>
              <a:ext uri="{FF2B5EF4-FFF2-40B4-BE49-F238E27FC236}">
                <a16:creationId xmlns:a16="http://schemas.microsoft.com/office/drawing/2014/main" id="{6DC05A2A-6FA6-9198-1283-8F49015C5D54}"/>
              </a:ext>
            </a:extLst>
          </p:cNvPr>
          <p:cNvSpPr>
            <a:spLocks noGrp="1"/>
          </p:cNvSpPr>
          <p:nvPr>
            <p:ph idx="1"/>
          </p:nvPr>
        </p:nvSpPr>
        <p:spPr>
          <a:xfrm>
            <a:off x="381000" y="1061185"/>
            <a:ext cx="8382000" cy="3649140"/>
          </a:xfrm>
        </p:spPr>
        <p:txBody>
          <a:bodyPr/>
          <a:lstStyle/>
          <a:p>
            <a:pPr algn="just">
              <a:buFont typeface="Wingdings" panose="05000000000000000000" pitchFamily="2" charset="2"/>
              <a:buChar char="ü"/>
            </a:pPr>
            <a:r>
              <a:rPr lang="fr-FR" dirty="0">
                <a:latin typeface="Comic Sans MS" panose="030F0702030302020204" pitchFamily="66" charset="0"/>
              </a:rPr>
              <a:t> </a:t>
            </a:r>
            <a:r>
              <a:rPr lang="fr-FR" dirty="0">
                <a:latin typeface="Bodoni MT" panose="02070603080606020203" pitchFamily="18" charset="0"/>
              </a:rPr>
              <a:t>Un monde au rythme des : résultats d’enquêtes, notes d’examens, informations économiques, données de santé, statistiques agricoles, etc. </a:t>
            </a:r>
          </a:p>
          <a:p>
            <a:pPr algn="just">
              <a:buFont typeface="Wingdings" panose="05000000000000000000" pitchFamily="2" charset="2"/>
              <a:buChar char="ü"/>
            </a:pPr>
            <a:r>
              <a:rPr lang="fr-FR" dirty="0">
                <a:latin typeface="Bodoni MT" panose="02070603080606020203" pitchFamily="18" charset="0"/>
              </a:rPr>
              <a:t>Cependant, disposer de données ne suffit pas. Il est nécessaire de savoir les comprendre, les organiser et les analyser afin d’en tirer des informations utiles.</a:t>
            </a:r>
            <a:endParaRPr lang="fr-TG" dirty="0">
              <a:latin typeface="Bodoni MT" panose="02070603080606020203" pitchFamily="18" charset="0"/>
            </a:endParaRPr>
          </a:p>
        </p:txBody>
      </p:sp>
    </p:spTree>
    <p:extLst>
      <p:ext uri="{BB962C8B-B14F-4D97-AF65-F5344CB8AC3E}">
        <p14:creationId xmlns:p14="http://schemas.microsoft.com/office/powerpoint/2010/main" val="273351224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1163395"/>
          </a:xfrm>
        </p:spPr>
        <p:txBody>
          <a:bodyPr>
            <a:normAutofit/>
          </a:bodyPr>
          <a:lstStyle/>
          <a:p>
            <a:pPr algn="l" defTabSz="914400">
              <a:lnSpc>
                <a:spcPct val="90000"/>
              </a:lnSpc>
              <a:spcBef>
                <a:spcPts val="0"/>
              </a:spcBef>
              <a:buNone/>
            </a:pPr>
            <a:r>
              <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INTODUCTION</a:t>
            </a:r>
          </a:p>
        </p:txBody>
      </p:sp>
      <p:sp>
        <p:nvSpPr>
          <p:cNvPr id="3" name="Text Placeholder 2"/>
          <p:cNvSpPr>
            <a:spLocks noGrp="1"/>
          </p:cNvSpPr>
          <p:nvPr>
            <p:ph type="body" sz="quarter" idx="10"/>
          </p:nvPr>
        </p:nvSpPr>
        <p:spPr>
          <a:xfrm>
            <a:off x="179512" y="908720"/>
            <a:ext cx="8583488" cy="4661824"/>
          </a:xfrm>
        </p:spPr>
        <p:txBody>
          <a:bodyPr>
            <a:noAutofit/>
          </a:bodyPr>
          <a:lstStyle/>
          <a:p>
            <a:pPr marL="393192" indent="-393192" algn="just" defTabSz="914400">
              <a:lnSpc>
                <a:spcPct val="83000"/>
              </a:lnSpc>
              <a:spcBef>
                <a:spcPts val="768"/>
              </a:spcBef>
              <a:buClr>
                <a:srgbClr val="000000"/>
              </a:buClr>
            </a:pPr>
            <a:r>
              <a:rPr lang="fr-FR" sz="3600" spc="-50" noProof="1">
                <a:latin typeface="Bodoni MT Condensed" panose="02070606080606020203" pitchFamily="18" charset="0"/>
              </a:rPr>
              <a:t>La statistique : domaine des mathématiques dans lequel on étudie la collecte, l’analyse, l’interprétetation de données</a:t>
            </a:r>
          </a:p>
          <a:p>
            <a:pPr marL="587375" marR="48895" lvl="1" indent="309880" algn="just">
              <a:lnSpc>
                <a:spcPct val="128000"/>
              </a:lnSpc>
            </a:pPr>
            <a:r>
              <a:rPr lang="fr-FR" sz="2200" dirty="0">
                <a:effectLst/>
                <a:latin typeface="Bodoni MT" panose="02070603080606020203" pitchFamily="18" charset="0"/>
                <a:ea typeface="Times New Roman" panose="02020603050405020304" pitchFamily="18" charset="0"/>
              </a:rPr>
              <a:t>La</a:t>
            </a:r>
            <a:r>
              <a:rPr lang="fr-FR" sz="2200" spc="12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statistique</a:t>
            </a:r>
            <a:r>
              <a:rPr lang="fr-FR" sz="2200" spc="3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est</a:t>
            </a:r>
            <a:r>
              <a:rPr lang="fr-FR" sz="2200" spc="17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l’étude</a:t>
            </a:r>
            <a:r>
              <a:rPr lang="fr-FR" sz="2200" spc="21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de</a:t>
            </a:r>
            <a:r>
              <a:rPr lang="fr-FR" sz="2200" spc="11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la</a:t>
            </a:r>
            <a:r>
              <a:rPr lang="fr-FR" sz="2200" spc="11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collecte</a:t>
            </a:r>
            <a:r>
              <a:rPr lang="fr-FR" sz="2200" spc="13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de</a:t>
            </a:r>
            <a:r>
              <a:rPr lang="fr-FR" sz="2200" spc="11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données,</a:t>
            </a:r>
            <a:r>
              <a:rPr lang="fr-FR" sz="2200" spc="215" dirty="0">
                <a:latin typeface="Bodoni MT" panose="02070603080606020203" pitchFamily="18" charset="0"/>
                <a:ea typeface="Times New Roman" panose="02020603050405020304" pitchFamily="18" charset="0"/>
              </a:rPr>
              <a:t> </a:t>
            </a:r>
            <a:r>
              <a:rPr lang="fr-FR" sz="2200" dirty="0">
                <a:latin typeface="Bodoni MT" panose="02070603080606020203" pitchFamily="18" charset="0"/>
                <a:ea typeface="Times New Roman" panose="02020603050405020304" pitchFamily="18" charset="0"/>
              </a:rPr>
              <a:t>leur</a:t>
            </a:r>
            <a:r>
              <a:rPr lang="fr-FR" sz="2200" spc="165" dirty="0">
                <a:latin typeface="Bodoni MT" panose="02070603080606020203" pitchFamily="18" charset="0"/>
                <a:ea typeface="Times New Roman" panose="02020603050405020304" pitchFamily="18" charset="0"/>
              </a:rPr>
              <a:t> </a:t>
            </a:r>
            <a:r>
              <a:rPr lang="fr-FR" sz="2200" dirty="0">
                <a:latin typeface="Bodoni MT" panose="02070603080606020203" pitchFamily="18" charset="0"/>
                <a:ea typeface="Times New Roman" panose="02020603050405020304" pitchFamily="18" charset="0"/>
              </a:rPr>
              <a:t>traiteme</a:t>
            </a:r>
            <a:r>
              <a:rPr lang="fr-FR" sz="2200" spc="-35" dirty="0">
                <a:latin typeface="Bodoni MT" panose="02070603080606020203" pitchFamily="18" charset="0"/>
                <a:ea typeface="Times New Roman" panose="02020603050405020304" pitchFamily="18" charset="0"/>
              </a:rPr>
              <a:t>n</a:t>
            </a:r>
            <a:r>
              <a:rPr lang="fr-FR" sz="2200" dirty="0">
                <a:latin typeface="Bodoni MT" panose="02070603080606020203" pitchFamily="18" charset="0"/>
                <a:ea typeface="Times New Roman" panose="02020603050405020304" pitchFamily="18" charset="0"/>
              </a:rPr>
              <a:t>t,</a:t>
            </a:r>
            <a:r>
              <a:rPr lang="fr-FR" sz="2200" spc="65" dirty="0">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leur</a:t>
            </a:r>
            <a:r>
              <a:rPr lang="fr-FR" sz="2200" spc="16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analyse, l’interprétation</a:t>
            </a:r>
            <a:r>
              <a:rPr lang="fr-FR" sz="2200" spc="12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des</a:t>
            </a:r>
            <a:r>
              <a:rPr lang="fr-FR" sz="2200" spc="20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résultats</a:t>
            </a:r>
            <a:r>
              <a:rPr lang="fr-FR" sz="2200" spc="12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et</a:t>
            </a:r>
            <a:r>
              <a:rPr lang="fr-FR" sz="2200" spc="26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leur</a:t>
            </a:r>
            <a:r>
              <a:rPr lang="fr-FR" sz="2200" spc="26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prése</a:t>
            </a:r>
            <a:r>
              <a:rPr lang="fr-FR" sz="2200" spc="-30" dirty="0">
                <a:effectLst/>
                <a:latin typeface="Bodoni MT" panose="02070603080606020203" pitchFamily="18" charset="0"/>
                <a:ea typeface="Times New Roman" panose="02020603050405020304" pitchFamily="18" charset="0"/>
              </a:rPr>
              <a:t>n</a:t>
            </a:r>
            <a:r>
              <a:rPr lang="fr-FR" sz="2200" dirty="0">
                <a:effectLst/>
                <a:latin typeface="Bodoni MT" panose="02070603080606020203" pitchFamily="18" charset="0"/>
                <a:ea typeface="Times New Roman" panose="02020603050405020304" pitchFamily="18" charset="0"/>
              </a:rPr>
              <a:t>tation</a:t>
            </a:r>
            <a:r>
              <a:rPr lang="fr-FR" sz="2200" spc="17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afin</a:t>
            </a:r>
            <a:r>
              <a:rPr lang="fr-FR" sz="2200" spc="19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de</a:t>
            </a:r>
            <a:r>
              <a:rPr lang="fr-FR" sz="2200" spc="20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rendre </a:t>
            </a:r>
            <a:r>
              <a:rPr lang="fr-FR" sz="2200" spc="10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les</a:t>
            </a:r>
            <a:r>
              <a:rPr lang="fr-FR" sz="2200" spc="14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données </a:t>
            </a:r>
            <a:r>
              <a:rPr lang="fr-FR" sz="2200" spc="2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compréhensibles par</a:t>
            </a:r>
            <a:r>
              <a:rPr lang="fr-FR" sz="2200" spc="25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tous. </a:t>
            </a:r>
            <a:r>
              <a:rPr lang="fr-FR" sz="2200" spc="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C’est</a:t>
            </a:r>
            <a:r>
              <a:rPr lang="fr-FR" sz="2200" spc="18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à</a:t>
            </a:r>
            <a:r>
              <a:rPr lang="fr-FR" sz="2200" spc="14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la</a:t>
            </a:r>
            <a:r>
              <a:rPr lang="fr-FR" sz="2200" spc="14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fois</a:t>
            </a:r>
            <a:r>
              <a:rPr lang="fr-FR" sz="2200" spc="4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une</a:t>
            </a:r>
            <a:r>
              <a:rPr lang="fr-FR" sz="2200" spc="18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science,</a:t>
            </a:r>
            <a:r>
              <a:rPr lang="fr-FR" sz="2200" spc="13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une</a:t>
            </a:r>
            <a:r>
              <a:rPr lang="fr-FR" sz="2200" spc="18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méth</a:t>
            </a:r>
            <a:r>
              <a:rPr lang="fr-FR" sz="2200" spc="30" dirty="0">
                <a:effectLst/>
                <a:latin typeface="Bodoni MT" panose="02070603080606020203" pitchFamily="18" charset="0"/>
                <a:ea typeface="Times New Roman" panose="02020603050405020304" pitchFamily="18" charset="0"/>
              </a:rPr>
              <a:t>o</a:t>
            </a:r>
            <a:r>
              <a:rPr lang="fr-FR" sz="2200" dirty="0">
                <a:effectLst/>
                <a:latin typeface="Bodoni MT" panose="02070603080606020203" pitchFamily="18" charset="0"/>
                <a:ea typeface="Times New Roman" panose="02020603050405020304" pitchFamily="18" charset="0"/>
              </a:rPr>
              <a:t>de </a:t>
            </a:r>
            <a:r>
              <a:rPr lang="fr-FR" sz="2200" spc="8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et</a:t>
            </a:r>
            <a:r>
              <a:rPr lang="fr-FR" sz="2200" spc="20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un</a:t>
            </a:r>
            <a:r>
              <a:rPr lang="fr-FR" sz="2200" spc="20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ense</a:t>
            </a:r>
            <a:r>
              <a:rPr lang="fr-FR" sz="2200" spc="-30" dirty="0">
                <a:effectLst/>
                <a:latin typeface="Bodoni MT" panose="02070603080606020203" pitchFamily="18" charset="0"/>
                <a:ea typeface="Times New Roman" panose="02020603050405020304" pitchFamily="18" charset="0"/>
              </a:rPr>
              <a:t>m</a:t>
            </a:r>
            <a:r>
              <a:rPr lang="fr-FR" sz="2200" dirty="0">
                <a:effectLst/>
                <a:latin typeface="Bodoni MT" panose="02070603080606020203" pitchFamily="18" charset="0"/>
                <a:ea typeface="Times New Roman" panose="02020603050405020304" pitchFamily="18" charset="0"/>
              </a:rPr>
              <a:t>ble</a:t>
            </a:r>
            <a:r>
              <a:rPr lang="fr-FR" sz="2200" spc="21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de</a:t>
            </a:r>
            <a:r>
              <a:rPr lang="fr-FR" sz="2200" spc="14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te</a:t>
            </a:r>
            <a:r>
              <a:rPr lang="fr-FR" sz="2200" spc="-30" dirty="0">
                <a:effectLst/>
                <a:latin typeface="Bodoni MT" panose="02070603080606020203" pitchFamily="18" charset="0"/>
                <a:ea typeface="Times New Roman" panose="02020603050405020304" pitchFamily="18" charset="0"/>
              </a:rPr>
              <a:t>c</a:t>
            </a:r>
            <a:r>
              <a:rPr lang="fr-FR" sz="2200" dirty="0">
                <a:effectLst/>
                <a:latin typeface="Bodoni MT" panose="02070603080606020203" pitchFamily="18" charset="0"/>
                <a:ea typeface="Times New Roman" panose="02020603050405020304" pitchFamily="18" charset="0"/>
              </a:rPr>
              <a:t>hniques.</a:t>
            </a:r>
          </a:p>
          <a:p>
            <a:pPr marL="517525" lvl="1" indent="0">
              <a:lnSpc>
                <a:spcPts val="600"/>
              </a:lnSpc>
              <a:spcBef>
                <a:spcPts val="40"/>
              </a:spcBef>
              <a:buNone/>
            </a:pPr>
            <a:r>
              <a:rPr lang="fr-FR" sz="2200" dirty="0">
                <a:effectLst/>
                <a:latin typeface="Bodoni MT" panose="02070603080606020203" pitchFamily="18" charset="0"/>
                <a:ea typeface="Times New Roman" panose="02020603050405020304" pitchFamily="18" charset="0"/>
              </a:rPr>
              <a:t> </a:t>
            </a:r>
          </a:p>
          <a:p>
            <a:pPr marL="587375" marR="48895" lvl="1" indent="309880" algn="just">
              <a:lnSpc>
                <a:spcPct val="128000"/>
              </a:lnSpc>
            </a:pPr>
            <a:r>
              <a:rPr lang="fr-FR" sz="2200" dirty="0">
                <a:effectLst/>
                <a:latin typeface="Bodoni MT" panose="02070603080606020203" pitchFamily="18" charset="0"/>
                <a:ea typeface="Times New Roman" panose="02020603050405020304" pitchFamily="18" charset="0"/>
              </a:rPr>
              <a:t>L’analyse</a:t>
            </a:r>
            <a:r>
              <a:rPr lang="fr-FR" sz="2200" spc="17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des</a:t>
            </a:r>
            <a:r>
              <a:rPr lang="fr-FR" sz="2200" spc="8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données</a:t>
            </a:r>
            <a:r>
              <a:rPr lang="fr-FR" sz="2200" spc="18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est</a:t>
            </a:r>
            <a:r>
              <a:rPr lang="fr-FR" sz="2200" spc="15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utilisée</a:t>
            </a:r>
            <a:r>
              <a:rPr lang="fr-FR" sz="2200" spc="190" dirty="0">
                <a:effectLst/>
                <a:latin typeface="Bodoni MT" panose="02070603080606020203" pitchFamily="18" charset="0"/>
                <a:ea typeface="Times New Roman" panose="02020603050405020304" pitchFamily="18" charset="0"/>
              </a:rPr>
              <a:t> </a:t>
            </a:r>
            <a:r>
              <a:rPr lang="fr-FR" sz="2200" spc="30" dirty="0">
                <a:effectLst/>
                <a:latin typeface="Bodoni MT" panose="02070603080606020203" pitchFamily="18" charset="0"/>
                <a:ea typeface="Times New Roman" panose="02020603050405020304" pitchFamily="18" charset="0"/>
              </a:rPr>
              <a:t>p</a:t>
            </a:r>
            <a:r>
              <a:rPr lang="fr-FR" sz="2200" dirty="0">
                <a:effectLst/>
                <a:latin typeface="Bodoni MT" panose="02070603080606020203" pitchFamily="18" charset="0"/>
                <a:ea typeface="Times New Roman" panose="02020603050405020304" pitchFamily="18" charset="0"/>
              </a:rPr>
              <a:t>our</a:t>
            </a:r>
            <a:r>
              <a:rPr lang="fr-FR" sz="2200" spc="19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d’écrire</a:t>
            </a:r>
            <a:r>
              <a:rPr lang="fr-FR" sz="2200" spc="4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les</a:t>
            </a:r>
            <a:r>
              <a:rPr lang="fr-FR" sz="2200" spc="3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phénomènes </a:t>
            </a:r>
            <a:r>
              <a:rPr lang="fr-FR" sz="2200" spc="1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étudiés,  faire</a:t>
            </a:r>
            <a:r>
              <a:rPr lang="fr-FR" sz="2200" spc="12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des</a:t>
            </a:r>
            <a:r>
              <a:rPr lang="fr-FR" sz="2200" spc="8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prévisions</a:t>
            </a:r>
            <a:r>
              <a:rPr lang="fr-FR" sz="2200" spc="24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et </a:t>
            </a:r>
            <a:r>
              <a:rPr lang="fr-FR" sz="2200" spc="2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prendre </a:t>
            </a:r>
            <a:r>
              <a:rPr lang="fr-FR" sz="2200" spc="17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des</a:t>
            </a:r>
            <a:r>
              <a:rPr lang="fr-FR" sz="2200" spc="23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décisions</a:t>
            </a:r>
            <a:r>
              <a:rPr lang="fr-FR" sz="2200" spc="26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à</a:t>
            </a:r>
            <a:r>
              <a:rPr lang="fr-FR" sz="2200" spc="24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leur </a:t>
            </a:r>
            <a:r>
              <a:rPr lang="fr-FR" sz="2200" spc="1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sujet. </a:t>
            </a:r>
            <a:r>
              <a:rPr lang="fr-FR" sz="2200" spc="12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En </a:t>
            </a:r>
            <a:r>
              <a:rPr lang="fr-FR" sz="2200" spc="2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cela,</a:t>
            </a:r>
            <a:r>
              <a:rPr lang="fr-FR" sz="2200" spc="24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la</a:t>
            </a:r>
            <a:r>
              <a:rPr lang="fr-FR" sz="2200" spc="23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statistique</a:t>
            </a:r>
            <a:r>
              <a:rPr lang="fr-FR" sz="2200" spc="15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est </a:t>
            </a:r>
            <a:r>
              <a:rPr lang="fr-FR" sz="2200" spc="2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un </a:t>
            </a:r>
            <a:r>
              <a:rPr lang="fr-FR" sz="2200" spc="1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outil </a:t>
            </a:r>
            <a:r>
              <a:rPr lang="fr-FR" sz="2200" spc="6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esse</a:t>
            </a:r>
            <a:r>
              <a:rPr lang="fr-FR" sz="2200" spc="-30" dirty="0">
                <a:effectLst/>
                <a:latin typeface="Bodoni MT" panose="02070603080606020203" pitchFamily="18" charset="0"/>
                <a:ea typeface="Times New Roman" panose="02020603050405020304" pitchFamily="18" charset="0"/>
              </a:rPr>
              <a:t>n</a:t>
            </a:r>
            <a:r>
              <a:rPr lang="fr-FR" sz="2200" dirty="0">
                <a:effectLst/>
                <a:latin typeface="Bodoni MT" panose="02070603080606020203" pitchFamily="18" charset="0"/>
                <a:ea typeface="Times New Roman" panose="02020603050405020304" pitchFamily="18" charset="0"/>
              </a:rPr>
              <a:t>tiel </a:t>
            </a:r>
            <a:r>
              <a:rPr lang="fr-FR" sz="2200" spc="30" dirty="0">
                <a:effectLst/>
                <a:latin typeface="Bodoni MT" panose="02070603080606020203" pitchFamily="18" charset="0"/>
                <a:ea typeface="Times New Roman" panose="02020603050405020304" pitchFamily="18" charset="0"/>
              </a:rPr>
              <a:t>p</a:t>
            </a:r>
            <a:r>
              <a:rPr lang="fr-FR" sz="2200" dirty="0">
                <a:effectLst/>
                <a:latin typeface="Bodoni MT" panose="02070603080606020203" pitchFamily="18" charset="0"/>
                <a:ea typeface="Times New Roman" panose="02020603050405020304" pitchFamily="18" charset="0"/>
              </a:rPr>
              <a:t>our</a:t>
            </a:r>
            <a:r>
              <a:rPr lang="fr-FR" sz="2200" spc="24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la</a:t>
            </a:r>
            <a:r>
              <a:rPr lang="fr-FR" sz="2200" spc="14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compréhension </a:t>
            </a:r>
            <a:r>
              <a:rPr lang="fr-FR" sz="2200" spc="8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et</a:t>
            </a:r>
            <a:r>
              <a:rPr lang="fr-FR" sz="2200" spc="20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la</a:t>
            </a:r>
            <a:r>
              <a:rPr lang="fr-FR" sz="2200" spc="14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gestion</a:t>
            </a:r>
            <a:r>
              <a:rPr lang="fr-FR" sz="2200" spc="250"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des</a:t>
            </a:r>
            <a:r>
              <a:rPr lang="fr-FR" sz="2200" spc="13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phénomènes </a:t>
            </a:r>
            <a:r>
              <a:rPr lang="fr-FR" sz="2200" spc="35" dirty="0">
                <a:effectLst/>
                <a:latin typeface="Bodoni MT" panose="02070603080606020203" pitchFamily="18" charset="0"/>
                <a:ea typeface="Times New Roman" panose="02020603050405020304" pitchFamily="18" charset="0"/>
              </a:rPr>
              <a:t> </a:t>
            </a:r>
            <a:r>
              <a:rPr lang="fr-FR" sz="2200" dirty="0">
                <a:effectLst/>
                <a:latin typeface="Bodoni MT" panose="02070603080606020203" pitchFamily="18" charset="0"/>
                <a:ea typeface="Times New Roman" panose="02020603050405020304" pitchFamily="18" charset="0"/>
              </a:rPr>
              <a:t>complexes.</a:t>
            </a:r>
          </a:p>
          <a:p>
            <a:pPr marL="0" indent="0">
              <a:lnSpc>
                <a:spcPts val="600"/>
              </a:lnSpc>
              <a:spcBef>
                <a:spcPts val="40"/>
              </a:spcBef>
              <a:buNone/>
            </a:pPr>
            <a:endParaRPr lang="fr-FR" sz="1800" dirty="0">
              <a:effectLst/>
              <a:latin typeface="Times New Roman" panose="02020603050405020304" pitchFamily="18" charset="0"/>
              <a:ea typeface="Times New Roman" panose="02020603050405020304" pitchFamily="18" charset="0"/>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1163395"/>
          </a:xfrm>
        </p:spPr>
        <p:txBody>
          <a:bodyPr>
            <a:normAutofit/>
          </a:bodyPr>
          <a:lstStyle/>
          <a:p>
            <a:pPr algn="l" defTabSz="914400">
              <a:lnSpc>
                <a:spcPct val="90000"/>
              </a:lnSpc>
              <a:spcBef>
                <a:spcPts val="0"/>
              </a:spcBef>
              <a:buNone/>
            </a:pPr>
            <a:r>
              <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INTODUCTION</a:t>
            </a:r>
          </a:p>
        </p:txBody>
      </p:sp>
      <p:sp>
        <p:nvSpPr>
          <p:cNvPr id="3" name="Text Placeholder 2"/>
          <p:cNvSpPr>
            <a:spLocks noGrp="1"/>
          </p:cNvSpPr>
          <p:nvPr>
            <p:ph type="body" sz="quarter" idx="10"/>
          </p:nvPr>
        </p:nvSpPr>
        <p:spPr>
          <a:xfrm>
            <a:off x="73270" y="907368"/>
            <a:ext cx="9070729" cy="5043264"/>
          </a:xfrm>
        </p:spPr>
        <p:txBody>
          <a:bodyPr>
            <a:noAutofit/>
          </a:bodyPr>
          <a:lstStyle/>
          <a:p>
            <a:pPr>
              <a:lnSpc>
                <a:spcPts val="600"/>
              </a:lnSpc>
              <a:spcBef>
                <a:spcPts val="40"/>
              </a:spcBef>
            </a:pPr>
            <a:r>
              <a:rPr lang="fr-FR" sz="1800" dirty="0">
                <a:effectLst/>
                <a:latin typeface="Times New Roman" panose="02020603050405020304" pitchFamily="18" charset="0"/>
                <a:ea typeface="Times New Roman" panose="02020603050405020304" pitchFamily="18" charset="0"/>
              </a:rPr>
              <a:t> </a:t>
            </a:r>
          </a:p>
          <a:p>
            <a:pPr marL="69850" marR="48895" indent="309880" algn="just">
              <a:lnSpc>
                <a:spcPct val="128000"/>
              </a:lnSpc>
              <a:spcAft>
                <a:spcPts val="0"/>
              </a:spcAft>
            </a:pPr>
            <a:r>
              <a:rPr lang="fr-FR" sz="2400" dirty="0">
                <a:effectLst/>
                <a:latin typeface="Bodoni MT" panose="02070603080606020203" pitchFamily="18" charset="0"/>
                <a:ea typeface="Times New Roman" panose="02020603050405020304" pitchFamily="18" charset="0"/>
              </a:rPr>
              <a:t>Les</a:t>
            </a:r>
            <a:r>
              <a:rPr lang="fr-FR" sz="2400" spc="23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données </a:t>
            </a:r>
            <a:r>
              <a:rPr lang="fr-FR" sz="2400" spc="9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étudiées </a:t>
            </a:r>
            <a:r>
              <a:rPr lang="fr-FR" sz="2400" spc="165" dirty="0">
                <a:effectLst/>
                <a:latin typeface="Bodoni MT" panose="02070603080606020203" pitchFamily="18" charset="0"/>
                <a:ea typeface="Times New Roman" panose="02020603050405020304" pitchFamily="18" charset="0"/>
              </a:rPr>
              <a:t> </a:t>
            </a:r>
            <a:r>
              <a:rPr lang="fr-FR" sz="2400" spc="30" dirty="0">
                <a:effectLst/>
                <a:latin typeface="Bodoni MT" panose="02070603080606020203" pitchFamily="18" charset="0"/>
                <a:ea typeface="Times New Roman" panose="02020603050405020304" pitchFamily="18" charset="0"/>
              </a:rPr>
              <a:t>p</a:t>
            </a:r>
            <a:r>
              <a:rPr lang="fr-FR" sz="2400" dirty="0">
                <a:effectLst/>
                <a:latin typeface="Bodoni MT" panose="02070603080606020203" pitchFamily="18" charset="0"/>
                <a:ea typeface="Times New Roman" panose="02020603050405020304" pitchFamily="18" charset="0"/>
              </a:rPr>
              <a:t>eu</a:t>
            </a:r>
            <a:r>
              <a:rPr lang="fr-FR" sz="2400" spc="-30" dirty="0">
                <a:effectLst/>
                <a:latin typeface="Bodoni MT" panose="02070603080606020203" pitchFamily="18" charset="0"/>
                <a:ea typeface="Times New Roman" panose="02020603050405020304" pitchFamily="18" charset="0"/>
              </a:rPr>
              <a:t>v</a:t>
            </a:r>
            <a:r>
              <a:rPr lang="fr-FR" sz="2400" dirty="0">
                <a:effectLst/>
                <a:latin typeface="Bodoni MT" panose="02070603080606020203" pitchFamily="18" charset="0"/>
                <a:ea typeface="Times New Roman" panose="02020603050405020304" pitchFamily="18" charset="0"/>
              </a:rPr>
              <a:t>e</a:t>
            </a:r>
            <a:r>
              <a:rPr lang="fr-FR" sz="2400" spc="-30" dirty="0">
                <a:effectLst/>
                <a:latin typeface="Bodoni MT" panose="02070603080606020203" pitchFamily="18" charset="0"/>
                <a:ea typeface="Times New Roman" panose="02020603050405020304" pitchFamily="18" charset="0"/>
              </a:rPr>
              <a:t>n</a:t>
            </a:r>
            <a:r>
              <a:rPr lang="fr-FR" sz="2400" dirty="0">
                <a:effectLst/>
                <a:latin typeface="Bodoni MT" panose="02070603080606020203" pitchFamily="18" charset="0"/>
                <a:ea typeface="Times New Roman" panose="02020603050405020304" pitchFamily="18" charset="0"/>
              </a:rPr>
              <a:t>t </a:t>
            </a:r>
            <a:r>
              <a:rPr lang="fr-FR" sz="2400" spc="-5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être </a:t>
            </a:r>
            <a:r>
              <a:rPr lang="fr-FR" sz="2400" spc="11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de  toute </a:t>
            </a:r>
            <a:r>
              <a:rPr lang="fr-FR" sz="2400" spc="23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nature,</a:t>
            </a:r>
            <a:r>
              <a:rPr lang="fr-FR" sz="2400" spc="19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ce</a:t>
            </a:r>
            <a:r>
              <a:rPr lang="fr-FR" sz="2400" spc="22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qui </a:t>
            </a:r>
            <a:r>
              <a:rPr lang="fr-FR" sz="2400" spc="2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rend </a:t>
            </a:r>
            <a:r>
              <a:rPr lang="fr-FR" sz="2400" spc="11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la </a:t>
            </a:r>
            <a:r>
              <a:rPr lang="fr-FR" sz="2400" spc="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statistique</a:t>
            </a:r>
            <a:r>
              <a:rPr lang="fr-FR" sz="2400" spc="29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utile dans </a:t>
            </a:r>
            <a:r>
              <a:rPr lang="fr-FR" sz="2400" spc="1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tous </a:t>
            </a:r>
            <a:r>
              <a:rPr lang="fr-FR" sz="2400" spc="1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les</a:t>
            </a:r>
            <a:r>
              <a:rPr lang="fr-FR" sz="2400" spc="110" dirty="0">
                <a:effectLst/>
                <a:latin typeface="Bodoni MT" panose="02070603080606020203" pitchFamily="18" charset="0"/>
                <a:ea typeface="Times New Roman" panose="02020603050405020304" pitchFamily="18" charset="0"/>
              </a:rPr>
              <a:t> </a:t>
            </a:r>
            <a:r>
              <a:rPr lang="fr-FR" sz="2400" spc="-30" dirty="0">
                <a:effectLst/>
                <a:latin typeface="Bodoni MT" panose="02070603080606020203" pitchFamily="18" charset="0"/>
                <a:ea typeface="Times New Roman" panose="02020603050405020304" pitchFamily="18" charset="0"/>
              </a:rPr>
              <a:t>c</a:t>
            </a:r>
            <a:r>
              <a:rPr lang="fr-FR" sz="2400" dirty="0">
                <a:effectLst/>
                <a:latin typeface="Bodoni MT" panose="02070603080606020203" pitchFamily="18" charset="0"/>
                <a:ea typeface="Times New Roman" panose="02020603050405020304" pitchFamily="18" charset="0"/>
              </a:rPr>
              <a:t>hamps </a:t>
            </a:r>
            <a:r>
              <a:rPr lang="fr-FR" sz="2400" spc="4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disciplinai</a:t>
            </a:r>
            <a:r>
              <a:rPr lang="fr-FR" sz="2400" spc="-5" dirty="0">
                <a:effectLst/>
                <a:latin typeface="Bodoni MT" panose="02070603080606020203" pitchFamily="18" charset="0"/>
                <a:ea typeface="Times New Roman" panose="02020603050405020304" pitchFamily="18" charset="0"/>
              </a:rPr>
              <a:t>r</a:t>
            </a:r>
            <a:r>
              <a:rPr lang="fr-FR" sz="2400" dirty="0">
                <a:effectLst/>
                <a:latin typeface="Bodoni MT" panose="02070603080606020203" pitchFamily="18" charset="0"/>
                <a:ea typeface="Times New Roman" panose="02020603050405020304" pitchFamily="18" charset="0"/>
              </a:rPr>
              <a:t>es </a:t>
            </a:r>
            <a:r>
              <a:rPr lang="fr-FR" sz="2400" spc="8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et</a:t>
            </a:r>
            <a:r>
              <a:rPr lang="fr-FR" sz="2400" spc="23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explique  </a:t>
            </a:r>
            <a:r>
              <a:rPr lang="fr-FR" sz="2400" spc="30" dirty="0">
                <a:effectLst/>
                <a:latin typeface="Bodoni MT" panose="02070603080606020203" pitchFamily="18" charset="0"/>
                <a:ea typeface="Times New Roman" panose="02020603050405020304" pitchFamily="18" charset="0"/>
              </a:rPr>
              <a:t>p</a:t>
            </a:r>
            <a:r>
              <a:rPr lang="fr-FR" sz="2400" dirty="0">
                <a:effectLst/>
                <a:latin typeface="Bodoni MT" panose="02070603080606020203" pitchFamily="18" charset="0"/>
                <a:ea typeface="Times New Roman" panose="02020603050405020304" pitchFamily="18" charset="0"/>
              </a:rPr>
              <a:t>ourquoi </a:t>
            </a:r>
            <a:r>
              <a:rPr lang="fr-FR" sz="2400" spc="7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elle</a:t>
            </a:r>
            <a:r>
              <a:rPr lang="fr-FR" sz="2400" spc="11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est</a:t>
            </a:r>
            <a:r>
              <a:rPr lang="fr-FR" sz="2400" spc="23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enseignée</a:t>
            </a:r>
            <a:r>
              <a:rPr lang="fr-FR" sz="2400" spc="21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dans </a:t>
            </a:r>
            <a:r>
              <a:rPr lang="fr-FR" sz="2400" spc="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toutes </a:t>
            </a:r>
            <a:r>
              <a:rPr lang="fr-FR" sz="2400" spc="13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les filières</a:t>
            </a:r>
            <a:r>
              <a:rPr lang="fr-FR" sz="2400" spc="9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uni</a:t>
            </a:r>
            <a:r>
              <a:rPr lang="fr-FR" sz="2400" spc="-30" dirty="0">
                <a:effectLst/>
                <a:latin typeface="Bodoni MT" panose="02070603080606020203" pitchFamily="18" charset="0"/>
                <a:ea typeface="Times New Roman" panose="02020603050405020304" pitchFamily="18" charset="0"/>
              </a:rPr>
              <a:t>v</a:t>
            </a:r>
            <a:r>
              <a:rPr lang="fr-FR" sz="2400" dirty="0">
                <a:effectLst/>
                <a:latin typeface="Bodoni MT" panose="02070603080606020203" pitchFamily="18" charset="0"/>
                <a:ea typeface="Times New Roman" panose="02020603050405020304" pitchFamily="18" charset="0"/>
              </a:rPr>
              <a:t>ersitaires,</a:t>
            </a:r>
            <a:r>
              <a:rPr lang="fr-FR" sz="2400" spc="11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de</a:t>
            </a:r>
            <a:r>
              <a:rPr lang="fr-FR" sz="2400" spc="17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l’économie</a:t>
            </a:r>
            <a:r>
              <a:rPr lang="fr-FR" sz="2400" spc="12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à</a:t>
            </a:r>
            <a:r>
              <a:rPr lang="fr-FR" sz="2400" spc="18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la</a:t>
            </a:r>
            <a:r>
              <a:rPr lang="fr-FR" sz="2400" spc="18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biologie</a:t>
            </a:r>
            <a:r>
              <a:rPr lang="fr-FR" sz="2400" spc="12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en</a:t>
            </a:r>
            <a:r>
              <a:rPr lang="fr-FR" sz="2400" spc="17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passa</a:t>
            </a:r>
            <a:r>
              <a:rPr lang="fr-FR" sz="2400" spc="-30" dirty="0">
                <a:effectLst/>
                <a:latin typeface="Bodoni MT" panose="02070603080606020203" pitchFamily="18" charset="0"/>
                <a:ea typeface="Times New Roman" panose="02020603050405020304" pitchFamily="18" charset="0"/>
              </a:rPr>
              <a:t>n</a:t>
            </a:r>
            <a:r>
              <a:rPr lang="fr-FR" sz="2400" dirty="0">
                <a:effectLst/>
                <a:latin typeface="Bodoni MT" panose="02070603080606020203" pitchFamily="18" charset="0"/>
                <a:ea typeface="Times New Roman" panose="02020603050405020304" pitchFamily="18" charset="0"/>
              </a:rPr>
              <a:t>t</a:t>
            </a:r>
            <a:r>
              <a:rPr lang="fr-FR" sz="2400" spc="12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par </a:t>
            </a:r>
            <a:r>
              <a:rPr lang="fr-FR" sz="2400" spc="1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la psy</a:t>
            </a:r>
            <a:r>
              <a:rPr lang="fr-FR" sz="2400" spc="-30" dirty="0">
                <a:effectLst/>
                <a:latin typeface="Bodoni MT" panose="02070603080606020203" pitchFamily="18" charset="0"/>
                <a:ea typeface="Times New Roman" panose="02020603050405020304" pitchFamily="18" charset="0"/>
              </a:rPr>
              <a:t>c</a:t>
            </a:r>
            <a:r>
              <a:rPr lang="fr-FR" sz="2400" dirty="0">
                <a:effectLst/>
                <a:latin typeface="Bodoni MT" panose="02070603080606020203" pitchFamily="18" charset="0"/>
                <a:ea typeface="Times New Roman" panose="02020603050405020304" pitchFamily="18" charset="0"/>
              </a:rPr>
              <a:t>hologie</a:t>
            </a:r>
            <a:r>
              <a:rPr lang="fr-FR" sz="2400" spc="24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et</a:t>
            </a:r>
            <a:r>
              <a:rPr lang="fr-FR" sz="2400" spc="23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bien</a:t>
            </a:r>
            <a:r>
              <a:rPr lang="fr-FR" sz="2400" spc="22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sûr les</a:t>
            </a:r>
            <a:r>
              <a:rPr lang="fr-FR" sz="2400" spc="8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sciences</a:t>
            </a:r>
            <a:r>
              <a:rPr lang="fr-FR" sz="2400" spc="12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de</a:t>
            </a:r>
            <a:r>
              <a:rPr lang="fr-FR" sz="2400" spc="14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l’ingénieur.</a:t>
            </a:r>
            <a:r>
              <a:rPr lang="fr-FR" sz="2400" spc="24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La</a:t>
            </a:r>
            <a:r>
              <a:rPr lang="fr-FR" sz="2400" spc="15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statistique</a:t>
            </a:r>
            <a:r>
              <a:rPr lang="fr-FR" sz="2400" spc="6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consiste</a:t>
            </a:r>
            <a:r>
              <a:rPr lang="fr-FR" sz="2400" spc="23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à</a:t>
            </a:r>
            <a:r>
              <a:rPr lang="fr-FR" sz="2400" spc="145" dirty="0">
                <a:effectLst/>
                <a:latin typeface="Bodoni MT" panose="02070603080606020203" pitchFamily="18" charset="0"/>
                <a:ea typeface="Times New Roman" panose="02020603050405020304" pitchFamily="18" charset="0"/>
              </a:rPr>
              <a:t> </a:t>
            </a:r>
            <a:endParaRPr lang="fr-FR" sz="2400" dirty="0">
              <a:effectLst/>
              <a:latin typeface="Bodoni MT" panose="02070603080606020203" pitchFamily="18" charset="0"/>
              <a:ea typeface="Times New Roman" panose="02020603050405020304" pitchFamily="18" charset="0"/>
            </a:endParaRPr>
          </a:p>
          <a:p>
            <a:pPr marL="0" indent="0">
              <a:lnSpc>
                <a:spcPts val="600"/>
              </a:lnSpc>
              <a:spcBef>
                <a:spcPts val="40"/>
              </a:spcBef>
              <a:buNone/>
            </a:pPr>
            <a:endParaRPr lang="fr-FR" sz="2800" dirty="0">
              <a:effectLst/>
              <a:latin typeface="Bodoni MT" panose="02070603080606020203" pitchFamily="18" charset="0"/>
              <a:ea typeface="Times New Roman" panose="02020603050405020304" pitchFamily="18" charset="0"/>
            </a:endParaRPr>
          </a:p>
          <a:p>
            <a:pPr marL="897255" lvl="1"/>
            <a:r>
              <a:rPr lang="fr-FR" sz="2000" dirty="0">
                <a:effectLst/>
                <a:latin typeface="Bodoni MT" panose="02070603080606020203" pitchFamily="18" charset="0"/>
                <a:ea typeface="Times New Roman" panose="02020603050405020304" pitchFamily="18" charset="0"/>
              </a:rPr>
              <a:t>Recueillir</a:t>
            </a:r>
            <a:r>
              <a:rPr lang="fr-FR" sz="2000" spc="265"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des</a:t>
            </a:r>
            <a:r>
              <a:rPr lang="fr-FR" sz="2000" spc="135"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données.</a:t>
            </a:r>
          </a:p>
          <a:p>
            <a:pPr marL="897255" lvl="1">
              <a:spcBef>
                <a:spcPts val="360"/>
              </a:spcBef>
            </a:pPr>
            <a:r>
              <a:rPr lang="fr-FR" sz="2000" dirty="0">
                <a:effectLst/>
                <a:latin typeface="Bodoni MT" panose="02070603080606020203" pitchFamily="18" charset="0"/>
                <a:ea typeface="Times New Roman" panose="02020603050405020304" pitchFamily="18" charset="0"/>
              </a:rPr>
              <a:t>Prése</a:t>
            </a:r>
            <a:r>
              <a:rPr lang="fr-FR" sz="2000" spc="-35" dirty="0">
                <a:effectLst/>
                <a:latin typeface="Bodoni MT" panose="02070603080606020203" pitchFamily="18" charset="0"/>
                <a:ea typeface="Times New Roman" panose="02020603050405020304" pitchFamily="18" charset="0"/>
              </a:rPr>
              <a:t>n</a:t>
            </a:r>
            <a:r>
              <a:rPr lang="fr-FR" sz="2000" dirty="0">
                <a:effectLst/>
                <a:latin typeface="Bodoni MT" panose="02070603080606020203" pitchFamily="18" charset="0"/>
                <a:ea typeface="Times New Roman" panose="02020603050405020304" pitchFamily="18" charset="0"/>
              </a:rPr>
              <a:t>ter</a:t>
            </a:r>
            <a:r>
              <a:rPr lang="fr-FR" sz="2000" spc="65"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et</a:t>
            </a:r>
            <a:r>
              <a:rPr lang="fr-FR" sz="2000" spc="200"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résumer </a:t>
            </a:r>
            <a:r>
              <a:rPr lang="fr-FR" sz="2000" spc="25"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ces</a:t>
            </a:r>
            <a:r>
              <a:rPr lang="fr-FR" sz="2000" spc="75"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données.</a:t>
            </a:r>
          </a:p>
          <a:p>
            <a:pPr marL="897255" lvl="1">
              <a:spcBef>
                <a:spcPts val="360"/>
              </a:spcBef>
            </a:pPr>
            <a:r>
              <a:rPr lang="fr-FR" sz="2000" dirty="0">
                <a:effectLst/>
                <a:latin typeface="Bodoni MT" panose="02070603080606020203" pitchFamily="18" charset="0"/>
                <a:ea typeface="Times New Roman" panose="02020603050405020304" pitchFamily="18" charset="0"/>
              </a:rPr>
              <a:t>Tirer </a:t>
            </a:r>
            <a:r>
              <a:rPr lang="fr-FR" sz="2000" spc="35"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des</a:t>
            </a:r>
            <a:r>
              <a:rPr lang="fr-FR" sz="2000" spc="135"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conclusions</a:t>
            </a:r>
            <a:r>
              <a:rPr lang="fr-FR" sz="2000" spc="215"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sur</a:t>
            </a:r>
            <a:r>
              <a:rPr lang="fr-FR" sz="2000" spc="195"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la</a:t>
            </a:r>
            <a:r>
              <a:rPr lang="fr-FR" sz="2000" spc="145" dirty="0">
                <a:effectLst/>
                <a:latin typeface="Bodoni MT" panose="02070603080606020203" pitchFamily="18" charset="0"/>
                <a:ea typeface="Times New Roman" panose="02020603050405020304" pitchFamily="18" charset="0"/>
              </a:rPr>
              <a:t> </a:t>
            </a:r>
            <a:r>
              <a:rPr lang="fr-FR" sz="2000" spc="30" dirty="0">
                <a:effectLst/>
                <a:latin typeface="Bodoni MT" panose="02070603080606020203" pitchFamily="18" charset="0"/>
                <a:ea typeface="Times New Roman" panose="02020603050405020304" pitchFamily="18" charset="0"/>
              </a:rPr>
              <a:t>p</a:t>
            </a:r>
            <a:r>
              <a:rPr lang="fr-FR" sz="2000" dirty="0">
                <a:effectLst/>
                <a:latin typeface="Bodoni MT" panose="02070603080606020203" pitchFamily="18" charset="0"/>
                <a:ea typeface="Times New Roman" panose="02020603050405020304" pitchFamily="18" charset="0"/>
              </a:rPr>
              <a:t>opulation</a:t>
            </a:r>
            <a:r>
              <a:rPr lang="fr-FR" sz="2000" spc="70"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étudiée </a:t>
            </a:r>
            <a:r>
              <a:rPr lang="fr-FR" sz="2000" spc="35"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et</a:t>
            </a:r>
            <a:r>
              <a:rPr lang="fr-FR" sz="2000" spc="200"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d’aider</a:t>
            </a:r>
            <a:r>
              <a:rPr lang="fr-FR" sz="2000" spc="240"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à</a:t>
            </a:r>
            <a:r>
              <a:rPr lang="fr-FR" sz="2000" spc="145"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la</a:t>
            </a:r>
            <a:r>
              <a:rPr lang="fr-FR" sz="2000" spc="145"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prise</a:t>
            </a:r>
            <a:r>
              <a:rPr lang="fr-FR" sz="2000" spc="195"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de</a:t>
            </a:r>
            <a:r>
              <a:rPr lang="fr-FR" sz="2000" spc="140"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décision.</a:t>
            </a:r>
          </a:p>
          <a:p>
            <a:pPr marL="897255" lvl="1">
              <a:spcBef>
                <a:spcPts val="360"/>
              </a:spcBef>
            </a:pPr>
            <a:r>
              <a:rPr lang="fr-FR" sz="2000" dirty="0">
                <a:effectLst/>
                <a:latin typeface="Bodoni MT" panose="02070603080606020203" pitchFamily="18" charset="0"/>
                <a:ea typeface="Times New Roman" panose="02020603050405020304" pitchFamily="18" charset="0"/>
              </a:rPr>
              <a:t>En</a:t>
            </a:r>
            <a:r>
              <a:rPr lang="fr-FR" sz="2000" spc="170"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présence</a:t>
            </a:r>
            <a:r>
              <a:rPr lang="fr-FR" sz="2000" spc="205"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de</a:t>
            </a:r>
            <a:r>
              <a:rPr lang="fr-FR" sz="2000" spc="100"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données</a:t>
            </a:r>
            <a:r>
              <a:rPr lang="fr-FR" sz="2000" spc="195"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dé</a:t>
            </a:r>
            <a:r>
              <a:rPr lang="fr-FR" sz="2000" spc="30" dirty="0">
                <a:effectLst/>
                <a:latin typeface="Bodoni MT" panose="02070603080606020203" pitchFamily="18" charset="0"/>
                <a:ea typeface="Times New Roman" panose="02020603050405020304" pitchFamily="18" charset="0"/>
              </a:rPr>
              <a:t>p</a:t>
            </a:r>
            <a:r>
              <a:rPr lang="fr-FR" sz="2000" dirty="0">
                <a:effectLst/>
                <a:latin typeface="Bodoni MT" panose="02070603080606020203" pitchFamily="18" charset="0"/>
                <a:ea typeface="Times New Roman" panose="02020603050405020304" pitchFamily="18" charset="0"/>
              </a:rPr>
              <a:t>enda</a:t>
            </a:r>
            <a:r>
              <a:rPr lang="fr-FR" sz="2000" spc="-30" dirty="0">
                <a:effectLst/>
                <a:latin typeface="Bodoni MT" panose="02070603080606020203" pitchFamily="18" charset="0"/>
                <a:ea typeface="Times New Roman" panose="02020603050405020304" pitchFamily="18" charset="0"/>
              </a:rPr>
              <a:t>n</a:t>
            </a:r>
            <a:r>
              <a:rPr lang="fr-FR" sz="2000" dirty="0">
                <a:effectLst/>
                <a:latin typeface="Bodoni MT" panose="02070603080606020203" pitchFamily="18" charset="0"/>
                <a:ea typeface="Times New Roman" panose="02020603050405020304" pitchFamily="18" charset="0"/>
              </a:rPr>
              <a:t>t</a:t>
            </a:r>
            <a:r>
              <a:rPr lang="fr-FR" sz="2000" spc="50"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du</a:t>
            </a:r>
            <a:r>
              <a:rPr lang="fr-FR" sz="2000" spc="160"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temps, </a:t>
            </a:r>
            <a:r>
              <a:rPr lang="fr-FR" sz="2000" spc="5"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nous</a:t>
            </a:r>
            <a:r>
              <a:rPr lang="fr-FR" sz="2000" spc="155"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es</a:t>
            </a:r>
            <a:r>
              <a:rPr lang="fr-FR" sz="2000" spc="5" dirty="0">
                <a:effectLst/>
                <a:latin typeface="Bodoni MT" panose="02070603080606020203" pitchFamily="18" charset="0"/>
                <a:ea typeface="Times New Roman" panose="02020603050405020304" pitchFamily="18" charset="0"/>
              </a:rPr>
              <a:t>s</a:t>
            </a:r>
            <a:r>
              <a:rPr lang="fr-FR" sz="2000" spc="-30" dirty="0">
                <a:effectLst/>
                <a:latin typeface="Bodoni MT" panose="02070603080606020203" pitchFamily="18" charset="0"/>
                <a:ea typeface="Times New Roman" panose="02020603050405020304" pitchFamily="18" charset="0"/>
              </a:rPr>
              <a:t>ay</a:t>
            </a:r>
            <a:r>
              <a:rPr lang="fr-FR" sz="2000" dirty="0">
                <a:effectLst/>
                <a:latin typeface="Bodoni MT" panose="02070603080606020203" pitchFamily="18" charset="0"/>
                <a:ea typeface="Times New Roman" panose="02020603050405020304" pitchFamily="18" charset="0"/>
              </a:rPr>
              <a:t>ons</a:t>
            </a:r>
            <a:r>
              <a:rPr lang="fr-FR" sz="2000" spc="170"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de</a:t>
            </a:r>
            <a:r>
              <a:rPr lang="fr-FR" sz="2000" spc="100"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faire</a:t>
            </a:r>
            <a:r>
              <a:rPr lang="fr-FR" sz="2000" spc="130"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de</a:t>
            </a:r>
            <a:r>
              <a:rPr lang="fr-FR" sz="2000" spc="100"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la</a:t>
            </a:r>
            <a:r>
              <a:rPr lang="fr-FR" sz="2000" spc="105" dirty="0">
                <a:effectLst/>
                <a:latin typeface="Bodoni MT" panose="02070603080606020203" pitchFamily="18" charset="0"/>
                <a:ea typeface="Times New Roman" panose="02020603050405020304" pitchFamily="18" charset="0"/>
              </a:rPr>
              <a:t> </a:t>
            </a:r>
            <a:r>
              <a:rPr lang="fr-FR" sz="2000" dirty="0">
                <a:effectLst/>
                <a:latin typeface="Bodoni MT" panose="02070603080606020203" pitchFamily="18" charset="0"/>
                <a:ea typeface="Times New Roman" panose="02020603050405020304" pitchFamily="18" charset="0"/>
              </a:rPr>
              <a:t>prévision.</a:t>
            </a:r>
          </a:p>
        </p:txBody>
      </p:sp>
    </p:spTree>
    <p:extLst>
      <p:ext uri="{BB962C8B-B14F-4D97-AF65-F5344CB8AC3E}">
        <p14:creationId xmlns:p14="http://schemas.microsoft.com/office/powerpoint/2010/main" val="73022699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1163395"/>
          </a:xfrm>
        </p:spPr>
        <p:txBody>
          <a:bodyPr>
            <a:normAutofit/>
          </a:bodyPr>
          <a:lstStyle/>
          <a:p>
            <a:pPr algn="l" defTabSz="914400">
              <a:lnSpc>
                <a:spcPct val="90000"/>
              </a:lnSpc>
              <a:spcBef>
                <a:spcPts val="0"/>
              </a:spcBef>
              <a:buNone/>
            </a:pPr>
            <a:r>
              <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INTODUCTION</a:t>
            </a:r>
          </a:p>
        </p:txBody>
      </p:sp>
      <p:sp>
        <p:nvSpPr>
          <p:cNvPr id="3" name="Text Placeholder 2"/>
          <p:cNvSpPr>
            <a:spLocks noGrp="1"/>
          </p:cNvSpPr>
          <p:nvPr>
            <p:ph type="body" sz="quarter" idx="10"/>
          </p:nvPr>
        </p:nvSpPr>
        <p:spPr>
          <a:xfrm>
            <a:off x="381000" y="1434176"/>
            <a:ext cx="8382000" cy="4661824"/>
          </a:xfrm>
        </p:spPr>
        <p:txBody>
          <a:bodyPr>
            <a:noAutofit/>
          </a:bodyPr>
          <a:lstStyle/>
          <a:p>
            <a:pPr marL="0" indent="0" algn="just" defTabSz="914400">
              <a:lnSpc>
                <a:spcPct val="83000"/>
              </a:lnSpc>
              <a:spcBef>
                <a:spcPts val="768"/>
              </a:spcBef>
              <a:buClr>
                <a:srgbClr val="000000"/>
              </a:buClr>
              <a:buNone/>
            </a:pPr>
            <a:endParaRPr lang="fr-FR" sz="3600" spc="-50" noProof="1">
              <a:latin typeface="Bodoni MT Condensed" panose="02070606080606020203" pitchFamily="18" charset="0"/>
            </a:endParaRPr>
          </a:p>
          <a:p>
            <a:pPr lvl="1" algn="just">
              <a:lnSpc>
                <a:spcPct val="100000"/>
              </a:lnSpc>
              <a:spcBef>
                <a:spcPts val="672"/>
              </a:spcBef>
              <a:buClr>
                <a:srgbClr val="000000"/>
              </a:buClr>
            </a:pPr>
            <a:r>
              <a:rPr lang="fr-FR" noProof="1">
                <a:latin typeface="Bodoni MT Condensed" panose="02070606080606020203" pitchFamily="18" charset="0"/>
              </a:rPr>
              <a:t>Démarche statistique: 5 étapes majeures (conception, collecte de données, apurement, analyse des données, recommandation)</a:t>
            </a:r>
          </a:p>
          <a:p>
            <a:pPr lvl="1" algn="just">
              <a:lnSpc>
                <a:spcPct val="100000"/>
              </a:lnSpc>
              <a:spcBef>
                <a:spcPts val="672"/>
              </a:spcBef>
              <a:buClr>
                <a:srgbClr val="000000"/>
              </a:buClr>
            </a:pPr>
            <a:r>
              <a:rPr lang="fr-FR" noProof="1">
                <a:latin typeface="Bodoni MT Condensed" panose="02070606080606020203" pitchFamily="18" charset="0"/>
              </a:rPr>
              <a:t>Statistique descriptive s’inscrit dans l’étape d’analyse</a:t>
            </a:r>
          </a:p>
          <a:p>
            <a:pPr lvl="1" algn="just">
              <a:lnSpc>
                <a:spcPct val="100000"/>
              </a:lnSpc>
              <a:spcBef>
                <a:spcPts val="672"/>
              </a:spcBef>
              <a:buClr>
                <a:srgbClr val="000000"/>
              </a:buClr>
            </a:pPr>
            <a:r>
              <a:rPr lang="fr-FR" dirty="0">
                <a:latin typeface="Bodoni MT Condensed" panose="02070606080606020203" pitchFamily="18" charset="0"/>
              </a:rPr>
              <a:t>On appelle population l’ensemble sur lequel porte notre étude statistique. Cet ensemble est noté Ω.</a:t>
            </a:r>
          </a:p>
          <a:p>
            <a:pPr lvl="1" algn="just">
              <a:lnSpc>
                <a:spcPct val="100000"/>
              </a:lnSpc>
              <a:spcBef>
                <a:spcPts val="672"/>
              </a:spcBef>
              <a:buClr>
                <a:srgbClr val="000000"/>
              </a:buClr>
            </a:pPr>
            <a:endParaRPr lang="fr-FR" noProof="1">
              <a:latin typeface="Bodoni MT Condensed" panose="02070606080606020203" pitchFamily="18" charset="0"/>
            </a:endParaRPr>
          </a:p>
        </p:txBody>
      </p:sp>
    </p:spTree>
    <p:extLst>
      <p:ext uri="{BB962C8B-B14F-4D97-AF65-F5344CB8AC3E}">
        <p14:creationId xmlns:p14="http://schemas.microsoft.com/office/powerpoint/2010/main" val="263968533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1163395"/>
          </a:xfrm>
        </p:spPr>
        <p:txBody>
          <a:bodyPr>
            <a:normAutofit/>
          </a:bodyPr>
          <a:lstStyle/>
          <a:p>
            <a:pPr algn="l" defTabSz="914400">
              <a:lnSpc>
                <a:spcPct val="90000"/>
              </a:lnSpc>
              <a:spcBef>
                <a:spcPts val="0"/>
              </a:spcBef>
              <a:buNone/>
            </a:pPr>
            <a:r>
              <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INTODUCTION</a:t>
            </a:r>
          </a:p>
        </p:txBody>
      </p:sp>
      <p:sp>
        <p:nvSpPr>
          <p:cNvPr id="3" name="Text Placeholder 2"/>
          <p:cNvSpPr>
            <a:spLocks noGrp="1"/>
          </p:cNvSpPr>
          <p:nvPr>
            <p:ph type="body" sz="quarter" idx="10"/>
          </p:nvPr>
        </p:nvSpPr>
        <p:spPr>
          <a:xfrm>
            <a:off x="251520" y="734097"/>
            <a:ext cx="8382000" cy="4661824"/>
          </a:xfrm>
        </p:spPr>
        <p:txBody>
          <a:bodyPr>
            <a:noAutofit/>
          </a:bodyPr>
          <a:lstStyle/>
          <a:p>
            <a:pPr marL="0" indent="0" algn="just" defTabSz="914400">
              <a:lnSpc>
                <a:spcPct val="83000"/>
              </a:lnSpc>
              <a:spcBef>
                <a:spcPts val="768"/>
              </a:spcBef>
              <a:buClr>
                <a:srgbClr val="000000"/>
              </a:buClr>
              <a:buNone/>
            </a:pPr>
            <a:endParaRPr lang="fr-FR" sz="3600" spc="-50" noProof="1">
              <a:latin typeface="Bodoni MT Condensed" panose="02070606080606020203" pitchFamily="18" charset="0"/>
            </a:endParaRPr>
          </a:p>
          <a:p>
            <a:pPr marL="0" indent="0">
              <a:spcBef>
                <a:spcPts val="135"/>
              </a:spcBef>
              <a:spcAft>
                <a:spcPts val="0"/>
              </a:spcAft>
              <a:buNone/>
            </a:pPr>
            <a:r>
              <a:rPr lang="fr-FR" sz="2400" b="1" dirty="0">
                <a:effectLst/>
                <a:latin typeface="Bodoni MT" panose="02070603080606020203" pitchFamily="18" charset="0"/>
                <a:ea typeface="Times New Roman" panose="02020603050405020304" pitchFamily="18" charset="0"/>
              </a:rPr>
              <a:t>Exemple</a:t>
            </a:r>
            <a:r>
              <a:rPr lang="fr-FR" sz="2400" b="1" spc="145" dirty="0">
                <a:effectLst/>
                <a:latin typeface="Bodoni MT" panose="02070603080606020203" pitchFamily="18" charset="0"/>
                <a:ea typeface="Times New Roman" panose="02020603050405020304" pitchFamily="18" charset="0"/>
              </a:rPr>
              <a:t> </a:t>
            </a:r>
            <a:endParaRPr lang="fr-FR" sz="2400" dirty="0">
              <a:effectLst/>
              <a:latin typeface="Bodoni MT" panose="02070603080606020203" pitchFamily="18" charset="0"/>
              <a:ea typeface="Times New Roman" panose="02020603050405020304" pitchFamily="18" charset="0"/>
            </a:endParaRPr>
          </a:p>
          <a:p>
            <a:pPr marL="658495" marR="183515" indent="-140335" algn="just">
              <a:lnSpc>
                <a:spcPct val="105000"/>
              </a:lnSpc>
              <a:spcBef>
                <a:spcPts val="175"/>
              </a:spcBef>
              <a:spcAft>
                <a:spcPts val="0"/>
              </a:spcAft>
            </a:pP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On</a:t>
            </a:r>
            <a:r>
              <a:rPr lang="fr-FR" sz="2400" i="1" spc="26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c</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onsidè</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r</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 </a:t>
            </a:r>
            <a:r>
              <a:rPr lang="fr-FR" sz="2400" i="1" spc="2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l’ensemble </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des</a:t>
            </a:r>
            <a:r>
              <a:rPr lang="fr-FR" sz="2400" i="1" spc="-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étudiants </a:t>
            </a:r>
            <a:r>
              <a:rPr lang="fr-FR" sz="2400" i="1" spc="2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de</a:t>
            </a:r>
            <a:r>
              <a:rPr lang="fr-FR" sz="2400" i="1" spc="8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cette classe. </a:t>
            </a:r>
            <a:r>
              <a:rPr lang="fr-FR" sz="2400" i="1" spc="1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On</a:t>
            </a:r>
            <a:r>
              <a:rPr lang="fr-FR" sz="2400" i="1" spc="26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s’inté</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r</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esse </a:t>
            </a:r>
            <a:r>
              <a:rPr lang="fr-FR" sz="2400" i="1" spc="2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au nomb</a:t>
            </a:r>
            <a:r>
              <a:rPr lang="fr-FR" sz="2400" i="1" spc="-45" dirty="0">
                <a:effectLst/>
                <a:latin typeface="Bodoni MT" panose="02070603080606020203" pitchFamily="18" charset="0"/>
                <a:ea typeface="Comic Sans MS" panose="030F0702030302020204" pitchFamily="66" charset="0"/>
                <a:cs typeface="Comic Sans MS" panose="030F0702030302020204" pitchFamily="66" charset="0"/>
              </a:rPr>
              <a:t>r</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 </a:t>
            </a:r>
            <a:r>
              <a:rPr lang="fr-FR" sz="2400" i="1" spc="10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de</a:t>
            </a:r>
            <a:r>
              <a:rPr lang="fr-FR" sz="2400" i="1" spc="9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f</a:t>
            </a:r>
            <a:r>
              <a:rPr lang="fr-FR" sz="2400" i="1" spc="-45" dirty="0">
                <a:effectLst/>
                <a:latin typeface="Bodoni MT" panose="02070603080606020203" pitchFamily="18" charset="0"/>
                <a:ea typeface="Comic Sans MS" panose="030F0702030302020204" pitchFamily="66" charset="0"/>
                <a:cs typeface="Comic Sans MS" panose="030F0702030302020204" pitchFamily="66" charset="0"/>
              </a:rPr>
              <a:t>r</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è</a:t>
            </a:r>
            <a:r>
              <a:rPr lang="fr-FR" sz="2400" i="1" spc="-45" dirty="0">
                <a:effectLst/>
                <a:latin typeface="Bodoni MT" panose="02070603080606020203" pitchFamily="18" charset="0"/>
                <a:ea typeface="Comic Sans MS" panose="030F0702030302020204" pitchFamily="66" charset="0"/>
                <a:cs typeface="Comic Sans MS" panose="030F0702030302020204" pitchFamily="66" charset="0"/>
              </a:rPr>
              <a:t>r</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es</a:t>
            </a:r>
            <a:r>
              <a:rPr lang="fr-FR" sz="2400" i="1" spc="-5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et</a:t>
            </a:r>
            <a:r>
              <a:rPr lang="fr-FR" sz="2400" i="1" spc="2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sœurs</a:t>
            </a:r>
            <a:r>
              <a:rPr lang="fr-FR" sz="2400" i="1" spc="14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de</a:t>
            </a:r>
            <a:r>
              <a:rPr lang="fr-FR" sz="2400" i="1" spc="10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chaque </a:t>
            </a:r>
            <a:r>
              <a:rPr lang="fr-FR" sz="2400" i="1" spc="4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étudiant. </a:t>
            </a:r>
            <a:r>
              <a:rPr lang="fr-FR" sz="2400" i="1" spc="15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Dans</a:t>
            </a:r>
            <a:r>
              <a:rPr lang="fr-FR" sz="2400" i="1" spc="1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spc="-45" dirty="0">
                <a:effectLst/>
                <a:latin typeface="Bodoni MT" panose="02070603080606020203" pitchFamily="18" charset="0"/>
                <a:ea typeface="Comic Sans MS" panose="030F0702030302020204" pitchFamily="66" charset="0"/>
                <a:cs typeface="Comic Sans MS" panose="030F0702030302020204" pitchFamily="66" charset="0"/>
              </a:rPr>
              <a:t>c</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a:t>
            </a:r>
            <a:r>
              <a:rPr lang="fr-FR" sz="2400" i="1" spc="12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spc="-55" dirty="0">
                <a:effectLst/>
                <a:latin typeface="Bodoni MT" panose="02070603080606020203" pitchFamily="18" charset="0"/>
                <a:ea typeface="Comic Sans MS" panose="030F0702030302020204" pitchFamily="66" charset="0"/>
                <a:cs typeface="Comic Sans MS" panose="030F0702030302020204" pitchFamily="66" charset="0"/>
              </a:rPr>
              <a:t>c</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as</a:t>
            </a:r>
          </a:p>
          <a:p>
            <a:pPr marL="518160" marR="183515" indent="0" algn="just">
              <a:lnSpc>
                <a:spcPct val="105000"/>
              </a:lnSpc>
              <a:spcBef>
                <a:spcPts val="175"/>
              </a:spcBef>
              <a:spcAft>
                <a:spcPts val="0"/>
              </a:spcAft>
              <a:buNone/>
            </a:pPr>
            <a:r>
              <a:rPr lang="fr-FR" sz="2400" dirty="0">
                <a:effectLst/>
                <a:latin typeface="Bodoni MT" panose="02070603080606020203" pitchFamily="18" charset="0"/>
                <a:ea typeface="Times New Roman" panose="02020603050405020304" pitchFamily="18" charset="0"/>
              </a:rPr>
              <a:t>Ω </a:t>
            </a:r>
            <a:r>
              <a:rPr lang="fr-FR" sz="2400" spc="8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a:t>
            </a:r>
            <a:r>
              <a:rPr lang="fr-FR" sz="2400" spc="32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ensemb</a:t>
            </a:r>
            <a:r>
              <a:rPr lang="fr-FR" sz="2400" spc="20" dirty="0">
                <a:effectLst/>
                <a:latin typeface="Bodoni MT" panose="02070603080606020203" pitchFamily="18" charset="0"/>
                <a:ea typeface="Times New Roman" panose="02020603050405020304" pitchFamily="18" charset="0"/>
              </a:rPr>
              <a:t>l</a:t>
            </a:r>
            <a:r>
              <a:rPr lang="fr-FR" sz="2400" dirty="0">
                <a:effectLst/>
                <a:latin typeface="Bodoni MT" panose="02070603080606020203" pitchFamily="18" charset="0"/>
                <a:ea typeface="Times New Roman" panose="02020603050405020304" pitchFamily="18" charset="0"/>
              </a:rPr>
              <a:t>e </a:t>
            </a:r>
            <a:r>
              <a:rPr lang="fr-FR" sz="2400" spc="11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des</a:t>
            </a:r>
            <a:r>
              <a:rPr lang="fr-FR" sz="2400" spc="23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étudiants</a:t>
            </a:r>
            <a:endParaRPr lang="fr-FR" sz="2400" dirty="0">
              <a:latin typeface="Bodoni MT" panose="02070603080606020203" pitchFamily="18" charset="0"/>
              <a:ea typeface="Times New Roman" panose="02020603050405020304" pitchFamily="18" charset="0"/>
            </a:endParaRPr>
          </a:p>
          <a:p>
            <a:pPr marL="658495" marR="183515" indent="-140335" algn="just">
              <a:lnSpc>
                <a:spcPct val="105000"/>
              </a:lnSpc>
              <a:spcBef>
                <a:spcPts val="175"/>
              </a:spcBef>
            </a:pP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Si</a:t>
            </a:r>
            <a:r>
              <a:rPr lang="fr-FR" sz="2400" i="1" spc="-9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l’on</a:t>
            </a:r>
            <a:r>
              <a:rPr lang="fr-FR" sz="2400" i="1" spc="17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s’inté</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r</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esse</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maintenant</a:t>
            </a:r>
            <a:r>
              <a:rPr lang="fr-FR" sz="2400" i="1" spc="29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a</a:t>
            </a:r>
            <a:r>
              <a:rPr lang="fr-FR" sz="2400" i="1" spc="3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la</a:t>
            </a:r>
            <a:r>
              <a:rPr lang="fr-FR" sz="2400" i="1" spc="1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ci</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r</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culation</a:t>
            </a:r>
            <a:r>
              <a:rPr lang="fr-FR" sz="2400" i="1" spc="12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automobile</a:t>
            </a:r>
            <a:r>
              <a:rPr lang="fr-FR" sz="2400" i="1" spc="1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à Lomé,</a:t>
            </a:r>
            <a:r>
              <a:rPr lang="fr-FR" sz="2400" i="1" spc="-9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la</a:t>
            </a:r>
            <a:r>
              <a:rPr lang="fr-FR" sz="2400" i="1" spc="1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spc="-55" dirty="0">
                <a:effectLst/>
                <a:latin typeface="Bodoni MT" panose="02070603080606020203" pitchFamily="18" charset="0"/>
                <a:ea typeface="Comic Sans MS" panose="030F0702030302020204" pitchFamily="66" charset="0"/>
                <a:cs typeface="Comic Sans MS" panose="030F0702030302020204" pitchFamily="66" charset="0"/>
              </a:rPr>
              <a:t>p</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opulation</a:t>
            </a:r>
            <a:r>
              <a:rPr lang="fr-FR" sz="2400" i="1" spc="-12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est</a:t>
            </a:r>
            <a:r>
              <a:rPr lang="fr-FR" sz="2400" i="1" spc="-3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alors</a:t>
            </a:r>
            <a:r>
              <a:rPr lang="fr-FR" sz="2400" i="1" spc="21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spc="-45" dirty="0">
                <a:effectLst/>
                <a:latin typeface="Bodoni MT" panose="02070603080606020203" pitchFamily="18" charset="0"/>
                <a:ea typeface="Comic Sans MS" panose="030F0702030302020204" pitchFamily="66" charset="0"/>
                <a:cs typeface="Comic Sans MS" panose="030F0702030302020204" pitchFamily="66" charset="0"/>
              </a:rPr>
              <a:t>c</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onstitu</a:t>
            </a:r>
            <a:r>
              <a:rPr lang="fr-FR" sz="2400" i="1" spc="-45" dirty="0">
                <a:effectLst/>
                <a:latin typeface="Bodoni MT" panose="02070603080606020203" pitchFamily="18" charset="0"/>
                <a:ea typeface="Comic Sans MS" panose="030F0702030302020204" pitchFamily="66" charset="0"/>
                <a:cs typeface="Comic Sans MS" panose="030F0702030302020204" pitchFamily="66" charset="0"/>
              </a:rPr>
              <a:t>é</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a:t>
            </a:r>
            <a:r>
              <a:rPr lang="fr-FR" sz="2400" i="1" spc="19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de</a:t>
            </a:r>
            <a:r>
              <a:rPr lang="fr-FR" sz="2400" i="1" spc="6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l’ensemble </a:t>
            </a:r>
            <a:r>
              <a:rPr lang="fr-FR" sz="2400" i="1" spc="11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des</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véhicules</a:t>
            </a:r>
            <a:r>
              <a:rPr lang="fr-FR" sz="2400" i="1" spc="27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sus</a:t>
            </a:r>
            <a:r>
              <a:rPr lang="fr-FR" sz="2400" i="1" spc="-45" dirty="0">
                <a:effectLst/>
                <a:latin typeface="Bodoni MT" panose="02070603080606020203" pitchFamily="18" charset="0"/>
                <a:ea typeface="Comic Sans MS" panose="030F0702030302020204" pitchFamily="66" charset="0"/>
                <a:cs typeface="Comic Sans MS" panose="030F0702030302020204" pitchFamily="66" charset="0"/>
              </a:rPr>
              <a:t>c</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eptibles</a:t>
            </a:r>
            <a:r>
              <a:rPr lang="fr-FR" sz="2400" i="1" spc="6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de</a:t>
            </a:r>
            <a:r>
              <a:rPr lang="fr-FR" sz="2400" i="1" spc="6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ci</a:t>
            </a:r>
            <a:r>
              <a:rPr lang="fr-FR" sz="2400" i="1" spc="-55" dirty="0">
                <a:effectLst/>
                <a:latin typeface="Bodoni MT" panose="02070603080606020203" pitchFamily="18" charset="0"/>
                <a:ea typeface="Comic Sans MS" panose="030F0702030302020204" pitchFamily="66" charset="0"/>
                <a:cs typeface="Comic Sans MS" panose="030F0702030302020204" pitchFamily="66" charset="0"/>
              </a:rPr>
              <a:t>r</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culer </a:t>
            </a:r>
            <a:r>
              <a:rPr lang="fr-FR" sz="2400" i="1" dirty="0">
                <a:latin typeface="Bodoni MT" panose="02070603080606020203" pitchFamily="18" charset="0"/>
                <a:ea typeface="Comic Sans MS" panose="030F0702030302020204" pitchFamily="66" charset="0"/>
                <a:cs typeface="Comic Sans MS" panose="030F0702030302020204" pitchFamily="66" charset="0"/>
              </a:rPr>
              <a:t>à Lomé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à</a:t>
            </a:r>
            <a:r>
              <a:rPr lang="fr-FR" sz="2400" i="1" spc="6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une</a:t>
            </a:r>
            <a:r>
              <a:rPr lang="fr-FR" sz="2400" i="1" spc="1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date</a:t>
            </a:r>
            <a:r>
              <a:rPr lang="fr-FR" sz="2400" i="1" spc="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donn</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é</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 </a:t>
            </a:r>
            <a:r>
              <a:rPr lang="fr-FR" sz="2400" i="1" spc="30" dirty="0">
                <a:effectLst/>
                <a:latin typeface="Bodoni MT" panose="02070603080606020203" pitchFamily="18" charset="0"/>
                <a:ea typeface="Comic Sans MS" panose="030F0702030302020204" pitchFamily="66" charset="0"/>
                <a:cs typeface="Comic Sans MS" panose="030F0702030302020204" pitchFamily="66" charset="0"/>
              </a:rPr>
              <a:t> </a:t>
            </a:r>
          </a:p>
          <a:p>
            <a:pPr marL="658495" marR="183515" indent="-140335" algn="just">
              <a:lnSpc>
                <a:spcPct val="105000"/>
              </a:lnSpc>
              <a:spcBef>
                <a:spcPts val="175"/>
              </a:spcBef>
            </a:pP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Dans</a:t>
            </a:r>
            <a:r>
              <a:rPr lang="fr-FR" sz="2400" i="1" spc="1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spc="-45" dirty="0">
                <a:effectLst/>
                <a:latin typeface="Bodoni MT" panose="02070603080606020203" pitchFamily="18" charset="0"/>
                <a:ea typeface="Comic Sans MS" panose="030F0702030302020204" pitchFamily="66" charset="0"/>
                <a:cs typeface="Comic Sans MS" panose="030F0702030302020204" pitchFamily="66" charset="0"/>
              </a:rPr>
              <a:t>c</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a:t>
            </a:r>
            <a:r>
              <a:rPr lang="fr-FR" sz="2400" i="1" spc="12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spc="-55" dirty="0">
                <a:effectLst/>
                <a:latin typeface="Bodoni MT" panose="02070603080606020203" pitchFamily="18" charset="0"/>
                <a:ea typeface="Comic Sans MS" panose="030F0702030302020204" pitchFamily="66" charset="0"/>
                <a:cs typeface="Comic Sans MS" panose="030F0702030302020204" pitchFamily="66" charset="0"/>
              </a:rPr>
              <a:t>c</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as</a:t>
            </a:r>
            <a:endParaRPr lang="fr-FR" sz="2400" dirty="0">
              <a:effectLst/>
              <a:latin typeface="Bodoni MT" panose="02070603080606020203" pitchFamily="18" charset="0"/>
              <a:ea typeface="Times New Roman" panose="02020603050405020304" pitchFamily="18" charset="0"/>
            </a:endParaRPr>
          </a:p>
          <a:p>
            <a:pPr marL="518160" marR="183515" indent="0" algn="just">
              <a:lnSpc>
                <a:spcPct val="105000"/>
              </a:lnSpc>
              <a:spcBef>
                <a:spcPts val="175"/>
              </a:spcBef>
              <a:spcAft>
                <a:spcPts val="0"/>
              </a:spcAft>
              <a:buNone/>
            </a:pPr>
            <a:r>
              <a:rPr lang="fr-FR" sz="2400" dirty="0">
                <a:effectLst/>
                <a:latin typeface="Bodoni MT" panose="02070603080606020203" pitchFamily="18" charset="0"/>
                <a:ea typeface="Times New Roman" panose="02020603050405020304" pitchFamily="18" charset="0"/>
              </a:rPr>
              <a:t>Ω </a:t>
            </a:r>
            <a:r>
              <a:rPr lang="fr-FR" sz="2400" spc="8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a:t>
            </a:r>
            <a:r>
              <a:rPr lang="fr-FR" sz="2400" spc="320"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ensemb</a:t>
            </a:r>
            <a:r>
              <a:rPr lang="fr-FR" sz="2400" spc="20" dirty="0">
                <a:effectLst/>
                <a:latin typeface="Bodoni MT" panose="02070603080606020203" pitchFamily="18" charset="0"/>
                <a:ea typeface="Times New Roman" panose="02020603050405020304" pitchFamily="18" charset="0"/>
              </a:rPr>
              <a:t>l</a:t>
            </a:r>
            <a:r>
              <a:rPr lang="fr-FR" sz="2400" dirty="0">
                <a:effectLst/>
                <a:latin typeface="Bodoni MT" panose="02070603080606020203" pitchFamily="18" charset="0"/>
                <a:ea typeface="Times New Roman" panose="02020603050405020304" pitchFamily="18" charset="0"/>
              </a:rPr>
              <a:t>e </a:t>
            </a:r>
            <a:r>
              <a:rPr lang="fr-FR" sz="2400" spc="115" dirty="0">
                <a:effectLst/>
                <a:latin typeface="Bodoni MT" panose="02070603080606020203" pitchFamily="18" charset="0"/>
                <a:ea typeface="Times New Roman" panose="02020603050405020304" pitchFamily="18" charset="0"/>
              </a:rPr>
              <a:t> </a:t>
            </a:r>
            <a:r>
              <a:rPr lang="fr-FR" sz="2400" dirty="0">
                <a:effectLst/>
                <a:latin typeface="Bodoni MT" panose="02070603080606020203" pitchFamily="18" charset="0"/>
                <a:ea typeface="Times New Roman" panose="02020603050405020304" pitchFamily="18" charset="0"/>
              </a:rPr>
              <a:t>des</a:t>
            </a:r>
            <a:r>
              <a:rPr lang="fr-FR" sz="2400" spc="230" dirty="0">
                <a:effectLst/>
                <a:latin typeface="Bodoni MT" panose="02070603080606020203" pitchFamily="18" charset="0"/>
                <a:ea typeface="Times New Roman" panose="02020603050405020304" pitchFamily="18" charset="0"/>
              </a:rPr>
              <a:t> </a:t>
            </a:r>
            <a:r>
              <a:rPr lang="fr-FR" sz="2400" spc="40" dirty="0">
                <a:effectLst/>
                <a:latin typeface="Bodoni MT" panose="02070603080606020203" pitchFamily="18" charset="0"/>
                <a:ea typeface="Times New Roman" panose="02020603050405020304" pitchFamily="18" charset="0"/>
              </a:rPr>
              <a:t>v</a:t>
            </a:r>
            <a:r>
              <a:rPr lang="fr-FR" sz="2400" dirty="0">
                <a:effectLst/>
                <a:latin typeface="Bodoni MT" panose="02070603080606020203" pitchFamily="18" charset="0"/>
                <a:ea typeface="Times New Roman" panose="02020603050405020304" pitchFamily="18" charset="0"/>
              </a:rPr>
              <a:t>éhicu</a:t>
            </a:r>
            <a:r>
              <a:rPr lang="fr-FR" sz="2400" spc="20" dirty="0">
                <a:effectLst/>
                <a:latin typeface="Bodoni MT" panose="02070603080606020203" pitchFamily="18" charset="0"/>
                <a:ea typeface="Times New Roman" panose="02020603050405020304" pitchFamily="18" charset="0"/>
              </a:rPr>
              <a:t>l</a:t>
            </a:r>
            <a:r>
              <a:rPr lang="fr-FR" sz="2400" dirty="0">
                <a:effectLst/>
                <a:latin typeface="Bodoni MT" panose="02070603080606020203" pitchFamily="18" charset="0"/>
                <a:ea typeface="Times New Roman" panose="02020603050405020304" pitchFamily="18" charset="0"/>
              </a:rPr>
              <a:t>es</a:t>
            </a:r>
          </a:p>
          <a:p>
            <a:pPr lvl="1" algn="just">
              <a:lnSpc>
                <a:spcPct val="100000"/>
              </a:lnSpc>
              <a:spcBef>
                <a:spcPts val="672"/>
              </a:spcBef>
              <a:buClr>
                <a:srgbClr val="000000"/>
              </a:buClr>
            </a:pPr>
            <a:endParaRPr lang="fr-FR" noProof="1">
              <a:latin typeface="Bodoni MT Condensed" panose="02070606080606020203" pitchFamily="18" charset="0"/>
            </a:endParaRPr>
          </a:p>
        </p:txBody>
      </p:sp>
    </p:spTree>
    <p:extLst>
      <p:ext uri="{BB962C8B-B14F-4D97-AF65-F5344CB8AC3E}">
        <p14:creationId xmlns:p14="http://schemas.microsoft.com/office/powerpoint/2010/main" val="19339060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1163395"/>
          </a:xfrm>
        </p:spPr>
        <p:txBody>
          <a:bodyPr>
            <a:normAutofit/>
          </a:bodyPr>
          <a:lstStyle/>
          <a:p>
            <a:pPr algn="l" defTabSz="914400">
              <a:lnSpc>
                <a:spcPct val="90000"/>
              </a:lnSpc>
              <a:spcBef>
                <a:spcPts val="0"/>
              </a:spcBef>
              <a:buNone/>
            </a:pPr>
            <a:r>
              <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INTODUCTION</a:t>
            </a:r>
          </a:p>
        </p:txBody>
      </p:sp>
      <p:sp>
        <p:nvSpPr>
          <p:cNvPr id="3" name="Text Placeholder 2"/>
          <p:cNvSpPr>
            <a:spLocks noGrp="1"/>
          </p:cNvSpPr>
          <p:nvPr>
            <p:ph type="body" sz="quarter" idx="10"/>
          </p:nvPr>
        </p:nvSpPr>
        <p:spPr>
          <a:xfrm>
            <a:off x="323528" y="908720"/>
            <a:ext cx="8712968" cy="4968552"/>
          </a:xfrm>
        </p:spPr>
        <p:txBody>
          <a:bodyPr>
            <a:noAutofit/>
          </a:bodyPr>
          <a:lstStyle/>
          <a:p>
            <a:pPr marL="0" indent="0" algn="just" defTabSz="914400">
              <a:lnSpc>
                <a:spcPct val="83000"/>
              </a:lnSpc>
              <a:spcBef>
                <a:spcPts val="768"/>
              </a:spcBef>
              <a:buClr>
                <a:srgbClr val="000000"/>
              </a:buClr>
              <a:buNone/>
            </a:pPr>
            <a:endParaRPr lang="fr-FR" sz="4400" spc="-50" noProof="1">
              <a:latin typeface="Bodoni MT" panose="02070603080606020203" pitchFamily="18" charset="0"/>
            </a:endParaRPr>
          </a:p>
          <a:p>
            <a:pPr marL="208915">
              <a:lnSpc>
                <a:spcPts val="1400"/>
              </a:lnSpc>
              <a:spcBef>
                <a:spcPts val="175"/>
              </a:spcBef>
              <a:spcAft>
                <a:spcPts val="0"/>
              </a:spcAft>
            </a:pP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On</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ap</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p</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a:t>
            </a:r>
            <a:r>
              <a:rPr lang="fr-FR" sz="2400" i="1" spc="70" dirty="0">
                <a:effectLst/>
                <a:latin typeface="Bodoni MT" panose="02070603080606020203" pitchFamily="18" charset="0"/>
                <a:ea typeface="Comic Sans MS" panose="030F0702030302020204" pitchFamily="66" charset="0"/>
                <a:cs typeface="Comic Sans MS" panose="030F0702030302020204" pitchFamily="66" charset="0"/>
              </a:rPr>
              <a:t>l</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le</a:t>
            </a:r>
            <a:r>
              <a:rPr lang="fr-FR" sz="2400" i="1" spc="12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individu</a:t>
            </a:r>
            <a:r>
              <a:rPr lang="fr-FR" sz="2400" i="1" spc="-2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tout</a:t>
            </a:r>
            <a:r>
              <a:rPr lang="fr-FR" sz="2400" i="1" spc="9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élément</a:t>
            </a:r>
            <a:r>
              <a:rPr lang="fr-FR" sz="2400" i="1" spc="27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de</a:t>
            </a:r>
            <a:r>
              <a:rPr lang="fr-FR" sz="2400" i="1" spc="8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la</a:t>
            </a:r>
            <a:r>
              <a:rPr lang="fr-FR" sz="2400" i="1" spc="3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p</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opulation</a:t>
            </a:r>
            <a:r>
              <a:rPr lang="fr-FR" sz="2400" i="1" spc="11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dirty="0">
                <a:effectLst/>
                <a:latin typeface="Bodoni MT" panose="02070603080606020203" pitchFamily="18" charset="0"/>
                <a:ea typeface="Times New Roman" panose="02020603050405020304" pitchFamily="18" charset="0"/>
              </a:rPr>
              <a:t>Ω</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a:t>
            </a:r>
            <a:r>
              <a:rPr lang="fr-FR" sz="2400" i="1" spc="3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il</a:t>
            </a:r>
            <a:r>
              <a:rPr lang="fr-FR" sz="2400" i="1" spc="6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est</a:t>
            </a:r>
            <a:r>
              <a:rPr lang="fr-FR" sz="2400" i="1" spc="3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noté</a:t>
            </a:r>
            <a:r>
              <a:rPr lang="fr-FR" sz="2400" i="1" spc="230" dirty="0">
                <a:effectLst/>
                <a:latin typeface="Bodoni MT" panose="02070603080606020203" pitchFamily="18" charset="0"/>
                <a:ea typeface="Comic Sans MS" panose="030F0702030302020204" pitchFamily="66" charset="0"/>
                <a:cs typeface="Comic Sans MS" panose="030F0702030302020204" pitchFamily="66" charset="0"/>
              </a:rPr>
              <a:t> </a:t>
            </a:r>
          </a:p>
          <a:p>
            <a:pPr marL="0" indent="0">
              <a:lnSpc>
                <a:spcPts val="1400"/>
              </a:lnSpc>
              <a:spcBef>
                <a:spcPts val="175"/>
              </a:spcBef>
              <a:spcAft>
                <a:spcPts val="0"/>
              </a:spcAft>
              <a:buNone/>
            </a:pPr>
            <a:endParaRPr lang="fr-FR" sz="2400" i="1" spc="230" dirty="0">
              <a:latin typeface="Bodoni MT" panose="02070603080606020203" pitchFamily="18" charset="0"/>
              <a:ea typeface="Times New Roman" panose="02020603050405020304" pitchFamily="18" charset="0"/>
            </a:endParaRPr>
          </a:p>
          <a:p>
            <a:pPr marL="0" indent="0">
              <a:lnSpc>
                <a:spcPts val="1400"/>
              </a:lnSpc>
              <a:spcBef>
                <a:spcPts val="175"/>
              </a:spcBef>
              <a:spcAft>
                <a:spcPts val="0"/>
              </a:spcAft>
              <a:buNone/>
            </a:pPr>
            <a:r>
              <a:rPr lang="en-US" sz="2400" dirty="0">
                <a:effectLst/>
                <a:latin typeface="Bodoni MT" panose="02070603080606020203" pitchFamily="18" charset="0"/>
                <a:ea typeface="Times New Roman" panose="02020603050405020304" pitchFamily="18" charset="0"/>
              </a:rPr>
              <a:t>ω</a:t>
            </a:r>
            <a:r>
              <a:rPr lang="en-US" sz="2400" spc="105" dirty="0">
                <a:effectLst/>
                <a:latin typeface="Bodoni MT" panose="02070603080606020203" pitchFamily="18" charset="0"/>
                <a:ea typeface="Times New Roman" panose="02020603050405020304" pitchFamily="18"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a:t>
            </a:r>
            <a:r>
              <a:rPr lang="en-US" sz="2400" dirty="0">
                <a:effectLst/>
                <a:latin typeface="Bodoni MT" panose="02070603080606020203" pitchFamily="18" charset="0"/>
                <a:ea typeface="Times New Roman" panose="02020603050405020304" pitchFamily="18" charset="0"/>
              </a:rPr>
              <a:t>ω</a:t>
            </a:r>
            <a:r>
              <a:rPr lang="en-US" sz="2400" spc="145" dirty="0">
                <a:effectLst/>
                <a:latin typeface="Bodoni MT" panose="02070603080606020203" pitchFamily="18" charset="0"/>
                <a:ea typeface="Times New Roman" panose="02020603050405020304" pitchFamily="18"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dans</a:t>
            </a:r>
            <a:r>
              <a:rPr lang="fr-FR" sz="2400" i="1" spc="-9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dirty="0">
                <a:effectLst/>
                <a:latin typeface="Bodoni MT" panose="02070603080606020203" pitchFamily="18" charset="0"/>
                <a:ea typeface="Times New Roman" panose="02020603050405020304" pitchFamily="18" charset="0"/>
              </a:rPr>
              <a:t>Ω</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a:t>
            </a:r>
            <a:endParaRPr lang="fr-FR" sz="2400" i="1" noProof="1">
              <a:effectLst/>
              <a:latin typeface="Bodoni MT" panose="02070603080606020203" pitchFamily="18" charset="0"/>
              <a:ea typeface="Comic Sans MS" panose="030F0702030302020204" pitchFamily="66" charset="0"/>
              <a:cs typeface="Comic Sans MS" panose="030F0702030302020204" pitchFamily="66" charset="0"/>
            </a:endParaRPr>
          </a:p>
          <a:p>
            <a:pPr marL="208915">
              <a:lnSpc>
                <a:spcPts val="1400"/>
              </a:lnSpc>
              <a:spcBef>
                <a:spcPts val="175"/>
              </a:spcBef>
              <a:spcAft>
                <a:spcPts val="0"/>
              </a:spcAft>
            </a:pPr>
            <a:endParaRPr lang="fr-FR" sz="2400" i="1" noProof="1">
              <a:latin typeface="Bodoni MT" panose="02070603080606020203" pitchFamily="18" charset="0"/>
              <a:ea typeface="Times New Roman" panose="02020603050405020304" pitchFamily="18" charset="0"/>
            </a:endParaRPr>
          </a:p>
          <a:p>
            <a:pPr marL="208915">
              <a:spcBef>
                <a:spcPts val="175"/>
              </a:spcBef>
              <a:spcAft>
                <a:spcPts val="0"/>
              </a:spcAft>
            </a:pP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L’ensemble</a:t>
            </a:r>
            <a:r>
              <a:rPr lang="fr-FR" sz="2400" i="1" spc="7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dirty="0">
                <a:effectLst/>
                <a:latin typeface="Bodoni MT" panose="02070603080606020203" pitchFamily="18" charset="0"/>
                <a:ea typeface="Times New Roman" panose="02020603050405020304" pitchFamily="18" charset="0"/>
              </a:rPr>
              <a:t>Ω</a:t>
            </a:r>
            <a:r>
              <a:rPr lang="fr-FR" sz="2400" spc="55" dirty="0">
                <a:effectLst/>
                <a:latin typeface="Bodoni MT" panose="02070603080606020203" pitchFamily="18" charset="0"/>
                <a:ea typeface="Times New Roman" panose="02020603050405020304" pitchFamily="18" charset="0"/>
              </a:rPr>
              <a:t> </a:t>
            </a:r>
            <a:r>
              <a:rPr lang="fr-FR" sz="2400" i="1" spc="-45" dirty="0">
                <a:effectLst/>
                <a:latin typeface="Bodoni MT" panose="02070603080606020203" pitchFamily="18" charset="0"/>
                <a:ea typeface="Comic Sans MS" panose="030F0702030302020204" pitchFamily="66" charset="0"/>
                <a:cs typeface="Comic Sans MS" panose="030F0702030302020204" pitchFamily="66" charset="0"/>
              </a:rPr>
              <a:t>p</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eut</a:t>
            </a:r>
            <a:r>
              <a:rPr lang="fr-FR" sz="2400" i="1" spc="21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êt</a:t>
            </a:r>
            <a:r>
              <a:rPr lang="fr-FR" sz="2400" i="1" spc="-45" dirty="0">
                <a:effectLst/>
                <a:latin typeface="Bodoni MT" panose="02070603080606020203" pitchFamily="18" charset="0"/>
                <a:ea typeface="Comic Sans MS" panose="030F0702030302020204" pitchFamily="66" charset="0"/>
                <a:cs typeface="Comic Sans MS" panose="030F0702030302020204" pitchFamily="66" charset="0"/>
              </a:rPr>
              <a:t>r</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a:t>
            </a:r>
            <a:r>
              <a:rPr lang="fr-FR" sz="2400" i="1" spc="5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un</a:t>
            </a:r>
            <a:r>
              <a:rPr lang="fr-FR" sz="2400" i="1" spc="11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ensemble</a:t>
            </a:r>
            <a:r>
              <a:rPr lang="fr-FR" sz="2400" i="1" spc="19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de</a:t>
            </a:r>
            <a:r>
              <a:rPr lang="fr-FR" sz="2400" i="1" spc="7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p</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ersonnes, </a:t>
            </a:r>
            <a:r>
              <a:rPr lang="fr-FR" sz="2400" i="1" spc="9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de</a:t>
            </a:r>
            <a:r>
              <a:rPr lang="fr-FR" sz="2400" i="1" spc="7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choses</a:t>
            </a:r>
            <a:r>
              <a:rPr lang="fr-FR" sz="2400" i="1" spc="11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ou</a:t>
            </a:r>
            <a:r>
              <a:rPr lang="fr-FR" sz="2400" i="1" spc="5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d’animaux...</a:t>
            </a:r>
            <a:endParaRPr lang="fr-FR" sz="2400" dirty="0">
              <a:effectLst/>
              <a:latin typeface="Bodoni MT" panose="02070603080606020203" pitchFamily="18" charset="0"/>
              <a:ea typeface="Times New Roman" panose="02020603050405020304" pitchFamily="18" charset="0"/>
            </a:endParaRPr>
          </a:p>
          <a:p>
            <a:pPr marL="208915" marR="182880">
              <a:lnSpc>
                <a:spcPts val="1600"/>
              </a:lnSpc>
              <a:spcBef>
                <a:spcPts val="25"/>
              </a:spcBef>
              <a:spcAft>
                <a:spcPts val="0"/>
              </a:spcAft>
            </a:pP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L’unité</a:t>
            </a:r>
            <a:r>
              <a:rPr lang="fr-FR" sz="2400" i="1" spc="9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statistique </a:t>
            </a:r>
            <a:r>
              <a:rPr lang="fr-FR" sz="2400" i="1" spc="5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est</a:t>
            </a:r>
            <a:r>
              <a:rPr lang="fr-FR" sz="2400" i="1" spc="7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un</a:t>
            </a:r>
            <a:r>
              <a:rPr lang="fr-FR" sz="2400" i="1" spc="10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objet</a:t>
            </a:r>
            <a:r>
              <a:rPr lang="fr-FR" sz="2400" i="1" spc="12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spc="-55" dirty="0">
                <a:effectLst/>
                <a:latin typeface="Bodoni MT" panose="02070603080606020203" pitchFamily="18" charset="0"/>
                <a:ea typeface="Comic Sans MS" panose="030F0702030302020204" pitchFamily="66" charset="0"/>
                <a:cs typeface="Comic Sans MS" panose="030F0702030302020204" pitchFamily="66" charset="0"/>
              </a:rPr>
              <a:t>p</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our</a:t>
            </a:r>
            <a:r>
              <a:rPr lang="fr-FR" sz="2400" i="1" spc="-6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l</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e</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quel</a:t>
            </a:r>
            <a:r>
              <a:rPr lang="fr-FR" sz="2400" i="1" spc="10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nous</a:t>
            </a:r>
            <a:r>
              <a:rPr lang="fr-FR" sz="2400" i="1" spc="-1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sommes inté</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r</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essés</a:t>
            </a:r>
            <a:r>
              <a:rPr lang="fr-FR" sz="2400" i="1" spc="-8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à</a:t>
            </a:r>
            <a:r>
              <a:rPr lang="fr-FR" sz="2400" i="1" spc="5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re</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cuei</a:t>
            </a:r>
            <a:r>
              <a:rPr lang="fr-FR" sz="2400" i="1" spc="75" dirty="0">
                <a:effectLst/>
                <a:latin typeface="Bodoni MT" panose="02070603080606020203" pitchFamily="18" charset="0"/>
                <a:ea typeface="Comic Sans MS" panose="030F0702030302020204" pitchFamily="66" charset="0"/>
                <a:cs typeface="Comic Sans MS" panose="030F0702030302020204" pitchFamily="66" charset="0"/>
              </a:rPr>
              <a:t>l</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lir </a:t>
            </a:r>
            <a:r>
              <a:rPr lang="fr-FR" sz="2400" i="1" spc="1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de</a:t>
            </a:r>
            <a:r>
              <a:rPr lang="fr-FR" sz="2400" i="1" spc="6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l’information.</a:t>
            </a:r>
            <a:endParaRPr lang="fr-FR" sz="2400" dirty="0">
              <a:effectLst/>
              <a:latin typeface="Bodoni MT" panose="02070603080606020203" pitchFamily="18" charset="0"/>
              <a:ea typeface="Times New Roman" panose="02020603050405020304" pitchFamily="18" charset="0"/>
            </a:endParaRPr>
          </a:p>
          <a:p>
            <a:pPr marL="208915">
              <a:lnSpc>
                <a:spcPts val="1400"/>
              </a:lnSpc>
              <a:spcBef>
                <a:spcPts val="175"/>
              </a:spcBef>
              <a:spcAft>
                <a:spcPts val="0"/>
              </a:spcAft>
            </a:pPr>
            <a:endParaRPr lang="fr-FR" sz="2400" dirty="0">
              <a:effectLst/>
              <a:latin typeface="Bodoni MT" panose="02070603080606020203" pitchFamily="18" charset="0"/>
              <a:ea typeface="Times New Roman" panose="02020603050405020304" pitchFamily="18" charset="0"/>
            </a:endParaRPr>
          </a:p>
          <a:p>
            <a:pPr marL="0" indent="0">
              <a:lnSpc>
                <a:spcPts val="1400"/>
              </a:lnSpc>
              <a:spcBef>
                <a:spcPts val="175"/>
              </a:spcBef>
              <a:spcAft>
                <a:spcPts val="0"/>
              </a:spcAft>
              <a:buNone/>
            </a:pPr>
            <a:r>
              <a:rPr lang="fr-FR" sz="2400" dirty="0">
                <a:latin typeface="Bodoni MT" panose="02070603080606020203" pitchFamily="18" charset="0"/>
                <a:ea typeface="Times New Roman" panose="02020603050405020304" pitchFamily="18" charset="0"/>
              </a:rPr>
              <a:t>Exemple</a:t>
            </a:r>
          </a:p>
          <a:p>
            <a:pPr marL="518795">
              <a:spcBef>
                <a:spcPts val="175"/>
              </a:spcBef>
              <a:spcAft>
                <a:spcPts val="0"/>
              </a:spcAft>
            </a:pP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Dans</a:t>
            </a:r>
            <a:r>
              <a:rPr lang="fr-FR" sz="2400" i="1" spc="1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l’exemple</a:t>
            </a:r>
            <a:r>
              <a:rPr lang="fr-FR" sz="2400" i="1" spc="8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indiqué</a:t>
            </a:r>
            <a:r>
              <a:rPr lang="fr-FR" sz="2400" i="1" spc="-12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ci-dessus,</a:t>
            </a:r>
            <a:r>
              <a:rPr lang="fr-FR" sz="2400" i="1" spc="9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un</a:t>
            </a:r>
            <a:r>
              <a:rPr lang="fr-FR" sz="2400" i="1" spc="11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individu</a:t>
            </a:r>
            <a:r>
              <a:rPr lang="fr-FR" sz="2400" i="1" spc="-2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est</a:t>
            </a:r>
            <a:r>
              <a:rPr lang="fr-FR" sz="2400" i="1" spc="3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tout</a:t>
            </a:r>
            <a:r>
              <a:rPr lang="fr-FR" sz="2400" i="1" spc="14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étudiant </a:t>
            </a:r>
            <a:r>
              <a:rPr lang="fr-FR" sz="2400" i="1" spc="10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de</a:t>
            </a:r>
            <a:r>
              <a:rPr lang="fr-FR" sz="2400" i="1" spc="11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la</a:t>
            </a:r>
            <a:r>
              <a:rPr lang="fr-FR" sz="2400" i="1" spc="3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classe.</a:t>
            </a:r>
            <a:endParaRPr lang="fr-FR" sz="2400" dirty="0">
              <a:effectLst/>
              <a:latin typeface="Bodoni MT" panose="02070603080606020203" pitchFamily="18" charset="0"/>
              <a:ea typeface="Times New Roman" panose="02020603050405020304" pitchFamily="18" charset="0"/>
            </a:endParaRPr>
          </a:p>
          <a:p>
            <a:pPr marL="518795">
              <a:spcBef>
                <a:spcPts val="90"/>
              </a:spcBef>
              <a:spcAft>
                <a:spcPts val="0"/>
              </a:spcAft>
            </a:pP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Si</a:t>
            </a:r>
            <a:r>
              <a:rPr lang="fr-FR" sz="2400" i="1" spc="-1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on</a:t>
            </a:r>
            <a:r>
              <a:rPr lang="fr-FR" sz="2400" i="1" spc="12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étudie</a:t>
            </a:r>
            <a:r>
              <a:rPr lang="fr-FR" sz="2400" i="1" spc="16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la</a:t>
            </a:r>
            <a:r>
              <a:rPr lang="fr-FR" sz="2400" i="1" spc="8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p</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ro</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duction</a:t>
            </a:r>
            <a:r>
              <a:rPr lang="fr-FR" sz="2400" i="1" spc="18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annue</a:t>
            </a:r>
            <a:r>
              <a:rPr lang="fr-FR" sz="2400" i="1" spc="85" dirty="0">
                <a:effectLst/>
                <a:latin typeface="Bodoni MT" panose="02070603080606020203" pitchFamily="18" charset="0"/>
                <a:ea typeface="Comic Sans MS" panose="030F0702030302020204" pitchFamily="66" charset="0"/>
                <a:cs typeface="Comic Sans MS" panose="030F0702030302020204" pitchFamily="66" charset="0"/>
              </a:rPr>
              <a:t>l</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le</a:t>
            </a:r>
            <a:r>
              <a:rPr lang="fr-FR" sz="2400" i="1" spc="-8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d’une</a:t>
            </a:r>
            <a:r>
              <a:rPr lang="fr-FR" sz="2400" i="1" spc="11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usine</a:t>
            </a:r>
            <a:r>
              <a:rPr lang="fr-FR" sz="2400" i="1" spc="-2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de</a:t>
            </a:r>
            <a:r>
              <a:rPr lang="fr-FR" sz="2400" i="1" spc="-8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spc="-45" dirty="0">
                <a:effectLst/>
                <a:latin typeface="Bodoni MT" panose="02070603080606020203" pitchFamily="18" charset="0"/>
                <a:ea typeface="Comic Sans MS" panose="030F0702030302020204" pitchFamily="66" charset="0"/>
                <a:cs typeface="Comic Sans MS" panose="030F0702030302020204" pitchFamily="66" charset="0"/>
              </a:rPr>
              <a:t>b</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oîtes</a:t>
            </a:r>
            <a:r>
              <a:rPr lang="fr-FR" sz="2400" i="1" spc="19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de</a:t>
            </a:r>
            <a:r>
              <a:rPr lang="fr-FR" sz="2400" i="1" spc="-8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b</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oisson</a:t>
            </a:r>
            <a:r>
              <a:rPr lang="fr-FR" sz="2400" i="1" spc="16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en</a:t>
            </a:r>
            <a:r>
              <a:rPr lang="fr-FR" sz="2400" i="1" spc="4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métal</a:t>
            </a:r>
            <a:r>
              <a:rPr lang="fr-FR" sz="2400" dirty="0">
                <a:latin typeface="Bodoni MT" panose="02070603080606020203" pitchFamily="18" charset="0"/>
                <a:ea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c</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anettes).</a:t>
            </a:r>
            <a:r>
              <a:rPr lang="fr-FR" sz="2400" i="1" spc="18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spc="-55" dirty="0">
                <a:effectLst/>
                <a:latin typeface="Bodoni MT" panose="02070603080606020203" pitchFamily="18" charset="0"/>
                <a:ea typeface="Comic Sans MS" panose="030F0702030302020204" pitchFamily="66" charset="0"/>
                <a:cs typeface="Comic Sans MS" panose="030F0702030302020204" pitchFamily="66" charset="0"/>
              </a:rPr>
              <a:t>L</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a</a:t>
            </a:r>
            <a:r>
              <a:rPr lang="fr-FR" sz="2400" i="1" spc="19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spc="-55" dirty="0">
                <a:effectLst/>
                <a:latin typeface="Bodoni MT" panose="02070603080606020203" pitchFamily="18" charset="0"/>
                <a:ea typeface="Comic Sans MS" panose="030F0702030302020204" pitchFamily="66" charset="0"/>
                <a:cs typeface="Comic Sans MS" panose="030F0702030302020204" pitchFamily="66" charset="0"/>
              </a:rPr>
              <a:t>p</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opulation</a:t>
            </a:r>
            <a:r>
              <a:rPr lang="fr-FR" sz="2400" i="1" spc="-10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est</a:t>
            </a:r>
            <a:r>
              <a:rPr lang="fr-FR" sz="2400" i="1" spc="1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l’ensemble </a:t>
            </a:r>
            <a:r>
              <a:rPr lang="fr-FR" sz="2400" i="1" spc="8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des</a:t>
            </a:r>
            <a:r>
              <a:rPr lang="fr-FR" sz="2400" i="1" spc="9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b</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oîtes</a:t>
            </a:r>
            <a:r>
              <a:rPr lang="fr-FR" sz="2400" i="1" spc="2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p</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ro</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duites</a:t>
            </a:r>
            <a:r>
              <a:rPr lang="fr-FR" sz="2400" i="1" spc="19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du</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r</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ant</a:t>
            </a:r>
            <a:r>
              <a:rPr lang="fr-FR" sz="2400" i="1" spc="27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l’ann</a:t>
            </a:r>
            <a:r>
              <a:rPr lang="fr-FR" sz="2400" i="1" spc="-50" dirty="0">
                <a:effectLst/>
                <a:latin typeface="Bodoni MT" panose="02070603080606020203" pitchFamily="18" charset="0"/>
                <a:ea typeface="Comic Sans MS" panose="030F0702030302020204" pitchFamily="66" charset="0"/>
                <a:cs typeface="Comic Sans MS" panose="030F0702030302020204" pitchFamily="66" charset="0"/>
              </a:rPr>
              <a:t>é</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 </a:t>
            </a:r>
            <a:r>
              <a:rPr lang="fr-FR" sz="2400" i="1" spc="26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400" i="1" dirty="0">
                <a:effectLst/>
                <a:latin typeface="Bodoni MT" panose="02070603080606020203" pitchFamily="18" charset="0"/>
                <a:ea typeface="Comic Sans MS" panose="030F0702030302020204" pitchFamily="66" charset="0"/>
                <a:cs typeface="Comic Sans MS" panose="030F0702030302020204" pitchFamily="66" charset="0"/>
              </a:rPr>
              <a:t>et une boîte constitue un individu</a:t>
            </a:r>
            <a:endParaRPr lang="fr-FR" sz="2400" dirty="0">
              <a:effectLst/>
              <a:latin typeface="Bodoni MT" panose="02070603080606020203" pitchFamily="18" charset="0"/>
              <a:ea typeface="Times New Roman" panose="02020603050405020304" pitchFamily="18" charset="0"/>
            </a:endParaRPr>
          </a:p>
          <a:p>
            <a:pPr marL="0" indent="0">
              <a:buNone/>
            </a:pPr>
            <a:br>
              <a:rPr lang="fr-FR" sz="1800" dirty="0">
                <a:effectLst/>
                <a:latin typeface="Comic Sans MS" panose="030F0702030302020204" pitchFamily="66" charset="0"/>
                <a:ea typeface="Comic Sans MS" panose="030F0702030302020204" pitchFamily="66" charset="0"/>
                <a:cs typeface="Comic Sans MS" panose="030F0702030302020204" pitchFamily="66" charset="0"/>
              </a:rPr>
            </a:br>
            <a:endParaRPr lang="fr-FR"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227601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3B823-1728-C4CB-9B79-D4D26B25C6F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E4F1BFC-6D8C-10C8-4E44-98C546DC0577}"/>
              </a:ext>
            </a:extLst>
          </p:cNvPr>
          <p:cNvSpPr>
            <a:spLocks noGrp="1"/>
          </p:cNvSpPr>
          <p:nvPr>
            <p:ph type="title"/>
          </p:nvPr>
        </p:nvSpPr>
        <p:spPr>
          <a:xfrm>
            <a:off x="381000" y="230188"/>
            <a:ext cx="8382000" cy="830997"/>
          </a:xfrm>
        </p:spPr>
        <p:txBody>
          <a:bodyPr/>
          <a:lstStyle/>
          <a:p>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INTODUCTION</a:t>
            </a:r>
            <a:endParaRPr lang="fr-TG" sz="6000" dirty="0">
              <a:solidFill>
                <a:schemeClr val="tx2"/>
              </a:solidFill>
              <a:latin typeface="Bauhaus 93" panose="04030905020B02020C02" pitchFamily="82" charset="0"/>
            </a:endParaRPr>
          </a:p>
        </p:txBody>
      </p:sp>
      <p:sp>
        <p:nvSpPr>
          <p:cNvPr id="3" name="Espace réservé du contenu 2">
            <a:extLst>
              <a:ext uri="{FF2B5EF4-FFF2-40B4-BE49-F238E27FC236}">
                <a16:creationId xmlns:a16="http://schemas.microsoft.com/office/drawing/2014/main" id="{65CD5972-6751-20D7-F74F-944138CF8A1E}"/>
              </a:ext>
            </a:extLst>
          </p:cNvPr>
          <p:cNvSpPr>
            <a:spLocks noGrp="1"/>
          </p:cNvSpPr>
          <p:nvPr>
            <p:ph idx="1"/>
          </p:nvPr>
        </p:nvSpPr>
        <p:spPr>
          <a:xfrm>
            <a:off x="376741" y="1340768"/>
            <a:ext cx="8382000" cy="2762744"/>
          </a:xfrm>
        </p:spPr>
        <p:txBody>
          <a:bodyPr/>
          <a:lstStyle/>
          <a:p>
            <a:pPr algn="just">
              <a:buFont typeface="Wingdings" panose="05000000000000000000" pitchFamily="2" charset="2"/>
              <a:buChar char="ü"/>
            </a:pPr>
            <a:r>
              <a:rPr lang="fr-FR" dirty="0">
                <a:latin typeface="Comic Sans MS" panose="030F0702030302020204" pitchFamily="66" charset="0"/>
              </a:rPr>
              <a:t> </a:t>
            </a:r>
            <a:r>
              <a:rPr lang="fr-FR" dirty="0">
                <a:latin typeface="Bodoni MT" panose="02070603080606020203" pitchFamily="18" charset="0"/>
              </a:rPr>
              <a:t>Le cours d’analyse des données a pour objectif d’initier les étudiants aux bases nécessaires pour travailler avec des données. </a:t>
            </a:r>
          </a:p>
          <a:p>
            <a:pPr algn="just">
              <a:buFont typeface="Wingdings" panose="05000000000000000000" pitchFamily="2" charset="2"/>
              <a:buChar char="ü"/>
            </a:pPr>
            <a:r>
              <a:rPr lang="fr-FR" dirty="0">
                <a:latin typeface="Bodoni MT" panose="02070603080606020203" pitchFamily="18" charset="0"/>
              </a:rPr>
              <a:t>Il permet d’apprendre comment passer de données brutes, souvent désordonnées, à des résultats clairs et compréhensibles. </a:t>
            </a:r>
            <a:endParaRPr lang="fr-TG" dirty="0">
              <a:latin typeface="Bodoni MT" panose="02070603080606020203" pitchFamily="18" charset="0"/>
            </a:endParaRPr>
          </a:p>
        </p:txBody>
      </p:sp>
    </p:spTree>
    <p:extLst>
      <p:ext uri="{BB962C8B-B14F-4D97-AF65-F5344CB8AC3E}">
        <p14:creationId xmlns:p14="http://schemas.microsoft.com/office/powerpoint/2010/main" val="346253575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A681D-928F-D3FE-4E77-88AF0972951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B7230FE-AADC-2215-E9E7-9B93915BF45C}"/>
              </a:ext>
            </a:extLst>
          </p:cNvPr>
          <p:cNvSpPr>
            <a:spLocks noGrp="1"/>
          </p:cNvSpPr>
          <p:nvPr>
            <p:ph type="title"/>
          </p:nvPr>
        </p:nvSpPr>
        <p:spPr>
          <a:xfrm>
            <a:off x="381000" y="230188"/>
            <a:ext cx="8382000" cy="830997"/>
          </a:xfrm>
        </p:spPr>
        <p:txBody>
          <a:bodyPr/>
          <a:lstStyle/>
          <a:p>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INTODUCTION</a:t>
            </a:r>
            <a:endParaRPr lang="fr-TG" sz="6000" dirty="0">
              <a:solidFill>
                <a:schemeClr val="tx2"/>
              </a:solidFill>
              <a:latin typeface="Bauhaus 93" panose="04030905020B02020C02" pitchFamily="82" charset="0"/>
            </a:endParaRPr>
          </a:p>
        </p:txBody>
      </p:sp>
      <p:sp>
        <p:nvSpPr>
          <p:cNvPr id="3" name="Espace réservé du contenu 2">
            <a:extLst>
              <a:ext uri="{FF2B5EF4-FFF2-40B4-BE49-F238E27FC236}">
                <a16:creationId xmlns:a16="http://schemas.microsoft.com/office/drawing/2014/main" id="{453FC2DD-0B25-A40A-3BB9-7C133B10CC8C}"/>
              </a:ext>
            </a:extLst>
          </p:cNvPr>
          <p:cNvSpPr>
            <a:spLocks noGrp="1"/>
          </p:cNvSpPr>
          <p:nvPr>
            <p:ph idx="1"/>
          </p:nvPr>
        </p:nvSpPr>
        <p:spPr>
          <a:xfrm>
            <a:off x="381000" y="1124744"/>
            <a:ext cx="8382000" cy="4634025"/>
          </a:xfrm>
        </p:spPr>
        <p:txBody>
          <a:bodyPr/>
          <a:lstStyle/>
          <a:p>
            <a:pPr algn="just"/>
            <a:r>
              <a:rPr lang="fr-FR" dirty="0">
                <a:latin typeface="Bodoni MT" panose="02070603080606020203" pitchFamily="18" charset="0"/>
              </a:rPr>
              <a:t>Ce cours vous permettra de découvrir les différentes étapes de l’analyse des données : conception, la collecte des données, leur nettoyage, leur description à l’aide de tableaux et de graphiques, ainsi que l’interprétation des résultats.</a:t>
            </a:r>
          </a:p>
          <a:p>
            <a:pPr algn="just"/>
            <a:endParaRPr lang="fr-FR" dirty="0">
              <a:latin typeface="Bodoni MT" panose="02070603080606020203" pitchFamily="18" charset="0"/>
            </a:endParaRPr>
          </a:p>
          <a:p>
            <a:pPr algn="just"/>
            <a:r>
              <a:rPr lang="fr-FR" dirty="0">
                <a:latin typeface="Bodoni MT" panose="02070603080606020203" pitchFamily="18" charset="0"/>
              </a:rPr>
              <a:t>Vous apprendrez également à poser les bonnes questions et à utiliser les données pour y répondre de manière logique et rigoureuse.</a:t>
            </a:r>
          </a:p>
        </p:txBody>
      </p:sp>
    </p:spTree>
    <p:extLst>
      <p:ext uri="{BB962C8B-B14F-4D97-AF65-F5344CB8AC3E}">
        <p14:creationId xmlns:p14="http://schemas.microsoft.com/office/powerpoint/2010/main" val="38513811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BC706-D550-1A37-096E-8720FEBA487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0917CC7-D7B6-9E00-54E2-3C2671F407FD}"/>
              </a:ext>
            </a:extLst>
          </p:cNvPr>
          <p:cNvSpPr>
            <a:spLocks noGrp="1"/>
          </p:cNvSpPr>
          <p:nvPr>
            <p:ph type="title"/>
          </p:nvPr>
        </p:nvSpPr>
        <p:spPr>
          <a:xfrm>
            <a:off x="381000" y="230188"/>
            <a:ext cx="8382000" cy="830997"/>
          </a:xfrm>
        </p:spPr>
        <p:txBody>
          <a:bodyPr/>
          <a:lstStyle/>
          <a:p>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INTODUCTION</a:t>
            </a:r>
            <a:endParaRPr lang="fr-TG" sz="6000" dirty="0">
              <a:solidFill>
                <a:schemeClr val="tx2"/>
              </a:solidFill>
              <a:latin typeface="Bauhaus 93" panose="04030905020B02020C02" pitchFamily="82" charset="0"/>
            </a:endParaRPr>
          </a:p>
        </p:txBody>
      </p:sp>
      <p:sp>
        <p:nvSpPr>
          <p:cNvPr id="3" name="Espace réservé du contenu 2">
            <a:extLst>
              <a:ext uri="{FF2B5EF4-FFF2-40B4-BE49-F238E27FC236}">
                <a16:creationId xmlns:a16="http://schemas.microsoft.com/office/drawing/2014/main" id="{30327E3C-C00D-25BB-0D1F-CC4BF9DED98B}"/>
              </a:ext>
            </a:extLst>
          </p:cNvPr>
          <p:cNvSpPr>
            <a:spLocks noGrp="1"/>
          </p:cNvSpPr>
          <p:nvPr>
            <p:ph idx="1"/>
          </p:nvPr>
        </p:nvSpPr>
        <p:spPr>
          <a:xfrm>
            <a:off x="381000" y="980728"/>
            <a:ext cx="8382000" cy="4190827"/>
          </a:xfrm>
        </p:spPr>
        <p:txBody>
          <a:bodyPr/>
          <a:lstStyle/>
          <a:p>
            <a:pPr algn="just"/>
            <a:r>
              <a:rPr lang="fr-FR" dirty="0">
                <a:latin typeface="Bodoni MT" panose="02070603080606020203" pitchFamily="18" charset="0"/>
              </a:rPr>
              <a:t>Ce cours vise à développer l’esprit d’analyse et le raisonnement statistique des étudiants. </a:t>
            </a:r>
          </a:p>
          <a:p>
            <a:pPr algn="just"/>
            <a:r>
              <a:rPr lang="fr-FR" dirty="0">
                <a:latin typeface="Bodoni MT" panose="02070603080606020203" pitchFamily="18" charset="0"/>
              </a:rPr>
              <a:t>À la fin du cours, ils seront capables de lire et de comprendre des résultats simples, d’analyser des données de base et de présenter leurs conclusions de façon claire. </a:t>
            </a:r>
          </a:p>
          <a:p>
            <a:pPr algn="just"/>
            <a:r>
              <a:rPr lang="fr-FR" dirty="0">
                <a:latin typeface="Bodoni MT" panose="02070603080606020203" pitchFamily="18" charset="0"/>
              </a:rPr>
              <a:t>Ces compétences seront utiles aussi bien dans la poursuite des études que dans la vie professionnelle.</a:t>
            </a:r>
          </a:p>
        </p:txBody>
      </p:sp>
    </p:spTree>
    <p:extLst>
      <p:ext uri="{BB962C8B-B14F-4D97-AF65-F5344CB8AC3E}">
        <p14:creationId xmlns:p14="http://schemas.microsoft.com/office/powerpoint/2010/main" val="274146942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D3656-ECC5-77AC-18C0-5B0226F12B6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F52B1E9-06F2-93D0-6080-21BFD5E37194}"/>
              </a:ext>
            </a:extLst>
          </p:cNvPr>
          <p:cNvSpPr>
            <a:spLocks noGrp="1"/>
          </p:cNvSpPr>
          <p:nvPr>
            <p:ph type="title"/>
          </p:nvPr>
        </p:nvSpPr>
        <p:spPr>
          <a:xfrm>
            <a:off x="381000" y="230188"/>
            <a:ext cx="8382000" cy="830997"/>
          </a:xfrm>
        </p:spPr>
        <p:txBody>
          <a:bodyPr/>
          <a:lstStyle/>
          <a:p>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INTODUCTION</a:t>
            </a:r>
            <a:endParaRPr lang="fr-TG" sz="6000" dirty="0">
              <a:solidFill>
                <a:schemeClr val="tx2"/>
              </a:solidFill>
              <a:latin typeface="Bauhaus 93" panose="04030905020B02020C02" pitchFamily="82" charset="0"/>
            </a:endParaRPr>
          </a:p>
        </p:txBody>
      </p:sp>
      <p:sp>
        <p:nvSpPr>
          <p:cNvPr id="3" name="Espace réservé du contenu 2">
            <a:extLst>
              <a:ext uri="{FF2B5EF4-FFF2-40B4-BE49-F238E27FC236}">
                <a16:creationId xmlns:a16="http://schemas.microsoft.com/office/drawing/2014/main" id="{31E943A1-C78F-4B97-8D84-3CA88005F5F7}"/>
              </a:ext>
            </a:extLst>
          </p:cNvPr>
          <p:cNvSpPr>
            <a:spLocks noGrp="1"/>
          </p:cNvSpPr>
          <p:nvPr>
            <p:ph idx="1"/>
          </p:nvPr>
        </p:nvSpPr>
        <p:spPr>
          <a:xfrm>
            <a:off x="381000" y="892920"/>
            <a:ext cx="8382000" cy="4752070"/>
          </a:xfrm>
        </p:spPr>
        <p:txBody>
          <a:bodyPr/>
          <a:lstStyle/>
          <a:p>
            <a:pPr algn="just"/>
            <a:r>
              <a:rPr lang="fr-FR" dirty="0">
                <a:solidFill>
                  <a:srgbClr val="FF0000"/>
                </a:solidFill>
                <a:latin typeface="Comic Sans MS" panose="030F0702030302020204" pitchFamily="66" charset="0"/>
              </a:rPr>
              <a:t>Types d’analyse de données :</a:t>
            </a:r>
          </a:p>
          <a:p>
            <a:pPr lvl="1" algn="just">
              <a:buFont typeface="Wingdings" panose="05000000000000000000" pitchFamily="2" charset="2"/>
              <a:buChar char="ü"/>
            </a:pPr>
            <a:r>
              <a:rPr lang="fr-FR" dirty="0">
                <a:latin typeface="Comic Sans MS" panose="030F0702030302020204" pitchFamily="66" charset="0"/>
              </a:rPr>
              <a:t>Analyse descriptive : que s’est-il passé ? (statistiques descriptives, tableaux de bord, rapports périodiques)</a:t>
            </a:r>
          </a:p>
          <a:p>
            <a:pPr lvl="1" algn="just">
              <a:buFont typeface="Wingdings" panose="05000000000000000000" pitchFamily="2" charset="2"/>
              <a:buChar char="ü"/>
            </a:pPr>
            <a:endParaRPr lang="fr-FR" dirty="0">
              <a:latin typeface="Comic Sans MS" panose="030F0702030302020204" pitchFamily="66" charset="0"/>
            </a:endParaRPr>
          </a:p>
          <a:p>
            <a:pPr lvl="1" algn="just">
              <a:buFont typeface="Wingdings" panose="05000000000000000000" pitchFamily="2" charset="2"/>
              <a:buChar char="ü"/>
            </a:pPr>
            <a:r>
              <a:rPr lang="fr-FR" dirty="0">
                <a:latin typeface="Comic Sans MS" panose="030F0702030302020204" pitchFamily="66" charset="0"/>
              </a:rPr>
              <a:t>Analyse diagnostique : pourquoi cela s’est-il produit ? (corrélations, segmentations)</a:t>
            </a:r>
          </a:p>
          <a:p>
            <a:pPr lvl="1" algn="just">
              <a:buFont typeface="Wingdings" panose="05000000000000000000" pitchFamily="2" charset="2"/>
              <a:buChar char="ü"/>
            </a:pPr>
            <a:endParaRPr lang="fr-FR" dirty="0">
              <a:latin typeface="Comic Sans MS" panose="030F0702030302020204" pitchFamily="66" charset="0"/>
            </a:endParaRPr>
          </a:p>
          <a:p>
            <a:pPr lvl="1" algn="just">
              <a:buFont typeface="Wingdings" panose="05000000000000000000" pitchFamily="2" charset="2"/>
              <a:buChar char="ü"/>
            </a:pPr>
            <a:r>
              <a:rPr lang="fr-FR" dirty="0">
                <a:latin typeface="Comic Sans MS" panose="030F0702030302020204" pitchFamily="66" charset="0"/>
              </a:rPr>
              <a:t>Analyse prédictive : que pourrait-il se passer ? (modèles de régressions, séries temporelles)</a:t>
            </a:r>
          </a:p>
        </p:txBody>
      </p:sp>
    </p:spTree>
    <p:extLst>
      <p:ext uri="{BB962C8B-B14F-4D97-AF65-F5344CB8AC3E}">
        <p14:creationId xmlns:p14="http://schemas.microsoft.com/office/powerpoint/2010/main" val="166668947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7ECD3-BB8E-F2CC-BF16-3E53C76A012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CDB7EF3-6E11-8222-9DFD-F721BEBBCE18}"/>
              </a:ext>
            </a:extLst>
          </p:cNvPr>
          <p:cNvSpPr>
            <a:spLocks noGrp="1"/>
          </p:cNvSpPr>
          <p:nvPr>
            <p:ph type="title"/>
          </p:nvPr>
        </p:nvSpPr>
        <p:spPr>
          <a:xfrm>
            <a:off x="381000" y="230188"/>
            <a:ext cx="8382000" cy="830997"/>
          </a:xfrm>
        </p:spPr>
        <p:txBody>
          <a:bodyPr/>
          <a:lstStyle/>
          <a:p>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INTODUCTION</a:t>
            </a:r>
            <a:endParaRPr lang="fr-TG" sz="6000" dirty="0">
              <a:solidFill>
                <a:schemeClr val="tx2"/>
              </a:solidFill>
              <a:latin typeface="Bauhaus 93" panose="04030905020B02020C02" pitchFamily="82" charset="0"/>
            </a:endParaRPr>
          </a:p>
        </p:txBody>
      </p:sp>
      <p:sp>
        <p:nvSpPr>
          <p:cNvPr id="3" name="Espace réservé du contenu 2">
            <a:extLst>
              <a:ext uri="{FF2B5EF4-FFF2-40B4-BE49-F238E27FC236}">
                <a16:creationId xmlns:a16="http://schemas.microsoft.com/office/drawing/2014/main" id="{CBB10AA7-5E5C-A552-9DAB-27B475E86556}"/>
              </a:ext>
            </a:extLst>
          </p:cNvPr>
          <p:cNvSpPr>
            <a:spLocks noGrp="1"/>
          </p:cNvSpPr>
          <p:nvPr>
            <p:ph idx="1"/>
          </p:nvPr>
        </p:nvSpPr>
        <p:spPr>
          <a:xfrm>
            <a:off x="381000" y="908720"/>
            <a:ext cx="8382000" cy="4842672"/>
          </a:xfrm>
        </p:spPr>
        <p:txBody>
          <a:bodyPr/>
          <a:lstStyle/>
          <a:p>
            <a:pPr algn="just"/>
            <a:r>
              <a:rPr lang="fr-FR" dirty="0">
                <a:solidFill>
                  <a:srgbClr val="FF0000"/>
                </a:solidFill>
                <a:latin typeface="Bodoni MT" panose="02070603080606020203" pitchFamily="18" charset="0"/>
              </a:rPr>
              <a:t>Collecte de données: que faut-il savoir</a:t>
            </a:r>
          </a:p>
          <a:p>
            <a:pPr lvl="1" algn="just">
              <a:buFont typeface="Wingdings" panose="05000000000000000000" pitchFamily="2" charset="2"/>
              <a:buChar char="ü"/>
            </a:pPr>
            <a:r>
              <a:rPr lang="fr-FR" dirty="0">
                <a:latin typeface="Bodoni MT" panose="02070603080606020203" pitchFamily="18" charset="0"/>
              </a:rPr>
              <a:t>Conception (identification des besoins, définition des objectifs, conception des outils, de l’échantillon, pré-test)</a:t>
            </a:r>
          </a:p>
          <a:p>
            <a:pPr marL="517525" lvl="1" indent="0" algn="just">
              <a:buNone/>
            </a:pPr>
            <a:endParaRPr lang="fr-FR" dirty="0">
              <a:latin typeface="Bodoni MT" panose="02070603080606020203" pitchFamily="18" charset="0"/>
            </a:endParaRPr>
          </a:p>
          <a:p>
            <a:pPr lvl="1" algn="just">
              <a:buFont typeface="Wingdings" panose="05000000000000000000" pitchFamily="2" charset="2"/>
              <a:buChar char="ü"/>
            </a:pPr>
            <a:r>
              <a:rPr lang="fr-FR" dirty="0">
                <a:latin typeface="Bodoni MT" panose="02070603080606020203" pitchFamily="18" charset="0"/>
              </a:rPr>
              <a:t>Formation et collecte</a:t>
            </a:r>
          </a:p>
          <a:p>
            <a:pPr marL="517525" lvl="1" indent="0" algn="just">
              <a:buNone/>
            </a:pPr>
            <a:endParaRPr lang="fr-FR" dirty="0">
              <a:latin typeface="Bodoni MT" panose="02070603080606020203" pitchFamily="18" charset="0"/>
            </a:endParaRPr>
          </a:p>
          <a:p>
            <a:pPr lvl="1" algn="just">
              <a:buFont typeface="Wingdings" panose="05000000000000000000" pitchFamily="2" charset="2"/>
              <a:buChar char="ü"/>
            </a:pPr>
            <a:r>
              <a:rPr lang="fr-FR" dirty="0">
                <a:latin typeface="Bodoni MT" panose="02070603080606020203" pitchFamily="18" charset="0"/>
              </a:rPr>
              <a:t>Apurements finaux et analyses</a:t>
            </a:r>
          </a:p>
          <a:p>
            <a:pPr marL="517525" lvl="1" indent="0" algn="just">
              <a:buNone/>
            </a:pPr>
            <a:r>
              <a:rPr lang="fr-FR" dirty="0">
                <a:solidFill>
                  <a:srgbClr val="0070C0"/>
                </a:solidFill>
                <a:latin typeface="Bodoni MT" panose="02070603080606020203" pitchFamily="18" charset="0"/>
              </a:rPr>
              <a:t>Exercice : concevoir un petit questionnaire pouvant nous permettre d’établir les profils des étudiants dans les différentes filières de l’UCAO</a:t>
            </a:r>
          </a:p>
        </p:txBody>
      </p:sp>
    </p:spTree>
    <p:extLst>
      <p:ext uri="{BB962C8B-B14F-4D97-AF65-F5344CB8AC3E}">
        <p14:creationId xmlns:p14="http://schemas.microsoft.com/office/powerpoint/2010/main" val="88743333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1163395"/>
          </a:xfrm>
        </p:spPr>
        <p:txBody>
          <a:bodyPr>
            <a:normAutofit/>
          </a:bodyPr>
          <a:lstStyle/>
          <a:p>
            <a:pPr algn="l" defTabSz="914400">
              <a:lnSpc>
                <a:spcPct val="90000"/>
              </a:lnSpc>
              <a:spcBef>
                <a:spcPts val="0"/>
              </a:spcBef>
              <a:buNone/>
            </a:pPr>
            <a:r>
              <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LES VARIABLES</a:t>
            </a:r>
          </a:p>
        </p:txBody>
      </p:sp>
      <mc:AlternateContent xmlns:mc="http://schemas.openxmlformats.org/markup-compatibility/2006" xmlns:a14="http://schemas.microsoft.com/office/drawing/2010/main">
        <mc:Choice Requires="a14">
          <p:sp>
            <p:nvSpPr>
              <p:cNvPr id="3" name="Text Placeholder 2"/>
              <p:cNvSpPr>
                <a:spLocks noGrp="1"/>
              </p:cNvSpPr>
              <p:nvPr>
                <p:ph type="body" sz="quarter" idx="10"/>
              </p:nvPr>
            </p:nvSpPr>
            <p:spPr>
              <a:xfrm>
                <a:off x="381000" y="1434176"/>
                <a:ext cx="8382000" cy="4661824"/>
              </a:xfrm>
            </p:spPr>
            <p:txBody>
              <a:bodyPr>
                <a:noAutofit/>
              </a:bodyPr>
              <a:lstStyle/>
              <a:p>
                <a:r>
                  <a:rPr lang="fr-FR" dirty="0">
                    <a:latin typeface="Bodoni MT Condensed" panose="02070606080606020203" pitchFamily="18" charset="0"/>
                  </a:rPr>
                  <a:t>On appelle variable statistique (ou caractère), une application définie sur une population étudiée </a:t>
                </a:r>
                <a14:m>
                  <m:oMath xmlns:m="http://schemas.openxmlformats.org/officeDocument/2006/math">
                    <m:r>
                      <a:rPr lang="fr-FR" i="1">
                        <a:latin typeface="Cambria Math" panose="02040503050406030204" pitchFamily="18" charset="0"/>
                      </a:rPr>
                      <m:t>(</m:t>
                    </m:r>
                    <m:r>
                      <m:rPr>
                        <m:sty m:val="p"/>
                      </m:rPr>
                      <a:rPr lang="fr-FR">
                        <a:latin typeface="Cambria Math" panose="02040503050406030204" pitchFamily="18" charset="0"/>
                      </a:rPr>
                      <m:t>Ω</m:t>
                    </m:r>
                    <m:r>
                      <a:rPr lang="fr-FR">
                        <a:latin typeface="Cambria Math" panose="02040503050406030204" pitchFamily="18" charset="0"/>
                      </a:rPr>
                      <m:t>)</m:t>
                    </m:r>
                  </m:oMath>
                </a14:m>
                <a:r>
                  <a:rPr lang="fr-FR" dirty="0">
                    <a:latin typeface="Bodoni MT Condensed" panose="02070606080606020203" pitchFamily="18" charset="0"/>
                  </a:rPr>
                  <a:t> et à valeurs dans un ensemble M appelé ensemble des modalités.</a:t>
                </a:r>
              </a:p>
              <a:p>
                <a:pPr marL="0" indent="0">
                  <a:buNone/>
                </a:pPr>
                <a:r>
                  <a:rPr lang="fr-FR" dirty="0">
                    <a:latin typeface="Bodoni MT Condensed" panose="02070606080606020203" pitchFamily="18" charset="0"/>
                  </a:rPr>
                  <a:t>Variable  </a:t>
                </a:r>
                <a14:m>
                  <m:oMath xmlns:m="http://schemas.openxmlformats.org/officeDocument/2006/math">
                    <m:r>
                      <a:rPr lang="fr-FR" i="1">
                        <a:latin typeface="Cambria Math" panose="02040503050406030204" pitchFamily="18" charset="0"/>
                      </a:rPr>
                      <m:t>𝑋</m:t>
                    </m:r>
                    <m:r>
                      <a:rPr lang="fr-FR" i="1">
                        <a:latin typeface="Cambria Math" panose="02040503050406030204" pitchFamily="18" charset="0"/>
                      </a:rPr>
                      <m:t>: ⟶</m:t>
                    </m:r>
                    <m:r>
                      <a:rPr lang="fr-FR" i="1">
                        <a:latin typeface="Cambria Math" panose="02040503050406030204" pitchFamily="18" charset="0"/>
                      </a:rPr>
                      <m:t>𝑀</m:t>
                    </m:r>
                  </m:oMath>
                </a14:m>
                <a:endParaRPr lang="fr-FR" dirty="0">
                  <a:latin typeface="Bodoni MT Condensed" panose="02070606080606020203" pitchFamily="18" charset="0"/>
                </a:endParaRPr>
              </a:p>
              <a:p>
                <a:pPr marL="0" indent="0">
                  <a:buNone/>
                </a:pPr>
                <a:r>
                  <a:rPr lang="fr-FR" dirty="0">
                    <a:latin typeface="Bodoni MT Condensed" panose="02070606080606020203" pitchFamily="18" charset="0"/>
                  </a:rPr>
                  <a:t>             </a:t>
                </a:r>
                <a14:m>
                  <m:oMath xmlns:m="http://schemas.openxmlformats.org/officeDocument/2006/math">
                    <m:sSub>
                      <m:sSubPr>
                        <m:ctrlPr>
                          <a:rPr lang="fr-FR" i="1">
                            <a:latin typeface="Cambria Math" panose="02040503050406030204" pitchFamily="18" charset="0"/>
                          </a:rPr>
                        </m:ctrlPr>
                      </m:sSubPr>
                      <m:e>
                        <m:r>
                          <a:rPr lang="fr-FR" i="1">
                            <a:latin typeface="Cambria Math" panose="02040503050406030204" pitchFamily="18" charset="0"/>
                          </a:rPr>
                          <m:t>𝑤</m:t>
                        </m:r>
                      </m:e>
                      <m:sub>
                        <m:r>
                          <a:rPr lang="fr-FR" i="1">
                            <a:latin typeface="Cambria Math" panose="02040503050406030204" pitchFamily="18" charset="0"/>
                          </a:rPr>
                          <m:t>𝑖</m:t>
                        </m:r>
                      </m:sub>
                    </m:sSub>
                    <m:r>
                      <a:rPr lang="fr-FR" i="1">
                        <a:latin typeface="Cambria Math" panose="02040503050406030204" pitchFamily="18" charset="0"/>
                      </a:rPr>
                      <m:t>⟶</m:t>
                    </m:r>
                    <m:r>
                      <a:rPr lang="fr-FR" i="1">
                        <a:latin typeface="Cambria Math" panose="02040503050406030204" pitchFamily="18" charset="0"/>
                      </a:rPr>
                      <m:t>𝑋</m:t>
                    </m:r>
                    <m:r>
                      <a:rPr lang="fr-FR" i="1">
                        <a:latin typeface="Cambria Math" panose="02040503050406030204" pitchFamily="18" charset="0"/>
                      </a:rPr>
                      <m:t>(</m:t>
                    </m:r>
                    <m:sSub>
                      <m:sSubPr>
                        <m:ctrlPr>
                          <a:rPr lang="fr-FR" i="1">
                            <a:latin typeface="Cambria Math" panose="02040503050406030204" pitchFamily="18" charset="0"/>
                          </a:rPr>
                        </m:ctrlPr>
                      </m:sSubPr>
                      <m:e>
                        <m:r>
                          <a:rPr lang="fr-FR" i="1">
                            <a:latin typeface="Cambria Math" panose="02040503050406030204" pitchFamily="18" charset="0"/>
                          </a:rPr>
                          <m:t>𝑤</m:t>
                        </m:r>
                      </m:e>
                      <m:sub>
                        <m:r>
                          <a:rPr lang="fr-FR" i="1">
                            <a:latin typeface="Cambria Math" panose="02040503050406030204" pitchFamily="18" charset="0"/>
                          </a:rPr>
                          <m:t>𝑖</m:t>
                        </m:r>
                      </m:sub>
                    </m:sSub>
                    <m:r>
                      <a:rPr lang="fr-FR" i="1">
                        <a:latin typeface="Cambria Math" panose="02040503050406030204" pitchFamily="18" charset="0"/>
                      </a:rPr>
                      <m:t>)</m:t>
                    </m:r>
                  </m:oMath>
                </a14:m>
                <a:endParaRPr lang="fr-FR" dirty="0">
                  <a:latin typeface="Bodoni MT Condensed" panose="02070606080606020203" pitchFamily="18" charset="0"/>
                </a:endParaRPr>
              </a:p>
              <a:p>
                <a:r>
                  <a:rPr lang="fr-FR" dirty="0">
                    <a:latin typeface="Bodoni MT Condensed" panose="02070606080606020203" pitchFamily="18" charset="0"/>
                  </a:rPr>
                  <a:t>L’ensemble des observations élémentaires est l’ensemble des modalités. </a:t>
                </a:r>
              </a:p>
              <a:p>
                <a:r>
                  <a:rPr lang="fr-FR" dirty="0">
                    <a:latin typeface="Bodoni MT Condensed" panose="02070606080606020203" pitchFamily="18" charset="0"/>
                  </a:rPr>
                  <a:t>En pratique, on parle parfois de caractères associés à la variable X ou plus simplement du caractère X ou encore variable X.</a:t>
                </a:r>
              </a:p>
              <a:p>
                <a:pPr marL="0" indent="0" algn="just" defTabSz="914400">
                  <a:lnSpc>
                    <a:spcPct val="83000"/>
                  </a:lnSpc>
                  <a:spcBef>
                    <a:spcPts val="768"/>
                  </a:spcBef>
                  <a:buClr>
                    <a:srgbClr val="000000"/>
                  </a:buClr>
                  <a:buNone/>
                </a:pPr>
                <a:endParaRPr lang="fr-FR" sz="3600" spc="-50" noProof="1">
                  <a:latin typeface="Bodoni MT Condensed" panose="02070606080606020203" pitchFamily="18"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sz="quarter" idx="10"/>
              </p:nvPr>
            </p:nvSpPr>
            <p:spPr>
              <a:xfrm>
                <a:off x="381000" y="1434176"/>
                <a:ext cx="8382000" cy="4661824"/>
              </a:xfrm>
              <a:blipFill>
                <a:blip r:embed="rId3"/>
                <a:stretch>
                  <a:fillRect l="-2982" t="-3791" r="-2618"/>
                </a:stretch>
              </a:blipFill>
            </p:spPr>
            <p:txBody>
              <a:bodyPr/>
              <a:lstStyle/>
              <a:p>
                <a:r>
                  <a:rPr lang="fr-FR">
                    <a:noFill/>
                  </a:rPr>
                  <a:t> </a:t>
                </a:r>
              </a:p>
            </p:txBody>
          </p:sp>
        </mc:Fallback>
      </mc:AlternateContent>
    </p:spTree>
    <p:extLst>
      <p:ext uri="{BB962C8B-B14F-4D97-AF65-F5344CB8AC3E}">
        <p14:creationId xmlns:p14="http://schemas.microsoft.com/office/powerpoint/2010/main" val="210212165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1163395"/>
          </a:xfrm>
        </p:spPr>
        <p:txBody>
          <a:bodyPr>
            <a:normAutofit/>
          </a:bodyPr>
          <a:lstStyle/>
          <a:p>
            <a:pPr algn="l" defTabSz="914400">
              <a:lnSpc>
                <a:spcPct val="90000"/>
              </a:lnSpc>
              <a:spcBef>
                <a:spcPts val="0"/>
              </a:spcBef>
              <a:buNone/>
            </a:pPr>
            <a:r>
              <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LES VARIABLES</a:t>
            </a:r>
          </a:p>
        </p:txBody>
      </p:sp>
      <p:sp>
        <p:nvSpPr>
          <p:cNvPr id="3" name="Text Placeholder 2"/>
          <p:cNvSpPr>
            <a:spLocks noGrp="1"/>
          </p:cNvSpPr>
          <p:nvPr>
            <p:ph type="body" sz="quarter" idx="10"/>
          </p:nvPr>
        </p:nvSpPr>
        <p:spPr>
          <a:xfrm>
            <a:off x="381000" y="1434176"/>
            <a:ext cx="8382000" cy="4661824"/>
          </a:xfrm>
        </p:spPr>
        <p:txBody>
          <a:bodyPr>
            <a:noAutofit/>
          </a:bodyPr>
          <a:lstStyle/>
          <a:p>
            <a:r>
              <a:rPr lang="fr-FR" dirty="0">
                <a:latin typeface="Bodoni MT Condensed" panose="02070606080606020203" pitchFamily="18" charset="0"/>
              </a:rPr>
              <a:t>Les variables peuvent être classées selon leur type et ce type dépend de la nature de l’ensemble des modalités.</a:t>
            </a:r>
          </a:p>
          <a:p>
            <a:pPr algn="just">
              <a:lnSpc>
                <a:spcPct val="100000"/>
              </a:lnSpc>
              <a:spcBef>
                <a:spcPts val="672"/>
              </a:spcBef>
              <a:buClr>
                <a:srgbClr val="000000"/>
              </a:buClr>
            </a:pPr>
            <a:r>
              <a:rPr lang="fr-FR" noProof="1">
                <a:solidFill>
                  <a:srgbClr val="00B0F0"/>
                </a:solidFill>
                <a:latin typeface="Bodoni MT Condensed" panose="02070606080606020203" pitchFamily="18" charset="0"/>
              </a:rPr>
              <a:t>Variable qualitative </a:t>
            </a:r>
            <a:r>
              <a:rPr lang="fr-FR" noProof="1">
                <a:latin typeface="Bodoni MT Condensed" panose="02070606080606020203" pitchFamily="18" charset="0"/>
              </a:rPr>
              <a:t>: Ensemble des modalités n’est pas un ensembe de  nombre</a:t>
            </a:r>
          </a:p>
          <a:p>
            <a:pPr lvl="1" algn="just">
              <a:lnSpc>
                <a:spcPct val="100000"/>
              </a:lnSpc>
              <a:spcBef>
                <a:spcPts val="672"/>
              </a:spcBef>
              <a:buClr>
                <a:srgbClr val="000000"/>
              </a:buClr>
            </a:pPr>
            <a:r>
              <a:rPr lang="fr-FR" noProof="1">
                <a:latin typeface="Bodoni MT Condensed" panose="02070606080606020203" pitchFamily="18" charset="0"/>
              </a:rPr>
              <a:t>2 Types de variable qualitatives</a:t>
            </a:r>
          </a:p>
          <a:p>
            <a:pPr lvl="2" algn="just">
              <a:lnSpc>
                <a:spcPct val="100000"/>
              </a:lnSpc>
              <a:spcBef>
                <a:spcPts val="672"/>
              </a:spcBef>
              <a:buClr>
                <a:srgbClr val="000000"/>
              </a:buClr>
            </a:pPr>
            <a:r>
              <a:rPr lang="fr-FR" noProof="1">
                <a:solidFill>
                  <a:srgbClr val="00B0F0"/>
                </a:solidFill>
                <a:latin typeface="Bodoni MT Condensed" panose="02070606080606020203" pitchFamily="18" charset="0"/>
              </a:rPr>
              <a:t>Ordinale</a:t>
            </a:r>
            <a:r>
              <a:rPr lang="fr-FR" noProof="1">
                <a:latin typeface="Bodoni MT Condensed" panose="02070606080606020203" pitchFamily="18" charset="0"/>
              </a:rPr>
              <a:t>: Mention au BAC (Passable, Assez bien, Bien, Très bien), Niveau d’étude (CEPD, BEPC, BAC, Licence, etc,)</a:t>
            </a:r>
          </a:p>
          <a:p>
            <a:pPr lvl="2" algn="just">
              <a:lnSpc>
                <a:spcPct val="100000"/>
              </a:lnSpc>
              <a:spcBef>
                <a:spcPts val="672"/>
              </a:spcBef>
              <a:buClr>
                <a:srgbClr val="000000"/>
              </a:buClr>
            </a:pPr>
            <a:r>
              <a:rPr lang="fr-FR" noProof="1">
                <a:solidFill>
                  <a:srgbClr val="00B0F0"/>
                </a:solidFill>
                <a:latin typeface="Bodoni MT Condensed" panose="02070606080606020203" pitchFamily="18" charset="0"/>
              </a:rPr>
              <a:t>Nominale</a:t>
            </a:r>
            <a:r>
              <a:rPr lang="fr-FR" noProof="1">
                <a:latin typeface="Bodoni MT Condensed" panose="02070606080606020203" pitchFamily="18" charset="0"/>
              </a:rPr>
              <a:t>: Sexe (Masculin, Féminin), Couleur de la peau (Noir, blanc, rouge, jaune)</a:t>
            </a:r>
          </a:p>
          <a:p>
            <a:pPr marL="0" indent="0" algn="just" defTabSz="914400">
              <a:lnSpc>
                <a:spcPct val="83000"/>
              </a:lnSpc>
              <a:spcBef>
                <a:spcPts val="768"/>
              </a:spcBef>
              <a:buClr>
                <a:srgbClr val="000000"/>
              </a:buClr>
              <a:buNone/>
            </a:pPr>
            <a:endParaRPr lang="fr-FR" sz="3600" spc="-50" noProof="1">
              <a:latin typeface="Bodoni MT Condensed" panose="02070606080606020203" pitchFamily="18" charset="0"/>
            </a:endParaRPr>
          </a:p>
        </p:txBody>
      </p:sp>
    </p:spTree>
    <p:extLst>
      <p:ext uri="{BB962C8B-B14F-4D97-AF65-F5344CB8AC3E}">
        <p14:creationId xmlns:p14="http://schemas.microsoft.com/office/powerpoint/2010/main" val="219772053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1163395"/>
          </a:xfrm>
        </p:spPr>
        <p:txBody>
          <a:bodyPr>
            <a:normAutofit/>
          </a:bodyPr>
          <a:lstStyle/>
          <a:p>
            <a:pPr algn="l" defTabSz="914400">
              <a:lnSpc>
                <a:spcPct val="90000"/>
              </a:lnSpc>
              <a:spcBef>
                <a:spcPts val="0"/>
              </a:spcBef>
              <a:buNone/>
            </a:pPr>
            <a:r>
              <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LES VARIABLES</a:t>
            </a:r>
          </a:p>
        </p:txBody>
      </p:sp>
      <p:sp>
        <p:nvSpPr>
          <p:cNvPr id="3" name="Text Placeholder 2"/>
          <p:cNvSpPr>
            <a:spLocks noGrp="1"/>
          </p:cNvSpPr>
          <p:nvPr>
            <p:ph type="body" sz="quarter" idx="10"/>
          </p:nvPr>
        </p:nvSpPr>
        <p:spPr>
          <a:xfrm>
            <a:off x="381000" y="1434176"/>
            <a:ext cx="8382000" cy="4661824"/>
          </a:xfrm>
        </p:spPr>
        <p:txBody>
          <a:bodyPr>
            <a:noAutofit/>
          </a:bodyPr>
          <a:lstStyle/>
          <a:p>
            <a:pPr algn="just">
              <a:lnSpc>
                <a:spcPct val="100000"/>
              </a:lnSpc>
              <a:spcBef>
                <a:spcPts val="672"/>
              </a:spcBef>
              <a:buClr>
                <a:srgbClr val="000000"/>
              </a:buClr>
            </a:pPr>
            <a:r>
              <a:rPr lang="fr-FR" noProof="1">
                <a:solidFill>
                  <a:srgbClr val="00B0F0"/>
                </a:solidFill>
                <a:latin typeface="Bodoni MT Condensed" panose="02070606080606020203" pitchFamily="18" charset="0"/>
              </a:rPr>
              <a:t>Variale quantitative</a:t>
            </a:r>
            <a:r>
              <a:rPr lang="fr-FR" noProof="1">
                <a:latin typeface="Bodoni MT Condensed" panose="02070606080606020203" pitchFamily="18" charset="0"/>
              </a:rPr>
              <a:t>: Ensemble des modalités est un ensembe de  nombre</a:t>
            </a:r>
          </a:p>
          <a:p>
            <a:pPr lvl="1" algn="just">
              <a:lnSpc>
                <a:spcPct val="100000"/>
              </a:lnSpc>
              <a:spcBef>
                <a:spcPts val="672"/>
              </a:spcBef>
              <a:buClr>
                <a:srgbClr val="000000"/>
              </a:buClr>
            </a:pPr>
            <a:r>
              <a:rPr lang="fr-FR" noProof="1">
                <a:solidFill>
                  <a:srgbClr val="00B0F0"/>
                </a:solidFill>
                <a:latin typeface="Bodoni MT Condensed" panose="02070606080606020203" pitchFamily="18" charset="0"/>
              </a:rPr>
              <a:t>Discrète</a:t>
            </a:r>
            <a:r>
              <a:rPr lang="fr-FR" noProof="1">
                <a:latin typeface="Bodoni MT Condensed" panose="02070606080606020203" pitchFamily="18" charset="0"/>
              </a:rPr>
              <a:t>: Ensemble fini de valeurs</a:t>
            </a:r>
          </a:p>
          <a:p>
            <a:pPr lvl="2" algn="just">
              <a:lnSpc>
                <a:spcPct val="100000"/>
              </a:lnSpc>
              <a:spcBef>
                <a:spcPts val="672"/>
              </a:spcBef>
              <a:buClr>
                <a:srgbClr val="000000"/>
              </a:buClr>
            </a:pPr>
            <a:r>
              <a:rPr lang="fr-FR" noProof="1">
                <a:latin typeface="Bodoni MT Condensed" panose="02070606080606020203" pitchFamily="18" charset="0"/>
              </a:rPr>
              <a:t>Exemple: Le nombre délèves dans une classe, le nombre de membres d’un ménage</a:t>
            </a:r>
          </a:p>
          <a:p>
            <a:pPr lvl="1" algn="just">
              <a:lnSpc>
                <a:spcPct val="100000"/>
              </a:lnSpc>
              <a:spcBef>
                <a:spcPts val="672"/>
              </a:spcBef>
              <a:buClr>
                <a:srgbClr val="000000"/>
              </a:buClr>
            </a:pPr>
            <a:r>
              <a:rPr lang="fr-FR" noProof="1">
                <a:solidFill>
                  <a:srgbClr val="00B0F0"/>
                </a:solidFill>
                <a:latin typeface="Bodoni MT Condensed" panose="02070606080606020203" pitchFamily="18" charset="0"/>
              </a:rPr>
              <a:t>Continue</a:t>
            </a:r>
            <a:r>
              <a:rPr lang="fr-FR" noProof="1">
                <a:latin typeface="Bodoni MT Condensed" panose="02070606080606020203" pitchFamily="18" charset="0"/>
              </a:rPr>
              <a:t>: Infinité de valeurs</a:t>
            </a:r>
          </a:p>
          <a:p>
            <a:pPr lvl="3" algn="just">
              <a:lnSpc>
                <a:spcPct val="100000"/>
              </a:lnSpc>
              <a:spcBef>
                <a:spcPts val="672"/>
              </a:spcBef>
              <a:buClr>
                <a:srgbClr val="000000"/>
              </a:buClr>
            </a:pPr>
            <a:r>
              <a:rPr lang="fr-FR" spc="-50" noProof="1">
                <a:latin typeface="Bodoni MT Condensed" panose="02070606080606020203" pitchFamily="18" charset="0"/>
              </a:rPr>
              <a:t>Exemple: Temps de réalisation d’une tâche, la taille ou le poids d’une personne, l’âge, la vitesse d’une voiture</a:t>
            </a:r>
          </a:p>
        </p:txBody>
      </p:sp>
    </p:spTree>
    <p:extLst>
      <p:ext uri="{BB962C8B-B14F-4D97-AF65-F5344CB8AC3E}">
        <p14:creationId xmlns:p14="http://schemas.microsoft.com/office/powerpoint/2010/main" val="135924732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1163395"/>
          </a:xfrm>
        </p:spPr>
        <p:txBody>
          <a:bodyPr>
            <a:normAutofit/>
          </a:bodyPr>
          <a:lstStyle/>
          <a:p>
            <a:pPr algn="l" defTabSz="914400">
              <a:lnSpc>
                <a:spcPct val="90000"/>
              </a:lnSpc>
              <a:spcBef>
                <a:spcPts val="0"/>
              </a:spcBef>
              <a:buNone/>
            </a:pPr>
            <a:r>
              <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LES VARIABLES</a:t>
            </a:r>
          </a:p>
        </p:txBody>
      </p:sp>
      <p:sp>
        <p:nvSpPr>
          <p:cNvPr id="3" name="Text Placeholder 2"/>
          <p:cNvSpPr>
            <a:spLocks noGrp="1"/>
          </p:cNvSpPr>
          <p:nvPr>
            <p:ph type="body" sz="quarter" idx="10"/>
          </p:nvPr>
        </p:nvSpPr>
        <p:spPr>
          <a:xfrm>
            <a:off x="381000" y="1434176"/>
            <a:ext cx="8382000" cy="4661824"/>
          </a:xfrm>
        </p:spPr>
        <p:txBody>
          <a:bodyPr>
            <a:noAutofit/>
          </a:bodyPr>
          <a:lstStyle/>
          <a:p>
            <a:pPr lvl="1" algn="just">
              <a:lnSpc>
                <a:spcPct val="100000"/>
              </a:lnSpc>
              <a:spcBef>
                <a:spcPts val="672"/>
              </a:spcBef>
              <a:buClr>
                <a:srgbClr val="000000"/>
              </a:buClr>
            </a:pPr>
            <a:r>
              <a:rPr lang="fr-FR" noProof="1">
                <a:latin typeface="Bodoni MT Condensed" panose="02070606080606020203" pitchFamily="18" charset="0"/>
              </a:rPr>
              <a:t>Quelques outils de Statistique descriptive : tableaux, graphiques, caractéristques de tendance centrale</a:t>
            </a:r>
          </a:p>
          <a:p>
            <a:pPr lvl="1" algn="just">
              <a:lnSpc>
                <a:spcPct val="100000"/>
              </a:lnSpc>
              <a:spcBef>
                <a:spcPts val="672"/>
              </a:spcBef>
              <a:buClr>
                <a:srgbClr val="000000"/>
              </a:buClr>
            </a:pPr>
            <a:r>
              <a:rPr lang="fr-FR" b="0" i="0" noProof="1">
                <a:solidFill>
                  <a:srgbClr val="000000"/>
                </a:solidFill>
                <a:latin typeface="Bodoni MT Condensed" panose="02070606080606020203" pitchFamily="18" charset="0"/>
              </a:rPr>
              <a:t>La </a:t>
            </a:r>
            <a:r>
              <a:rPr lang="fr-FR" noProof="1">
                <a:solidFill>
                  <a:srgbClr val="000000"/>
                </a:solidFill>
                <a:latin typeface="Bodoni MT Condensed" panose="02070606080606020203" pitchFamily="18" charset="0"/>
              </a:rPr>
              <a:t>nature de la variable est déterminante dans le choix de l’outil</a:t>
            </a:r>
            <a:endParaRPr lang="fr-FR" b="0" i="0" noProof="1">
              <a:solidFill>
                <a:srgbClr val="000000"/>
              </a:solidFill>
              <a:latin typeface="Bodoni MT Condensed" panose="02070606080606020203" pitchFamily="18" charset="0"/>
            </a:endParaRPr>
          </a:p>
        </p:txBody>
      </p:sp>
    </p:spTree>
    <p:extLst>
      <p:ext uri="{BB962C8B-B14F-4D97-AF65-F5344CB8AC3E}">
        <p14:creationId xmlns:p14="http://schemas.microsoft.com/office/powerpoint/2010/main" val="425884469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1163395"/>
          </a:xfrm>
        </p:spPr>
        <p:txBody>
          <a:bodyPr>
            <a:normAutofit/>
          </a:bodyPr>
          <a:lstStyle/>
          <a:p>
            <a:pPr algn="l" defTabSz="914400">
              <a:lnSpc>
                <a:spcPct val="90000"/>
              </a:lnSpc>
              <a:spcBef>
                <a:spcPts val="0"/>
              </a:spcBef>
              <a:buNone/>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Graphiques</a:t>
            </a:r>
            <a:endPar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endParaRPr>
          </a:p>
        </p:txBody>
      </p:sp>
      <p:sp>
        <p:nvSpPr>
          <p:cNvPr id="3" name="Text Placeholder 2"/>
          <p:cNvSpPr>
            <a:spLocks noGrp="1"/>
          </p:cNvSpPr>
          <p:nvPr>
            <p:ph type="body" sz="quarter" idx="10"/>
          </p:nvPr>
        </p:nvSpPr>
        <p:spPr>
          <a:xfrm>
            <a:off x="381000" y="1434176"/>
            <a:ext cx="8382000" cy="4661824"/>
          </a:xfrm>
        </p:spPr>
        <p:txBody>
          <a:bodyPr>
            <a:noAutofit/>
          </a:bodyPr>
          <a:lstStyle/>
          <a:p>
            <a:pPr algn="just">
              <a:lnSpc>
                <a:spcPct val="100000"/>
              </a:lnSpc>
              <a:spcBef>
                <a:spcPts val="672"/>
              </a:spcBef>
              <a:buClr>
                <a:srgbClr val="000000"/>
              </a:buClr>
            </a:pPr>
            <a:r>
              <a:rPr lang="fr-FR" noProof="1">
                <a:latin typeface="Bodoni MT Condensed" panose="02070606080606020203" pitchFamily="18" charset="0"/>
              </a:rPr>
              <a:t>La nature de la variable indique le choix du graphique</a:t>
            </a:r>
          </a:p>
          <a:p>
            <a:pPr lvl="1" algn="just">
              <a:lnSpc>
                <a:spcPct val="100000"/>
              </a:lnSpc>
              <a:spcBef>
                <a:spcPts val="672"/>
              </a:spcBef>
              <a:buClr>
                <a:srgbClr val="000000"/>
              </a:buClr>
            </a:pPr>
            <a:r>
              <a:rPr lang="fr-FR" noProof="1">
                <a:solidFill>
                  <a:srgbClr val="00B0F0"/>
                </a:solidFill>
                <a:latin typeface="Bodoni MT Condensed" panose="02070606080606020203" pitchFamily="18" charset="0"/>
              </a:rPr>
              <a:t>Qualitative </a:t>
            </a:r>
            <a:r>
              <a:rPr lang="fr-FR" noProof="1">
                <a:latin typeface="Bodoni MT Condensed" panose="02070606080606020203" pitchFamily="18" charset="0"/>
              </a:rPr>
              <a:t>: 2 types de graphiques généralement admis</a:t>
            </a:r>
          </a:p>
          <a:p>
            <a:pPr lvl="2" algn="just">
              <a:lnSpc>
                <a:spcPct val="100000"/>
              </a:lnSpc>
              <a:spcBef>
                <a:spcPts val="672"/>
              </a:spcBef>
              <a:buClr>
                <a:srgbClr val="000000"/>
              </a:buClr>
            </a:pPr>
            <a:r>
              <a:rPr lang="fr-FR" noProof="1">
                <a:latin typeface="Bodoni MT Condensed" panose="02070606080606020203" pitchFamily="18" charset="0"/>
              </a:rPr>
              <a:t>Diagramme circulaire</a:t>
            </a: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p:txBody>
      </p:sp>
      <p:graphicFrame>
        <p:nvGraphicFramePr>
          <p:cNvPr id="6" name="Graphique 5">
            <a:extLst>
              <a:ext uri="{FF2B5EF4-FFF2-40B4-BE49-F238E27FC236}">
                <a16:creationId xmlns:a16="http://schemas.microsoft.com/office/drawing/2014/main" id="{C3862695-7D96-4E05-AE10-B5A98687E917}"/>
              </a:ext>
            </a:extLst>
          </p:cNvPr>
          <p:cNvGraphicFramePr>
            <a:graphicFrameLocks/>
          </p:cNvGraphicFramePr>
          <p:nvPr>
            <p:extLst>
              <p:ext uri="{D42A27DB-BD31-4B8C-83A1-F6EECF244321}">
                <p14:modId xmlns:p14="http://schemas.microsoft.com/office/powerpoint/2010/main" val="58497763"/>
              </p:ext>
            </p:extLst>
          </p:nvPr>
        </p:nvGraphicFramePr>
        <p:xfrm>
          <a:off x="1259632" y="2852936"/>
          <a:ext cx="5256584" cy="309634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2436635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3984" y="152401"/>
            <a:ext cx="8399015" cy="609599"/>
          </a:xfrm>
        </p:spPr>
        <p:txBody>
          <a:bodyPr>
            <a:normAutofit fontScale="90000"/>
          </a:bodyPr>
          <a:lstStyle/>
          <a:p>
            <a:pPr algn="l" defTabSz="914400">
              <a:lnSpc>
                <a:spcPct val="90000"/>
              </a:lnSpc>
              <a:spcBef>
                <a:spcPts val="0"/>
              </a:spcBef>
              <a:buNone/>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Graphiques</a:t>
            </a:r>
            <a:endPar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endParaRPr>
          </a:p>
        </p:txBody>
      </p:sp>
      <p:sp>
        <p:nvSpPr>
          <p:cNvPr id="3" name="Text Placeholder 2"/>
          <p:cNvSpPr>
            <a:spLocks noGrp="1"/>
          </p:cNvSpPr>
          <p:nvPr>
            <p:ph type="body" sz="quarter" idx="10"/>
          </p:nvPr>
        </p:nvSpPr>
        <p:spPr>
          <a:xfrm>
            <a:off x="381000" y="1434176"/>
            <a:ext cx="8382000" cy="4661824"/>
          </a:xfrm>
        </p:spPr>
        <p:txBody>
          <a:bodyPr>
            <a:noAutofit/>
          </a:bodyPr>
          <a:lstStyle/>
          <a:p>
            <a:pPr lvl="2" algn="just">
              <a:lnSpc>
                <a:spcPct val="100000"/>
              </a:lnSpc>
              <a:spcBef>
                <a:spcPts val="672"/>
              </a:spcBef>
              <a:buClr>
                <a:srgbClr val="000000"/>
              </a:buClr>
            </a:pPr>
            <a:r>
              <a:rPr lang="fr-FR" noProof="1">
                <a:latin typeface="Bodoni MT Condensed" panose="02070606080606020203" pitchFamily="18" charset="0"/>
              </a:rPr>
              <a:t>Le Diagramme à bandes ou à barres</a:t>
            </a: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p:txBody>
      </p:sp>
      <p:graphicFrame>
        <p:nvGraphicFramePr>
          <p:cNvPr id="5" name="Graphique 4">
            <a:extLst>
              <a:ext uri="{FF2B5EF4-FFF2-40B4-BE49-F238E27FC236}">
                <a16:creationId xmlns:a16="http://schemas.microsoft.com/office/drawing/2014/main" id="{E825AD0B-CEFF-4D32-ABFF-5C7567900911}"/>
              </a:ext>
            </a:extLst>
          </p:cNvPr>
          <p:cNvGraphicFramePr>
            <a:graphicFrameLocks/>
          </p:cNvGraphicFramePr>
          <p:nvPr>
            <p:extLst>
              <p:ext uri="{D42A27DB-BD31-4B8C-83A1-F6EECF244321}">
                <p14:modId xmlns:p14="http://schemas.microsoft.com/office/powerpoint/2010/main" val="2966142347"/>
              </p:ext>
            </p:extLst>
          </p:nvPr>
        </p:nvGraphicFramePr>
        <p:xfrm>
          <a:off x="1835696" y="2007870"/>
          <a:ext cx="3960440" cy="322133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569215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1163395"/>
          </a:xfrm>
        </p:spPr>
        <p:txBody>
          <a:bodyPr>
            <a:normAutofit/>
          </a:bodyPr>
          <a:lstStyle/>
          <a:p>
            <a:pPr algn="l" defTabSz="914400">
              <a:lnSpc>
                <a:spcPct val="90000"/>
              </a:lnSpc>
              <a:spcBef>
                <a:spcPts val="0"/>
              </a:spcBef>
              <a:buNone/>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Graphiques</a:t>
            </a:r>
            <a:endPar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endParaRPr>
          </a:p>
        </p:txBody>
      </p:sp>
      <p:sp>
        <p:nvSpPr>
          <p:cNvPr id="3" name="Text Placeholder 2"/>
          <p:cNvSpPr>
            <a:spLocks noGrp="1"/>
          </p:cNvSpPr>
          <p:nvPr>
            <p:ph type="body" sz="quarter" idx="10"/>
          </p:nvPr>
        </p:nvSpPr>
        <p:spPr>
          <a:xfrm>
            <a:off x="381000" y="1434176"/>
            <a:ext cx="8382000" cy="4661824"/>
          </a:xfrm>
        </p:spPr>
        <p:txBody>
          <a:bodyPr>
            <a:noAutofit/>
          </a:bodyPr>
          <a:lstStyle/>
          <a:p>
            <a:pPr algn="just">
              <a:lnSpc>
                <a:spcPct val="100000"/>
              </a:lnSpc>
              <a:spcBef>
                <a:spcPts val="672"/>
              </a:spcBef>
              <a:buClr>
                <a:srgbClr val="000000"/>
              </a:buClr>
            </a:pPr>
            <a:r>
              <a:rPr lang="fr-FR" noProof="1">
                <a:latin typeface="Bodoni MT Condensed" panose="02070606080606020203" pitchFamily="18" charset="0"/>
              </a:rPr>
              <a:t>La nature de la variable indique le choix du graphique</a:t>
            </a:r>
          </a:p>
          <a:p>
            <a:pPr lvl="1" algn="just">
              <a:lnSpc>
                <a:spcPct val="100000"/>
              </a:lnSpc>
              <a:spcBef>
                <a:spcPts val="672"/>
              </a:spcBef>
              <a:buClr>
                <a:srgbClr val="000000"/>
              </a:buClr>
            </a:pPr>
            <a:r>
              <a:rPr lang="fr-FR" noProof="1">
                <a:solidFill>
                  <a:srgbClr val="00B0F0"/>
                </a:solidFill>
                <a:latin typeface="Bodoni MT Condensed" panose="02070606080606020203" pitchFamily="18" charset="0"/>
              </a:rPr>
              <a:t>Quantitative discrète</a:t>
            </a:r>
          </a:p>
          <a:p>
            <a:pPr lvl="2" algn="just">
              <a:lnSpc>
                <a:spcPct val="100000"/>
              </a:lnSpc>
              <a:spcBef>
                <a:spcPts val="672"/>
              </a:spcBef>
              <a:buClr>
                <a:srgbClr val="000000"/>
              </a:buClr>
            </a:pPr>
            <a:r>
              <a:rPr lang="fr-FR" noProof="1">
                <a:latin typeface="Bodoni MT Condensed" panose="02070606080606020203" pitchFamily="18" charset="0"/>
              </a:rPr>
              <a:t>Diagramme en bâtons  </a:t>
            </a:r>
          </a:p>
          <a:p>
            <a:pPr lvl="2" algn="just">
              <a:lnSpc>
                <a:spcPct val="100000"/>
              </a:lnSpc>
              <a:spcBef>
                <a:spcPts val="672"/>
              </a:spcBef>
              <a:buClr>
                <a:srgbClr val="000000"/>
              </a:buClr>
            </a:pPr>
            <a:r>
              <a:rPr lang="fr-FR" noProof="1">
                <a:latin typeface="Bodoni MT Condensed" panose="02070606080606020203" pitchFamily="18" charset="0"/>
              </a:rPr>
              <a:t>Digramme circulaire</a:t>
            </a:r>
          </a:p>
          <a:p>
            <a:pPr lvl="1" algn="just">
              <a:lnSpc>
                <a:spcPct val="100000"/>
              </a:lnSpc>
              <a:spcBef>
                <a:spcPts val="672"/>
              </a:spcBef>
              <a:buClr>
                <a:srgbClr val="000000"/>
              </a:buClr>
            </a:pPr>
            <a:r>
              <a:rPr lang="fr-FR" noProof="1">
                <a:solidFill>
                  <a:srgbClr val="00B0F0"/>
                </a:solidFill>
                <a:latin typeface="Bodoni MT Condensed" panose="02070606080606020203" pitchFamily="18" charset="0"/>
              </a:rPr>
              <a:t>Quantitative Continue</a:t>
            </a:r>
          </a:p>
          <a:p>
            <a:pPr lvl="2" algn="just">
              <a:lnSpc>
                <a:spcPct val="100000"/>
              </a:lnSpc>
              <a:spcBef>
                <a:spcPts val="672"/>
              </a:spcBef>
              <a:buClr>
                <a:srgbClr val="000000"/>
              </a:buClr>
            </a:pPr>
            <a:r>
              <a:rPr lang="fr-FR" noProof="1">
                <a:latin typeface="Bodoni MT Condensed" panose="02070606080606020203" pitchFamily="18" charset="0"/>
              </a:rPr>
              <a:t>Histogramme</a:t>
            </a:r>
          </a:p>
          <a:p>
            <a:pPr lvl="2" algn="just">
              <a:lnSpc>
                <a:spcPct val="100000"/>
              </a:lnSpc>
              <a:spcBef>
                <a:spcPts val="672"/>
              </a:spcBef>
              <a:buClr>
                <a:srgbClr val="000000"/>
              </a:buClr>
            </a:pPr>
            <a:r>
              <a:rPr lang="fr-FR" noProof="1">
                <a:latin typeface="Bodoni MT Condensed" panose="02070606080606020203" pitchFamily="18" charset="0"/>
              </a:rPr>
              <a:t>Courbes de fréquence cumulée</a:t>
            </a: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p:txBody>
      </p:sp>
    </p:spTree>
    <p:extLst>
      <p:ext uri="{BB962C8B-B14F-4D97-AF65-F5344CB8AC3E}">
        <p14:creationId xmlns:p14="http://schemas.microsoft.com/office/powerpoint/2010/main" val="154376678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1163395"/>
          </a:xfrm>
        </p:spPr>
        <p:txBody>
          <a:bodyPr>
            <a:noAutofit/>
          </a:bodyPr>
          <a:lstStyle/>
          <a:p>
            <a:pPr algn="just" defTabSz="914400">
              <a:lnSpc>
                <a:spcPct val="90000"/>
              </a:lnSpc>
              <a:spcBef>
                <a:spcPts val="0"/>
              </a:spcBef>
              <a:buNone/>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Tendances centrales</a:t>
            </a:r>
            <a:endPar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endParaRPr>
          </a:p>
        </p:txBody>
      </p:sp>
      <p:sp>
        <p:nvSpPr>
          <p:cNvPr id="3" name="Text Placeholder 2"/>
          <p:cNvSpPr>
            <a:spLocks noGrp="1"/>
          </p:cNvSpPr>
          <p:nvPr>
            <p:ph type="body" sz="quarter" idx="10"/>
          </p:nvPr>
        </p:nvSpPr>
        <p:spPr>
          <a:xfrm>
            <a:off x="381000" y="1098088"/>
            <a:ext cx="8382000" cy="4661824"/>
          </a:xfrm>
        </p:spPr>
        <p:txBody>
          <a:bodyPr>
            <a:noAutofit/>
          </a:bodyPr>
          <a:lstStyle/>
          <a:p>
            <a:pPr algn="just">
              <a:lnSpc>
                <a:spcPct val="100000"/>
              </a:lnSpc>
              <a:spcBef>
                <a:spcPts val="672"/>
              </a:spcBef>
              <a:buClr>
                <a:srgbClr val="000000"/>
              </a:buClr>
            </a:pPr>
            <a:r>
              <a:rPr lang="fr-FR" noProof="1">
                <a:solidFill>
                  <a:srgbClr val="00B0F0"/>
                </a:solidFill>
                <a:latin typeface="Bodoni MT Condensed" panose="02070606080606020203" pitchFamily="18" charset="0"/>
              </a:rPr>
              <a:t>Mode: </a:t>
            </a:r>
            <a:r>
              <a:rPr lang="fr-FR" noProof="1">
                <a:latin typeface="Bodoni MT Condensed" panose="02070606080606020203" pitchFamily="18" charset="0"/>
              </a:rPr>
              <a:t>valeur de la variable pour laquelle la fréquence relative est la plus élevé</a:t>
            </a:r>
          </a:p>
          <a:p>
            <a:pPr lvl="1" algn="just">
              <a:lnSpc>
                <a:spcPct val="100000"/>
              </a:lnSpc>
              <a:spcBef>
                <a:spcPts val="672"/>
              </a:spcBef>
              <a:buClr>
                <a:srgbClr val="000000"/>
              </a:buClr>
            </a:pPr>
            <a:r>
              <a:rPr lang="fr-FR" noProof="1">
                <a:latin typeface="Bodoni MT Condensed" panose="02070606080606020203" pitchFamily="18" charset="0"/>
              </a:rPr>
              <a:t>Calculable pour tout type de variable</a:t>
            </a:r>
          </a:p>
          <a:p>
            <a:pPr algn="just">
              <a:lnSpc>
                <a:spcPct val="100000"/>
              </a:lnSpc>
              <a:spcBef>
                <a:spcPts val="672"/>
              </a:spcBef>
              <a:buClr>
                <a:srgbClr val="000000"/>
              </a:buClr>
            </a:pPr>
            <a:r>
              <a:rPr lang="fr-FR" noProof="1">
                <a:solidFill>
                  <a:srgbClr val="00B0F0"/>
                </a:solidFill>
                <a:latin typeface="Bodoni MT Condensed" panose="02070606080606020203" pitchFamily="18" charset="0"/>
              </a:rPr>
              <a:t>Médiane</a:t>
            </a:r>
            <a:r>
              <a:rPr lang="fr-FR" noProof="1">
                <a:latin typeface="Bodoni MT Condensed" panose="02070606080606020203" pitchFamily="18" charset="0"/>
              </a:rPr>
              <a:t> : valeur du caractère qui partage  la série  des ensembles en 2 ensembles d’effectifs égaux</a:t>
            </a:r>
          </a:p>
          <a:p>
            <a:pPr lvl="1" algn="just">
              <a:lnSpc>
                <a:spcPct val="100000"/>
              </a:lnSpc>
              <a:spcBef>
                <a:spcPts val="672"/>
              </a:spcBef>
              <a:buClr>
                <a:srgbClr val="000000"/>
              </a:buClr>
            </a:pPr>
            <a:r>
              <a:rPr lang="fr-FR" noProof="1">
                <a:latin typeface="Bodoni MT Condensed" panose="02070606080606020203" pitchFamily="18" charset="0"/>
              </a:rPr>
              <a:t>Calculable pour les variables quantitatives uniquement</a:t>
            </a:r>
          </a:p>
          <a:p>
            <a:pPr algn="just">
              <a:lnSpc>
                <a:spcPct val="100000"/>
              </a:lnSpc>
              <a:spcBef>
                <a:spcPts val="672"/>
              </a:spcBef>
              <a:buClr>
                <a:srgbClr val="000000"/>
              </a:buClr>
            </a:pPr>
            <a:r>
              <a:rPr lang="fr-FR" noProof="1">
                <a:solidFill>
                  <a:srgbClr val="00B0F0"/>
                </a:solidFill>
                <a:latin typeface="Bodoni MT Condensed" panose="02070606080606020203" pitchFamily="18" charset="0"/>
              </a:rPr>
              <a:t>Moyenne</a:t>
            </a:r>
            <a:r>
              <a:rPr lang="fr-FR" noProof="1">
                <a:latin typeface="Bodoni MT Condensed" panose="02070606080606020203" pitchFamily="18" charset="0"/>
              </a:rPr>
              <a:t>: somme des données divisée par leur nombre</a:t>
            </a:r>
          </a:p>
          <a:p>
            <a:pPr lvl="1" algn="just">
              <a:lnSpc>
                <a:spcPct val="100000"/>
              </a:lnSpc>
              <a:spcBef>
                <a:spcPts val="672"/>
              </a:spcBef>
              <a:buClr>
                <a:srgbClr val="000000"/>
              </a:buClr>
            </a:pPr>
            <a:r>
              <a:rPr lang="fr-FR" noProof="1">
                <a:latin typeface="Bodoni MT Condensed" panose="02070606080606020203" pitchFamily="18" charset="0"/>
              </a:rPr>
              <a:t>Calculable pour les variables quantitatives uniquement</a:t>
            </a:r>
          </a:p>
          <a:p>
            <a:pPr lvl="1" algn="just">
              <a:lnSpc>
                <a:spcPct val="100000"/>
              </a:lnSpc>
              <a:spcBef>
                <a:spcPts val="672"/>
              </a:spcBef>
              <a:buClr>
                <a:srgbClr val="000000"/>
              </a:buClr>
            </a:pPr>
            <a:r>
              <a:rPr lang="fr-FR" noProof="1">
                <a:latin typeface="Bodoni MT Condensed" panose="02070606080606020203" pitchFamily="18" charset="0"/>
              </a:rPr>
              <a:t>Moyenne arithmétique, harmonique, géométrique et quadratique</a:t>
            </a:r>
          </a:p>
          <a:p>
            <a:pPr algn="just">
              <a:lnSpc>
                <a:spcPct val="100000"/>
              </a:lnSpc>
              <a:spcBef>
                <a:spcPts val="672"/>
              </a:spcBef>
              <a:buClr>
                <a:srgbClr val="000000"/>
              </a:buClr>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p:txBody>
      </p:sp>
    </p:spTree>
    <p:extLst>
      <p:ext uri="{BB962C8B-B14F-4D97-AF65-F5344CB8AC3E}">
        <p14:creationId xmlns:p14="http://schemas.microsoft.com/office/powerpoint/2010/main" val="311941339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1163395"/>
          </a:xfrm>
        </p:spPr>
        <p:txBody>
          <a:bodyPr>
            <a:noAutofit/>
          </a:bodyPr>
          <a:lstStyle/>
          <a:p>
            <a:pPr algn="just" defTabSz="914400">
              <a:lnSpc>
                <a:spcPct val="90000"/>
              </a:lnSpc>
              <a:spcBef>
                <a:spcPts val="0"/>
              </a:spcBef>
              <a:buNone/>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Dispersion</a:t>
            </a:r>
            <a:endPar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endParaRPr>
          </a:p>
        </p:txBody>
      </p:sp>
      <p:sp>
        <p:nvSpPr>
          <p:cNvPr id="3" name="Text Placeholder 2"/>
          <p:cNvSpPr>
            <a:spLocks noGrp="1"/>
          </p:cNvSpPr>
          <p:nvPr>
            <p:ph type="body" sz="quarter" idx="10"/>
          </p:nvPr>
        </p:nvSpPr>
        <p:spPr>
          <a:xfrm>
            <a:off x="381000" y="1098088"/>
            <a:ext cx="8382000" cy="4661824"/>
          </a:xfrm>
        </p:spPr>
        <p:txBody>
          <a:bodyPr>
            <a:noAutofit/>
          </a:bodyPr>
          <a:lstStyle/>
          <a:p>
            <a:pPr algn="just">
              <a:lnSpc>
                <a:spcPct val="100000"/>
              </a:lnSpc>
              <a:spcBef>
                <a:spcPts val="672"/>
              </a:spcBef>
              <a:buClr>
                <a:srgbClr val="000000"/>
              </a:buClr>
            </a:pPr>
            <a:r>
              <a:rPr lang="fr-FR" noProof="1">
                <a:latin typeface="Bodoni MT Condensed" panose="02070606080606020203" pitchFamily="18" charset="0"/>
              </a:rPr>
              <a:t>Concerne exclusivement les variables quantitatives</a:t>
            </a:r>
          </a:p>
          <a:p>
            <a:pPr lvl="1" algn="just">
              <a:lnSpc>
                <a:spcPct val="100000"/>
              </a:lnSpc>
              <a:spcBef>
                <a:spcPts val="672"/>
              </a:spcBef>
              <a:buClr>
                <a:srgbClr val="000000"/>
              </a:buClr>
            </a:pPr>
            <a:r>
              <a:rPr lang="fr-FR" noProof="1">
                <a:latin typeface="Bodoni MT Condensed" panose="02070606080606020203" pitchFamily="18" charset="0"/>
              </a:rPr>
              <a:t>Etendu</a:t>
            </a:r>
          </a:p>
          <a:p>
            <a:pPr lvl="1" algn="just">
              <a:lnSpc>
                <a:spcPct val="100000"/>
              </a:lnSpc>
              <a:spcBef>
                <a:spcPts val="672"/>
              </a:spcBef>
              <a:buClr>
                <a:srgbClr val="000000"/>
              </a:buClr>
            </a:pPr>
            <a:r>
              <a:rPr lang="fr-FR" noProof="1">
                <a:latin typeface="Bodoni MT Condensed" panose="02070606080606020203" pitchFamily="18" charset="0"/>
              </a:rPr>
              <a:t>Variance et écart-type </a:t>
            </a:r>
          </a:p>
          <a:p>
            <a:pPr lvl="1" algn="just">
              <a:lnSpc>
                <a:spcPct val="100000"/>
              </a:lnSpc>
              <a:spcBef>
                <a:spcPts val="672"/>
              </a:spcBef>
              <a:buClr>
                <a:srgbClr val="000000"/>
              </a:buClr>
            </a:pPr>
            <a:r>
              <a:rPr lang="fr-FR" noProof="1">
                <a:latin typeface="Bodoni MT Condensed" panose="02070606080606020203" pitchFamily="18" charset="0"/>
              </a:rPr>
              <a:t>Coefficient de variation</a:t>
            </a: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p:txBody>
      </p:sp>
    </p:spTree>
    <p:extLst>
      <p:ext uri="{BB962C8B-B14F-4D97-AF65-F5344CB8AC3E}">
        <p14:creationId xmlns:p14="http://schemas.microsoft.com/office/powerpoint/2010/main" val="242667714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D0676F-513D-3B4C-4162-E49676C3C84C}"/>
              </a:ext>
            </a:extLst>
          </p:cNvPr>
          <p:cNvSpPr>
            <a:spLocks noGrp="1"/>
          </p:cNvSpPr>
          <p:nvPr>
            <p:ph type="title"/>
          </p:nvPr>
        </p:nvSpPr>
        <p:spPr>
          <a:xfrm>
            <a:off x="381000" y="75708"/>
            <a:ext cx="8382000" cy="472972"/>
          </a:xfrm>
        </p:spPr>
        <p:txBody>
          <a:bodyPr/>
          <a:lstStyle/>
          <a:p>
            <a:pPr algn="ctr"/>
            <a:r>
              <a:rPr lang="fr-FR" dirty="0"/>
              <a:t>EXERCICES</a:t>
            </a:r>
          </a:p>
        </p:txBody>
      </p:sp>
      <p:sp>
        <p:nvSpPr>
          <p:cNvPr id="3" name="Espace réservé du texte 2">
            <a:extLst>
              <a:ext uri="{FF2B5EF4-FFF2-40B4-BE49-F238E27FC236}">
                <a16:creationId xmlns:a16="http://schemas.microsoft.com/office/drawing/2014/main" id="{520BC099-E5A7-610F-F09D-8138BF92EB99}"/>
              </a:ext>
            </a:extLst>
          </p:cNvPr>
          <p:cNvSpPr>
            <a:spLocks noGrp="1"/>
          </p:cNvSpPr>
          <p:nvPr>
            <p:ph type="body" sz="quarter" idx="10"/>
          </p:nvPr>
        </p:nvSpPr>
        <p:spPr>
          <a:xfrm>
            <a:off x="370548" y="620688"/>
            <a:ext cx="8856984" cy="5954964"/>
          </a:xfrm>
        </p:spPr>
        <p:txBody>
          <a:bodyPr/>
          <a:lstStyle/>
          <a:p>
            <a:pPr marL="69850" marR="868680" algn="just">
              <a:spcBef>
                <a:spcPts val="175"/>
              </a:spcBef>
              <a:spcAft>
                <a:spcPts val="0"/>
              </a:spcAft>
            </a:pPr>
            <a:r>
              <a:rPr lang="fr-FR" sz="2800" i="1" spc="-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Parmi</a:t>
            </a:r>
            <a:r>
              <a:rPr lang="fr-FR" sz="2800" spc="20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spc="-45" dirty="0">
                <a:effectLst/>
                <a:latin typeface="Bodoni MT" panose="02070603080606020203" pitchFamily="18" charset="0"/>
                <a:ea typeface="Comic Sans MS" panose="030F0702030302020204" pitchFamily="66" charset="0"/>
                <a:cs typeface="Comic Sans MS" panose="030F0702030302020204" pitchFamily="66" charset="0"/>
              </a:rPr>
              <a:t>c</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es</a:t>
            </a:r>
            <a:r>
              <a:rPr lang="fr-FR" sz="2800" spc="8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assertions, </a:t>
            </a:r>
            <a:r>
              <a:rPr lang="fr-FR" sz="2800" spc="4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p</a:t>
            </a:r>
            <a:r>
              <a:rPr lang="fr-FR" sz="2800" spc="-45" dirty="0">
                <a:effectLst/>
                <a:latin typeface="Bodoni MT" panose="02070603080606020203" pitchFamily="18" charset="0"/>
                <a:ea typeface="Comic Sans MS" panose="030F0702030302020204" pitchFamily="66" charset="0"/>
                <a:cs typeface="Comic Sans MS" panose="030F0702030302020204" pitchFamily="66" charset="0"/>
              </a:rPr>
              <a:t>ré</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ciser</a:t>
            </a:r>
            <a:r>
              <a:rPr lang="fr-FR" sz="2800" spc="18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spc="-45" dirty="0">
                <a:effectLst/>
                <a:latin typeface="Bodoni MT" panose="02070603080606020203" pitchFamily="18" charset="0"/>
                <a:ea typeface="Comic Sans MS" panose="030F0702030302020204" pitchFamily="66" charset="0"/>
                <a:cs typeface="Comic Sans MS" panose="030F0702030302020204" pitchFamily="66" charset="0"/>
              </a:rPr>
              <a:t>c</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e</a:t>
            </a:r>
            <a:r>
              <a:rPr lang="fr-FR" sz="2800" spc="75" dirty="0">
                <a:effectLst/>
                <a:latin typeface="Bodoni MT" panose="02070603080606020203" pitchFamily="18" charset="0"/>
                <a:ea typeface="Comic Sans MS" panose="030F0702030302020204" pitchFamily="66" charset="0"/>
                <a:cs typeface="Comic Sans MS" panose="030F0702030302020204" pitchFamily="66" charset="0"/>
              </a:rPr>
              <a:t>l</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les</a:t>
            </a:r>
            <a:r>
              <a:rPr lang="fr-FR" sz="2800" spc="10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qui</a:t>
            </a:r>
            <a:r>
              <a:rPr lang="fr-FR" sz="2800" spc="1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sont</a:t>
            </a:r>
            <a:r>
              <a:rPr lang="fr-FR" sz="2800" spc="10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v</a:t>
            </a:r>
            <a:r>
              <a:rPr lang="fr-FR" sz="2800" spc="-50" dirty="0">
                <a:effectLst/>
                <a:latin typeface="Bodoni MT" panose="02070603080606020203" pitchFamily="18" charset="0"/>
                <a:ea typeface="Comic Sans MS" panose="030F0702030302020204" pitchFamily="66" charset="0"/>
                <a:cs typeface="Comic Sans MS" panose="030F0702030302020204" pitchFamily="66" charset="0"/>
              </a:rPr>
              <a:t>r</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aies,</a:t>
            </a:r>
            <a:r>
              <a:rPr lang="fr-FR" sz="2800" spc="21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spc="-50" dirty="0">
                <a:effectLst/>
                <a:latin typeface="Bodoni MT" panose="02070603080606020203" pitchFamily="18" charset="0"/>
                <a:ea typeface="Comic Sans MS" panose="030F0702030302020204" pitchFamily="66" charset="0"/>
                <a:cs typeface="Comic Sans MS" panose="030F0702030302020204" pitchFamily="66" charset="0"/>
              </a:rPr>
              <a:t>c</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e</a:t>
            </a:r>
            <a:r>
              <a:rPr lang="fr-FR" sz="2800" spc="70" dirty="0">
                <a:effectLst/>
                <a:latin typeface="Bodoni MT" panose="02070603080606020203" pitchFamily="18" charset="0"/>
                <a:ea typeface="Comic Sans MS" panose="030F0702030302020204" pitchFamily="66" charset="0"/>
                <a:cs typeface="Comic Sans MS" panose="030F0702030302020204" pitchFamily="66" charset="0"/>
              </a:rPr>
              <a:t>l</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les</a:t>
            </a:r>
            <a:r>
              <a:rPr lang="fr-FR" sz="2800" spc="1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qui</a:t>
            </a:r>
            <a:r>
              <a:rPr lang="fr-FR" sz="2800" spc="1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sont</a:t>
            </a:r>
            <a:r>
              <a:rPr lang="fr-FR" sz="2800" spc="12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fausses.</a:t>
            </a:r>
            <a:endParaRPr lang="fr-FR" sz="2800" dirty="0">
              <a:effectLst/>
              <a:latin typeface="Bodoni MT" panose="02070603080606020203" pitchFamily="18" charset="0"/>
              <a:ea typeface="Times New Roman" panose="02020603050405020304" pitchFamily="18" charset="0"/>
            </a:endParaRPr>
          </a:p>
          <a:p>
            <a:pPr marL="0" indent="0">
              <a:spcBef>
                <a:spcPts val="465"/>
              </a:spcBef>
              <a:spcAft>
                <a:spcPts val="0"/>
              </a:spcAft>
              <a:buNone/>
            </a:pPr>
            <a:r>
              <a:rPr lang="en-US" sz="2800" dirty="0">
                <a:effectLst/>
                <a:latin typeface="Bodoni MT" panose="02070603080606020203" pitchFamily="18" charset="0"/>
                <a:ea typeface="Comic Sans MS" panose="030F0702030302020204" pitchFamily="66" charset="0"/>
                <a:cs typeface="Comic Sans MS" panose="030F0702030302020204" pitchFamily="66" charset="0"/>
              </a:rPr>
              <a:t>1. </a:t>
            </a:r>
            <a:r>
              <a:rPr lang="en-US" sz="2800" spc="15" dirty="0">
                <a:effectLst/>
                <a:latin typeface="Bodoni MT" panose="02070603080606020203" pitchFamily="18" charset="0"/>
                <a:ea typeface="Comic Sans MS" panose="030F0702030302020204" pitchFamily="66" charset="0"/>
                <a:cs typeface="Comic Sans MS" panose="030F0702030302020204" pitchFamily="66" charset="0"/>
              </a:rPr>
              <a:t> </a:t>
            </a:r>
            <a:r>
              <a:rPr lang="en-US" sz="2800" dirty="0">
                <a:effectLst/>
                <a:latin typeface="Bodoni MT" panose="02070603080606020203" pitchFamily="18" charset="0"/>
                <a:ea typeface="Comic Sans MS" panose="030F0702030302020204" pitchFamily="66" charset="0"/>
                <a:cs typeface="Comic Sans MS" panose="030F0702030302020204" pitchFamily="66" charset="0"/>
              </a:rPr>
              <a:t>On</a:t>
            </a:r>
            <a:r>
              <a:rPr lang="en-US" sz="2800" spc="50" dirty="0">
                <a:effectLst/>
                <a:latin typeface="Bodoni MT" panose="02070603080606020203" pitchFamily="18" charset="0"/>
                <a:ea typeface="Comic Sans MS" panose="030F0702030302020204" pitchFamily="66" charset="0"/>
                <a:cs typeface="Comic Sans MS" panose="030F0702030302020204" pitchFamily="66" charset="0"/>
              </a:rPr>
              <a:t> </a:t>
            </a:r>
            <a:r>
              <a:rPr lang="en-US" sz="2800" dirty="0" err="1">
                <a:effectLst/>
                <a:latin typeface="Bodoni MT" panose="02070603080606020203" pitchFamily="18" charset="0"/>
                <a:ea typeface="Comic Sans MS" panose="030F0702030302020204" pitchFamily="66" charset="0"/>
                <a:cs typeface="Comic Sans MS" panose="030F0702030302020204" pitchFamily="66" charset="0"/>
              </a:rPr>
              <a:t>ap</a:t>
            </a:r>
            <a:r>
              <a:rPr lang="en-US" sz="2800" spc="-50" dirty="0" err="1">
                <a:effectLst/>
                <a:latin typeface="Bodoni MT" panose="02070603080606020203" pitchFamily="18" charset="0"/>
                <a:ea typeface="Comic Sans MS" panose="030F0702030302020204" pitchFamily="66" charset="0"/>
                <a:cs typeface="Comic Sans MS" panose="030F0702030302020204" pitchFamily="66" charset="0"/>
              </a:rPr>
              <a:t>p</a:t>
            </a:r>
            <a:r>
              <a:rPr lang="en-US" sz="2800" dirty="0" err="1">
                <a:effectLst/>
                <a:latin typeface="Bodoni MT" panose="02070603080606020203" pitchFamily="18" charset="0"/>
                <a:ea typeface="Comic Sans MS" panose="030F0702030302020204" pitchFamily="66" charset="0"/>
                <a:cs typeface="Comic Sans MS" panose="030F0702030302020204" pitchFamily="66" charset="0"/>
              </a:rPr>
              <a:t>e</a:t>
            </a:r>
            <a:r>
              <a:rPr lang="en-US" sz="2800" spc="75" dirty="0" err="1">
                <a:effectLst/>
                <a:latin typeface="Bodoni MT" panose="02070603080606020203" pitchFamily="18" charset="0"/>
                <a:ea typeface="Comic Sans MS" panose="030F0702030302020204" pitchFamily="66" charset="0"/>
                <a:cs typeface="Comic Sans MS" panose="030F0702030302020204" pitchFamily="66" charset="0"/>
              </a:rPr>
              <a:t>l</a:t>
            </a:r>
            <a:r>
              <a:rPr lang="en-US" sz="2800" dirty="0" err="1">
                <a:effectLst/>
                <a:latin typeface="Bodoni MT" panose="02070603080606020203" pitchFamily="18" charset="0"/>
                <a:ea typeface="Comic Sans MS" panose="030F0702030302020204" pitchFamily="66" charset="0"/>
                <a:cs typeface="Comic Sans MS" panose="030F0702030302020204" pitchFamily="66" charset="0"/>
              </a:rPr>
              <a:t>le</a:t>
            </a:r>
            <a:r>
              <a:rPr lang="en-US" sz="2800" spc="90" dirty="0">
                <a:effectLst/>
                <a:latin typeface="Bodoni MT" panose="02070603080606020203" pitchFamily="18" charset="0"/>
                <a:ea typeface="Comic Sans MS" panose="030F0702030302020204" pitchFamily="66" charset="0"/>
                <a:cs typeface="Comic Sans MS" panose="030F0702030302020204" pitchFamily="66" charset="0"/>
              </a:rPr>
              <a:t> </a:t>
            </a:r>
            <a:r>
              <a:rPr lang="en-US" sz="2800" dirty="0">
                <a:effectLst/>
                <a:latin typeface="Bodoni MT" panose="02070603080606020203" pitchFamily="18" charset="0"/>
                <a:ea typeface="Comic Sans MS" panose="030F0702030302020204" pitchFamily="66" charset="0"/>
                <a:cs typeface="Comic Sans MS" panose="030F0702030302020204" pitchFamily="66" charset="0"/>
              </a:rPr>
              <a:t>variable,</a:t>
            </a:r>
            <a:r>
              <a:rPr lang="en-US" sz="2800" spc="135" dirty="0">
                <a:effectLst/>
                <a:latin typeface="Bodoni MT" panose="02070603080606020203" pitchFamily="18" charset="0"/>
                <a:ea typeface="Comic Sans MS" panose="030F0702030302020204" pitchFamily="66" charset="0"/>
                <a:cs typeface="Comic Sans MS" panose="030F0702030302020204" pitchFamily="66" charset="0"/>
              </a:rPr>
              <a:t> </a:t>
            </a:r>
            <a:r>
              <a:rPr lang="en-US" sz="2800" dirty="0" err="1">
                <a:effectLst/>
                <a:latin typeface="Bodoni MT" panose="02070603080606020203" pitchFamily="18" charset="0"/>
                <a:ea typeface="Comic Sans MS" panose="030F0702030302020204" pitchFamily="66" charset="0"/>
                <a:cs typeface="Comic Sans MS" panose="030F0702030302020204" pitchFamily="66" charset="0"/>
              </a:rPr>
              <a:t>une</a:t>
            </a:r>
            <a:r>
              <a:rPr lang="en-US" sz="2800" spc="10" dirty="0">
                <a:effectLst/>
                <a:latin typeface="Bodoni MT" panose="02070603080606020203" pitchFamily="18" charset="0"/>
                <a:ea typeface="Comic Sans MS" panose="030F0702030302020204" pitchFamily="66" charset="0"/>
                <a:cs typeface="Comic Sans MS" panose="030F0702030302020204" pitchFamily="66" charset="0"/>
              </a:rPr>
              <a:t> </a:t>
            </a:r>
            <a:r>
              <a:rPr lang="en-US" sz="2800" spc="-50" dirty="0" err="1">
                <a:effectLst/>
                <a:latin typeface="Bodoni MT" panose="02070603080606020203" pitchFamily="18" charset="0"/>
                <a:ea typeface="Comic Sans MS" panose="030F0702030302020204" pitchFamily="66" charset="0"/>
                <a:cs typeface="Comic Sans MS" panose="030F0702030302020204" pitchFamily="66" charset="0"/>
              </a:rPr>
              <a:t>c</a:t>
            </a:r>
            <a:r>
              <a:rPr lang="en-US" sz="2800" dirty="0" err="1">
                <a:effectLst/>
                <a:latin typeface="Bodoni MT" panose="02070603080606020203" pitchFamily="18" charset="0"/>
                <a:ea typeface="Comic Sans MS" panose="030F0702030302020204" pitchFamily="66" charset="0"/>
                <a:cs typeface="Comic Sans MS" panose="030F0702030302020204" pitchFamily="66" charset="0"/>
              </a:rPr>
              <a:t>a</a:t>
            </a:r>
            <a:r>
              <a:rPr lang="en-US" sz="2800" spc="-50" dirty="0" err="1">
                <a:effectLst/>
                <a:latin typeface="Bodoni MT" panose="02070603080606020203" pitchFamily="18" charset="0"/>
                <a:ea typeface="Comic Sans MS" panose="030F0702030302020204" pitchFamily="66" charset="0"/>
                <a:cs typeface="Comic Sans MS" panose="030F0702030302020204" pitchFamily="66" charset="0"/>
              </a:rPr>
              <a:t>r</a:t>
            </a:r>
            <a:r>
              <a:rPr lang="en-US" sz="2800" dirty="0" err="1">
                <a:effectLst/>
                <a:latin typeface="Bodoni MT" panose="02070603080606020203" pitchFamily="18" charset="0"/>
                <a:ea typeface="Comic Sans MS" panose="030F0702030302020204" pitchFamily="66" charset="0"/>
                <a:cs typeface="Comic Sans MS" panose="030F0702030302020204" pitchFamily="66" charset="0"/>
              </a:rPr>
              <a:t>actéristique</a:t>
            </a:r>
            <a:r>
              <a:rPr lang="en-US" sz="2800" spc="140" dirty="0">
                <a:effectLst/>
                <a:latin typeface="Bodoni MT" panose="02070603080606020203" pitchFamily="18" charset="0"/>
                <a:ea typeface="Comic Sans MS" panose="030F0702030302020204" pitchFamily="66" charset="0"/>
                <a:cs typeface="Comic Sans MS" panose="030F0702030302020204" pitchFamily="66" charset="0"/>
              </a:rPr>
              <a:t> </a:t>
            </a:r>
            <a:r>
              <a:rPr lang="en-US" sz="2800" dirty="0">
                <a:effectLst/>
                <a:latin typeface="Bodoni MT" panose="02070603080606020203" pitchFamily="18" charset="0"/>
                <a:ea typeface="Comic Sans MS" panose="030F0702030302020204" pitchFamily="66" charset="0"/>
                <a:cs typeface="Comic Sans MS" panose="030F0702030302020204" pitchFamily="66" charset="0"/>
              </a:rPr>
              <a:t>que</a:t>
            </a:r>
            <a:r>
              <a:rPr lang="en-US" sz="2800" spc="-95" dirty="0">
                <a:effectLst/>
                <a:latin typeface="Bodoni MT" panose="02070603080606020203" pitchFamily="18" charset="0"/>
                <a:ea typeface="Comic Sans MS" panose="030F0702030302020204" pitchFamily="66" charset="0"/>
                <a:cs typeface="Comic Sans MS" panose="030F0702030302020204" pitchFamily="66" charset="0"/>
              </a:rPr>
              <a:t> </a:t>
            </a:r>
            <a:r>
              <a:rPr lang="en-US" sz="2800" dirty="0" err="1">
                <a:effectLst/>
                <a:latin typeface="Bodoni MT" panose="02070603080606020203" pitchFamily="18" charset="0"/>
                <a:ea typeface="Comic Sans MS" panose="030F0702030302020204" pitchFamily="66" charset="0"/>
                <a:cs typeface="Comic Sans MS" panose="030F0702030302020204" pitchFamily="66" charset="0"/>
              </a:rPr>
              <a:t>l’on</a:t>
            </a:r>
            <a:r>
              <a:rPr lang="en-US" sz="2800" spc="190" dirty="0">
                <a:effectLst/>
                <a:latin typeface="Bodoni MT" panose="02070603080606020203" pitchFamily="18" charset="0"/>
                <a:ea typeface="Comic Sans MS" panose="030F0702030302020204" pitchFamily="66" charset="0"/>
                <a:cs typeface="Comic Sans MS" panose="030F0702030302020204" pitchFamily="66" charset="0"/>
              </a:rPr>
              <a:t> </a:t>
            </a:r>
            <a:r>
              <a:rPr lang="en-US" sz="2800" dirty="0" err="1">
                <a:effectLst/>
                <a:latin typeface="Bodoni MT" panose="02070603080606020203" pitchFamily="18" charset="0"/>
                <a:ea typeface="Comic Sans MS" panose="030F0702030302020204" pitchFamily="66" charset="0"/>
                <a:cs typeface="Comic Sans MS" panose="030F0702030302020204" pitchFamily="66" charset="0"/>
              </a:rPr>
              <a:t>étudie</a:t>
            </a:r>
            <a:r>
              <a:rPr lang="en-US" sz="2800" dirty="0">
                <a:effectLst/>
                <a:latin typeface="Bodoni MT" panose="02070603080606020203" pitchFamily="18" charset="0"/>
                <a:ea typeface="Comic Sans MS" panose="030F0702030302020204" pitchFamily="66" charset="0"/>
                <a:cs typeface="Comic Sans MS" panose="030F0702030302020204" pitchFamily="66" charset="0"/>
              </a:rPr>
              <a:t>.</a:t>
            </a:r>
            <a:endParaRPr lang="fr-FR" sz="2800" dirty="0">
              <a:effectLst/>
              <a:latin typeface="Bodoni MT" panose="02070603080606020203" pitchFamily="18" charset="0"/>
              <a:ea typeface="Times New Roman" panose="02020603050405020304" pitchFamily="18" charset="0"/>
            </a:endParaRPr>
          </a:p>
          <a:p>
            <a:pPr marL="0" indent="0">
              <a:spcBef>
                <a:spcPts val="465"/>
              </a:spcBef>
              <a:spcAft>
                <a:spcPts val="0"/>
              </a:spcAft>
              <a:buNone/>
            </a:pPr>
            <a:r>
              <a:rPr lang="fr-FR" sz="2800" dirty="0">
                <a:effectLst/>
                <a:latin typeface="Bodoni MT" panose="02070603080606020203" pitchFamily="18" charset="0"/>
                <a:ea typeface="Comic Sans MS" panose="030F0702030302020204" pitchFamily="66" charset="0"/>
                <a:cs typeface="Comic Sans MS" panose="030F0702030302020204" pitchFamily="66" charset="0"/>
              </a:rPr>
              <a:t>2.</a:t>
            </a:r>
            <a:r>
              <a:rPr lang="fr-FR" sz="2800" spc="16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spc="-55" dirty="0">
                <a:effectLst/>
                <a:latin typeface="Bodoni MT" panose="02070603080606020203" pitchFamily="18" charset="0"/>
                <a:ea typeface="Comic Sans MS" panose="030F0702030302020204" pitchFamily="66" charset="0"/>
                <a:cs typeface="Comic Sans MS" panose="030F0702030302020204" pitchFamily="66" charset="0"/>
              </a:rPr>
              <a:t>L</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a</a:t>
            </a:r>
            <a:r>
              <a:rPr lang="fr-FR" sz="2800" spc="14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tâche</a:t>
            </a:r>
            <a:r>
              <a:rPr lang="fr-FR" sz="2800" spc="14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de</a:t>
            </a:r>
            <a:r>
              <a:rPr lang="fr-FR" sz="2800" spc="10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la</a:t>
            </a:r>
            <a:r>
              <a:rPr lang="fr-FR" sz="2800" spc="3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statistique</a:t>
            </a:r>
            <a:r>
              <a:rPr lang="fr-FR" sz="2800" spc="16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descriptive  est</a:t>
            </a:r>
            <a:r>
              <a:rPr lang="fr-FR" sz="2800" spc="1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de</a:t>
            </a:r>
            <a:r>
              <a:rPr lang="fr-FR" sz="2800" spc="10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spc="-45" dirty="0">
                <a:effectLst/>
                <a:latin typeface="Bodoni MT" panose="02070603080606020203" pitchFamily="18" charset="0"/>
                <a:ea typeface="Comic Sans MS" panose="030F0702030302020204" pitchFamily="66" charset="0"/>
                <a:cs typeface="Comic Sans MS" panose="030F0702030302020204" pitchFamily="66" charset="0"/>
              </a:rPr>
              <a:t>re</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cuei</a:t>
            </a:r>
            <a:r>
              <a:rPr lang="fr-FR" sz="2800" spc="70" dirty="0">
                <a:effectLst/>
                <a:latin typeface="Bodoni MT" panose="02070603080606020203" pitchFamily="18" charset="0"/>
                <a:ea typeface="Comic Sans MS" panose="030F0702030302020204" pitchFamily="66" charset="0"/>
                <a:cs typeface="Comic Sans MS" panose="030F0702030302020204" pitchFamily="66" charset="0"/>
              </a:rPr>
              <a:t>l</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lir </a:t>
            </a:r>
            <a:r>
              <a:rPr lang="fr-FR" sz="2800" spc="11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des</a:t>
            </a:r>
            <a:r>
              <a:rPr lang="fr-FR" sz="2800" spc="9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donn</a:t>
            </a:r>
            <a:r>
              <a:rPr lang="fr-FR" sz="2800" spc="-55" dirty="0">
                <a:effectLst/>
                <a:latin typeface="Bodoni MT" panose="02070603080606020203" pitchFamily="18" charset="0"/>
                <a:ea typeface="Comic Sans MS" panose="030F0702030302020204" pitchFamily="66" charset="0"/>
                <a:cs typeface="Comic Sans MS" panose="030F0702030302020204" pitchFamily="66" charset="0"/>
              </a:rPr>
              <a:t>é</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es.</a:t>
            </a:r>
            <a:endParaRPr lang="fr-FR" sz="2800" dirty="0">
              <a:latin typeface="Bodoni MT" panose="02070603080606020203" pitchFamily="18" charset="0"/>
              <a:ea typeface="Comic Sans MS" panose="030F0702030302020204" pitchFamily="66" charset="0"/>
            </a:endParaRPr>
          </a:p>
          <a:p>
            <a:pPr marL="0" indent="0">
              <a:spcBef>
                <a:spcPts val="465"/>
              </a:spcBef>
              <a:spcAft>
                <a:spcPts val="0"/>
              </a:spcAft>
              <a:buNone/>
            </a:pPr>
            <a:r>
              <a:rPr lang="fr-FR" sz="2800" dirty="0">
                <a:effectLst/>
                <a:latin typeface="Bodoni MT" panose="02070603080606020203" pitchFamily="18" charset="0"/>
                <a:ea typeface="Comic Sans MS" panose="030F0702030302020204" pitchFamily="66" charset="0"/>
                <a:cs typeface="Comic Sans MS" panose="030F0702030302020204" pitchFamily="66" charset="0"/>
              </a:rPr>
              <a:t>3.</a:t>
            </a:r>
            <a:r>
              <a:rPr lang="fr-FR" sz="2800" spc="16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spc="-55" dirty="0">
                <a:effectLst/>
                <a:latin typeface="Bodoni MT" panose="02070603080606020203" pitchFamily="18" charset="0"/>
                <a:ea typeface="Comic Sans MS" panose="030F0702030302020204" pitchFamily="66" charset="0"/>
                <a:cs typeface="Comic Sans MS" panose="030F0702030302020204" pitchFamily="66" charset="0"/>
              </a:rPr>
              <a:t>L</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a</a:t>
            </a:r>
            <a:r>
              <a:rPr lang="fr-FR" sz="2800" spc="19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tâche</a:t>
            </a:r>
            <a:r>
              <a:rPr lang="fr-FR" sz="2800" spc="16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de</a:t>
            </a:r>
            <a:r>
              <a:rPr lang="fr-FR" sz="2800" spc="-8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la</a:t>
            </a:r>
            <a:r>
              <a:rPr lang="fr-FR" sz="2800" spc="9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statistique </a:t>
            </a:r>
            <a:r>
              <a:rPr lang="fr-FR" sz="2800" spc="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descriptive </a:t>
            </a:r>
            <a:r>
              <a:rPr lang="fr-FR" sz="2800" spc="12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est</a:t>
            </a:r>
            <a:r>
              <a:rPr lang="fr-FR" sz="2800" spc="8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de</a:t>
            </a:r>
            <a:r>
              <a:rPr lang="fr-FR" sz="2800" spc="-8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p</a:t>
            </a:r>
            <a:r>
              <a:rPr lang="fr-FR" sz="2800" spc="-45" dirty="0">
                <a:effectLst/>
                <a:latin typeface="Bodoni MT" panose="02070603080606020203" pitchFamily="18" charset="0"/>
                <a:ea typeface="Comic Sans MS" panose="030F0702030302020204" pitchFamily="66" charset="0"/>
                <a:cs typeface="Comic Sans MS" panose="030F0702030302020204" pitchFamily="66" charset="0"/>
              </a:rPr>
              <a:t>r</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ésenter</a:t>
            </a:r>
            <a:r>
              <a:rPr lang="fr-FR" sz="2800" spc="17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les</a:t>
            </a:r>
            <a:r>
              <a:rPr lang="fr-FR" sz="2800" spc="-10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donn</a:t>
            </a:r>
            <a:r>
              <a:rPr lang="fr-FR" sz="2800" spc="-50" dirty="0">
                <a:effectLst/>
                <a:latin typeface="Bodoni MT" panose="02070603080606020203" pitchFamily="18" charset="0"/>
                <a:ea typeface="Comic Sans MS" panose="030F0702030302020204" pitchFamily="66" charset="0"/>
                <a:cs typeface="Comic Sans MS" panose="030F0702030302020204" pitchFamily="66" charset="0"/>
              </a:rPr>
              <a:t>é</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es</a:t>
            </a:r>
            <a:r>
              <a:rPr lang="fr-FR" sz="2800" spc="17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sous</a:t>
            </a:r>
            <a:r>
              <a:rPr lang="fr-FR" sz="2800" spc="-8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forme</a:t>
            </a:r>
            <a:r>
              <a:rPr lang="fr-FR" sz="2800" spc="15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de</a:t>
            </a:r>
            <a:r>
              <a:rPr lang="fr-FR" sz="2800" spc="-8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tabl</a:t>
            </a:r>
            <a:r>
              <a:rPr lang="fr-FR" sz="2800" spc="-50" dirty="0">
                <a:effectLst/>
                <a:latin typeface="Bodoni MT" panose="02070603080606020203" pitchFamily="18" charset="0"/>
                <a:ea typeface="Comic Sans MS" panose="030F0702030302020204" pitchFamily="66" charset="0"/>
                <a:cs typeface="Comic Sans MS" panose="030F0702030302020204" pitchFamily="66" charset="0"/>
              </a:rPr>
              <a:t>e</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aux,</a:t>
            </a:r>
            <a:r>
              <a:rPr lang="fr-FR" sz="2800" spc="18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de</a:t>
            </a:r>
            <a:r>
              <a:rPr lang="fr-FR" sz="2800" spc="6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g</a:t>
            </a:r>
            <a:r>
              <a:rPr lang="fr-FR" sz="2800" spc="-50" dirty="0">
                <a:effectLst/>
                <a:latin typeface="Bodoni MT" panose="02070603080606020203" pitchFamily="18" charset="0"/>
                <a:ea typeface="Comic Sans MS" panose="030F0702030302020204" pitchFamily="66" charset="0"/>
                <a:cs typeface="Comic Sans MS" panose="030F0702030302020204" pitchFamily="66" charset="0"/>
              </a:rPr>
              <a:t>r</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aphiques </a:t>
            </a:r>
            <a:r>
              <a:rPr lang="fr-FR" sz="2800" spc="2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et</a:t>
            </a:r>
            <a:r>
              <a:rPr lang="fr-FR" sz="2800" spc="-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d’indi</a:t>
            </a:r>
            <a:r>
              <a:rPr lang="fr-FR" sz="2800" spc="-50" dirty="0">
                <a:effectLst/>
                <a:latin typeface="Bodoni MT" panose="02070603080606020203" pitchFamily="18" charset="0"/>
                <a:ea typeface="Comic Sans MS" panose="030F0702030302020204" pitchFamily="66" charset="0"/>
                <a:cs typeface="Comic Sans MS" panose="030F0702030302020204" pitchFamily="66" charset="0"/>
              </a:rPr>
              <a:t>c</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ateurs </a:t>
            </a:r>
            <a:r>
              <a:rPr lang="fr-FR" sz="2800" spc="20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statistiques.</a:t>
            </a:r>
            <a:endParaRPr lang="fr-FR" sz="2800" dirty="0">
              <a:effectLst/>
              <a:latin typeface="Bodoni MT" panose="02070603080606020203" pitchFamily="18" charset="0"/>
              <a:ea typeface="Times New Roman" panose="02020603050405020304" pitchFamily="18" charset="0"/>
            </a:endParaRPr>
          </a:p>
          <a:p>
            <a:pPr marL="0" indent="0">
              <a:spcBef>
                <a:spcPts val="375"/>
              </a:spcBef>
              <a:spcAft>
                <a:spcPts val="0"/>
              </a:spcAft>
              <a:buNone/>
            </a:pPr>
            <a:r>
              <a:rPr lang="fr-FR" sz="2800" dirty="0">
                <a:effectLst/>
                <a:latin typeface="Bodoni MT" panose="02070603080606020203" pitchFamily="18" charset="0"/>
                <a:ea typeface="Comic Sans MS" panose="030F0702030302020204" pitchFamily="66" charset="0"/>
                <a:cs typeface="Comic Sans MS" panose="030F0702030302020204" pitchFamily="66" charset="0"/>
              </a:rPr>
              <a:t>4.</a:t>
            </a:r>
            <a:r>
              <a:rPr lang="fr-FR" sz="2800" spc="16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En</a:t>
            </a:r>
            <a:r>
              <a:rPr lang="fr-FR" sz="2800" spc="15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Statistique,</a:t>
            </a:r>
            <a:r>
              <a:rPr lang="fr-FR" sz="2800" spc="10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on</a:t>
            </a:r>
            <a:r>
              <a:rPr lang="fr-FR" sz="2800" spc="7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classe</a:t>
            </a:r>
            <a:r>
              <a:rPr lang="fr-FR" sz="2800" spc="23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les</a:t>
            </a:r>
            <a:r>
              <a:rPr lang="fr-FR" sz="2800" spc="12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variables </a:t>
            </a:r>
            <a:r>
              <a:rPr lang="fr-FR" sz="2800" spc="11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selon </a:t>
            </a:r>
            <a:r>
              <a:rPr lang="fr-FR" sz="2800" spc="4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diffé</a:t>
            </a:r>
            <a:r>
              <a:rPr lang="fr-FR" sz="2800" spc="-45" dirty="0">
                <a:effectLst/>
                <a:latin typeface="Bodoni MT" panose="02070603080606020203" pitchFamily="18" charset="0"/>
                <a:ea typeface="Comic Sans MS" panose="030F0702030302020204" pitchFamily="66" charset="0"/>
                <a:cs typeface="Comic Sans MS" panose="030F0702030302020204" pitchFamily="66" charset="0"/>
              </a:rPr>
              <a:t>r</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ents</a:t>
            </a:r>
            <a:r>
              <a:rPr lang="fr-FR" sz="2800" spc="-3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ty</a:t>
            </a:r>
            <a:r>
              <a:rPr lang="fr-FR" sz="2800" spc="-55" dirty="0">
                <a:effectLst/>
                <a:latin typeface="Bodoni MT" panose="02070603080606020203" pitchFamily="18" charset="0"/>
                <a:ea typeface="Comic Sans MS" panose="030F0702030302020204" pitchFamily="66" charset="0"/>
                <a:cs typeface="Comic Sans MS" panose="030F0702030302020204" pitchFamily="66" charset="0"/>
              </a:rPr>
              <a:t>p</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es.</a:t>
            </a:r>
            <a:endParaRPr lang="fr-FR" sz="2800" dirty="0">
              <a:effectLst/>
              <a:latin typeface="Bodoni MT" panose="02070603080606020203" pitchFamily="18" charset="0"/>
              <a:ea typeface="Times New Roman" panose="02020603050405020304" pitchFamily="18" charset="0"/>
            </a:endParaRPr>
          </a:p>
          <a:p>
            <a:pPr marL="0" indent="0">
              <a:spcBef>
                <a:spcPts val="465"/>
              </a:spcBef>
              <a:spcAft>
                <a:spcPts val="0"/>
              </a:spcAft>
              <a:buNone/>
            </a:pPr>
            <a:r>
              <a:rPr lang="fr-FR" sz="2800" dirty="0">
                <a:effectLst/>
                <a:latin typeface="Bodoni MT" panose="02070603080606020203" pitchFamily="18" charset="0"/>
                <a:ea typeface="Comic Sans MS" panose="030F0702030302020204" pitchFamily="66" charset="0"/>
                <a:cs typeface="Comic Sans MS" panose="030F0702030302020204" pitchFamily="66" charset="0"/>
              </a:rPr>
              <a:t>5.</a:t>
            </a:r>
            <a:r>
              <a:rPr lang="fr-FR" sz="2800" spc="16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spc="-50" dirty="0">
                <a:effectLst/>
                <a:latin typeface="Bodoni MT" panose="02070603080606020203" pitchFamily="18" charset="0"/>
                <a:ea typeface="Comic Sans MS" panose="030F0702030302020204" pitchFamily="66" charset="0"/>
                <a:cs typeface="Comic Sans MS" panose="030F0702030302020204" pitchFamily="66" charset="0"/>
              </a:rPr>
              <a:t>L</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es</a:t>
            </a:r>
            <a:r>
              <a:rPr lang="fr-FR" sz="2800" spc="13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valeurs</a:t>
            </a:r>
            <a:r>
              <a:rPr lang="fr-FR" sz="2800" spc="9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des</a:t>
            </a:r>
            <a:r>
              <a:rPr lang="fr-FR" sz="2800" spc="-3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variables</a:t>
            </a:r>
            <a:r>
              <a:rPr lang="fr-FR" sz="2800" spc="4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sont</a:t>
            </a:r>
            <a:r>
              <a:rPr lang="fr-FR" sz="2800" spc="5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aussi</a:t>
            </a:r>
            <a:r>
              <a:rPr lang="fr-FR" sz="2800" spc="-9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ap</a:t>
            </a:r>
            <a:r>
              <a:rPr lang="fr-FR" sz="2800" spc="-50" dirty="0">
                <a:effectLst/>
                <a:latin typeface="Bodoni MT" panose="02070603080606020203" pitchFamily="18" charset="0"/>
                <a:ea typeface="Comic Sans MS" panose="030F0702030302020204" pitchFamily="66" charset="0"/>
                <a:cs typeface="Comic Sans MS" panose="030F0702030302020204" pitchFamily="66" charset="0"/>
              </a:rPr>
              <a:t>p</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el</a:t>
            </a:r>
            <a:r>
              <a:rPr lang="fr-FR" sz="2800" spc="-50" dirty="0">
                <a:effectLst/>
                <a:latin typeface="Bodoni MT" panose="02070603080606020203" pitchFamily="18" charset="0"/>
                <a:ea typeface="Comic Sans MS" panose="030F0702030302020204" pitchFamily="66" charset="0"/>
                <a:cs typeface="Comic Sans MS" panose="030F0702030302020204" pitchFamily="66" charset="0"/>
              </a:rPr>
              <a:t>é</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es</a:t>
            </a:r>
            <a:r>
              <a:rPr lang="fr-FR" sz="2800" spc="13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m</a:t>
            </a:r>
            <a:r>
              <a:rPr lang="fr-FR" sz="2800" spc="-55" dirty="0">
                <a:effectLst/>
                <a:latin typeface="Bodoni MT" panose="02070603080606020203" pitchFamily="18" charset="0"/>
                <a:ea typeface="Comic Sans MS" panose="030F0702030302020204" pitchFamily="66" charset="0"/>
                <a:cs typeface="Comic Sans MS" panose="030F0702030302020204" pitchFamily="66" charset="0"/>
              </a:rPr>
              <a:t>o</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dalités.</a:t>
            </a:r>
            <a:endParaRPr lang="fr-FR" sz="2800" dirty="0">
              <a:latin typeface="Bodoni MT" panose="02070603080606020203" pitchFamily="18" charset="0"/>
              <a:ea typeface="Comic Sans MS" panose="030F0702030302020204" pitchFamily="66" charset="0"/>
            </a:endParaRPr>
          </a:p>
          <a:p>
            <a:pPr marL="0" indent="0">
              <a:spcBef>
                <a:spcPts val="465"/>
              </a:spcBef>
              <a:spcAft>
                <a:spcPts val="0"/>
              </a:spcAft>
              <a:buNone/>
            </a:pPr>
            <a:r>
              <a:rPr lang="fr-FR" sz="2800" dirty="0">
                <a:effectLst/>
                <a:latin typeface="Bodoni MT" panose="02070603080606020203" pitchFamily="18" charset="0"/>
                <a:ea typeface="Comic Sans MS" panose="030F0702030302020204" pitchFamily="66" charset="0"/>
                <a:cs typeface="Comic Sans MS" panose="030F0702030302020204" pitchFamily="66" charset="0"/>
              </a:rPr>
              <a:t>6.</a:t>
            </a:r>
            <a:r>
              <a:rPr lang="fr-FR" sz="2800" spc="16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Pour</a:t>
            </a:r>
            <a:r>
              <a:rPr lang="fr-FR" sz="2800" spc="19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une</a:t>
            </a:r>
            <a:r>
              <a:rPr lang="fr-FR" sz="2800" spc="5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variable</a:t>
            </a:r>
            <a:r>
              <a:rPr lang="fr-FR" sz="2800" spc="13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qualitative,</a:t>
            </a:r>
            <a:r>
              <a:rPr lang="fr-FR" sz="2800" spc="19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chaque</a:t>
            </a:r>
            <a:r>
              <a:rPr lang="fr-FR" sz="2800" spc="13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individu</a:t>
            </a:r>
            <a:r>
              <a:rPr lang="fr-FR" sz="2800" spc="2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statistique</a:t>
            </a:r>
            <a:r>
              <a:rPr lang="fr-FR" sz="2800" spc="15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ne</a:t>
            </a:r>
            <a:r>
              <a:rPr lang="fr-FR" sz="2800" spc="4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spc="-50" dirty="0">
                <a:effectLst/>
                <a:latin typeface="Bodoni MT" panose="02070603080606020203" pitchFamily="18" charset="0"/>
                <a:ea typeface="Comic Sans MS" panose="030F0702030302020204" pitchFamily="66" charset="0"/>
                <a:cs typeface="Comic Sans MS" panose="030F0702030302020204" pitchFamily="66" charset="0"/>
              </a:rPr>
              <a:t>p</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eut</a:t>
            </a:r>
            <a:r>
              <a:rPr lang="fr-FR" sz="2800" spc="150"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avoir</a:t>
            </a:r>
            <a:r>
              <a:rPr lang="fr-FR" sz="2800" spc="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qu’une</a:t>
            </a:r>
            <a:r>
              <a:rPr lang="fr-FR" sz="2800" spc="115" dirty="0">
                <a:effectLst/>
                <a:latin typeface="Bodoni MT" panose="02070603080606020203" pitchFamily="18" charset="0"/>
                <a:ea typeface="Comic Sans MS" panose="030F0702030302020204" pitchFamily="66" charset="0"/>
                <a:cs typeface="Comic Sans MS" panose="030F0702030302020204" pitchFamily="66" charset="0"/>
              </a:rPr>
              <a:t> </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seule m</a:t>
            </a:r>
            <a:r>
              <a:rPr lang="fr-FR" sz="2800" spc="-55" dirty="0">
                <a:effectLst/>
                <a:latin typeface="Bodoni MT" panose="02070603080606020203" pitchFamily="18" charset="0"/>
                <a:ea typeface="Comic Sans MS" panose="030F0702030302020204" pitchFamily="66" charset="0"/>
                <a:cs typeface="Comic Sans MS" panose="030F0702030302020204" pitchFamily="66" charset="0"/>
              </a:rPr>
              <a:t>o</a:t>
            </a:r>
            <a:r>
              <a:rPr lang="fr-FR" sz="2800" dirty="0">
                <a:effectLst/>
                <a:latin typeface="Bodoni MT" panose="02070603080606020203" pitchFamily="18" charset="0"/>
                <a:ea typeface="Comic Sans MS" panose="030F0702030302020204" pitchFamily="66" charset="0"/>
                <a:cs typeface="Comic Sans MS" panose="030F0702030302020204" pitchFamily="66" charset="0"/>
              </a:rPr>
              <a:t>dalité.</a:t>
            </a:r>
            <a:endParaRPr lang="fr-FR" sz="2800" dirty="0">
              <a:effectLst/>
              <a:latin typeface="Bodoni MT" panose="02070603080606020203" pitchFamily="18" charset="0"/>
              <a:ea typeface="Times New Roman" panose="02020603050405020304" pitchFamily="18" charset="0"/>
            </a:endParaRPr>
          </a:p>
          <a:p>
            <a:pPr marL="0" indent="0">
              <a:buNone/>
            </a:pPr>
            <a:endParaRPr lang="fr-FR" dirty="0"/>
          </a:p>
        </p:txBody>
      </p:sp>
    </p:spTree>
    <p:extLst>
      <p:ext uri="{BB962C8B-B14F-4D97-AF65-F5344CB8AC3E}">
        <p14:creationId xmlns:p14="http://schemas.microsoft.com/office/powerpoint/2010/main" val="427563743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7710" y="80392"/>
            <a:ext cx="8382000" cy="612304"/>
          </a:xfrm>
        </p:spPr>
        <p:txBody>
          <a:bodyPr>
            <a:noAutofit/>
          </a:bodyPr>
          <a:lstStyle/>
          <a:p>
            <a:pPr algn="just" defTabSz="914400">
              <a:lnSpc>
                <a:spcPct val="90000"/>
              </a:lnSpc>
              <a:spcBef>
                <a:spcPts val="0"/>
              </a:spcBef>
              <a:buNone/>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Cas pratiques Sur SPSS</a:t>
            </a:r>
            <a:endPar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endParaRPr>
          </a:p>
        </p:txBody>
      </p:sp>
      <p:sp>
        <p:nvSpPr>
          <p:cNvPr id="3" name="Text Placeholder 2"/>
          <p:cNvSpPr>
            <a:spLocks noGrp="1"/>
          </p:cNvSpPr>
          <p:nvPr>
            <p:ph type="body" sz="quarter" idx="10"/>
          </p:nvPr>
        </p:nvSpPr>
        <p:spPr>
          <a:xfrm>
            <a:off x="429039" y="836712"/>
            <a:ext cx="8382000" cy="4968552"/>
          </a:xfrm>
        </p:spPr>
        <p:txBody>
          <a:bodyPr>
            <a:noAutofit/>
          </a:bodyPr>
          <a:lstStyle/>
          <a:p>
            <a:pPr marL="517525" lvl="1" indent="0">
              <a:buNone/>
              <a:defRPr/>
            </a:pPr>
            <a:r>
              <a:rPr lang="fr-FR" altLang="ja-JP" sz="2400" b="1" dirty="0">
                <a:solidFill>
                  <a:schemeClr val="tx2">
                    <a:lumMod val="60000"/>
                    <a:lumOff val="40000"/>
                  </a:schemeClr>
                </a:solidFill>
                <a:latin typeface="Comic Sans MS" panose="030F0702030302020204" pitchFamily="66" charset="0"/>
                <a:ea typeface="MS PGothic" pitchFamily="34" charset="-128"/>
              </a:rPr>
              <a:t>1</a:t>
            </a:r>
            <a:r>
              <a:rPr lang="fr-FR" altLang="ja-JP" sz="2400" b="1" dirty="0">
                <a:solidFill>
                  <a:srgbClr val="002060"/>
                </a:solidFill>
                <a:latin typeface="Comic Sans MS" panose="030F0702030302020204" pitchFamily="66" charset="0"/>
                <a:ea typeface="MS PGothic" pitchFamily="34" charset="-128"/>
              </a:rPr>
              <a:t> –</a:t>
            </a:r>
            <a:r>
              <a:rPr lang="fr-CA" altLang="fr-FR" sz="2400" b="1" dirty="0">
                <a:solidFill>
                  <a:schemeClr val="tx2">
                    <a:lumMod val="60000"/>
                    <a:lumOff val="40000"/>
                  </a:schemeClr>
                </a:solidFill>
                <a:latin typeface="Bodoni MT Condensed" panose="02070606080606020203" pitchFamily="18" charset="0"/>
              </a:rPr>
              <a:t>Généralités</a:t>
            </a:r>
            <a:endParaRPr lang="fr-FR" altLang="ja-JP" sz="2400" b="1" dirty="0">
              <a:solidFill>
                <a:schemeClr val="tx2">
                  <a:lumMod val="60000"/>
                  <a:lumOff val="40000"/>
                </a:schemeClr>
              </a:solidFill>
              <a:latin typeface="Bodoni MT Condensed" panose="02070606080606020203" pitchFamily="18" charset="0"/>
            </a:endParaRPr>
          </a:p>
          <a:p>
            <a:pPr marL="1089025" lvl="1" indent="-571500">
              <a:buNone/>
              <a:defRPr/>
            </a:pPr>
            <a:r>
              <a:rPr lang="fr-FR" sz="2400" dirty="0">
                <a:latin typeface="Bodoni MT Condensed" panose="02070606080606020203" pitchFamily="18" charset="0"/>
              </a:rPr>
              <a:t>        A - Vue  globale sur le logiciel</a:t>
            </a:r>
          </a:p>
          <a:p>
            <a:pPr marL="1089025" lvl="1" indent="-571500">
              <a:buNone/>
              <a:defRPr/>
            </a:pPr>
            <a:r>
              <a:rPr lang="fr-FR" sz="2400" dirty="0">
                <a:latin typeface="Bodoni MT Condensed" panose="02070606080606020203" pitchFamily="18" charset="0"/>
              </a:rPr>
              <a:t>        B - Que peut faire  SPSS?</a:t>
            </a:r>
          </a:p>
          <a:p>
            <a:pPr marL="517525" lvl="1" indent="0" algn="just">
              <a:buNone/>
              <a:defRPr/>
            </a:pPr>
            <a:r>
              <a:rPr lang="fr-FR" sz="2400" b="1" dirty="0">
                <a:solidFill>
                  <a:schemeClr val="tx2">
                    <a:lumMod val="60000"/>
                    <a:lumOff val="40000"/>
                  </a:schemeClr>
                </a:solidFill>
                <a:latin typeface="Bodoni MT Condensed" panose="02070606080606020203" pitchFamily="18" charset="0"/>
              </a:rPr>
              <a:t>2 - </a:t>
            </a:r>
            <a:r>
              <a:rPr lang="fr-FR" altLang="fr-FR" sz="2400" b="1" dirty="0">
                <a:solidFill>
                  <a:schemeClr val="tx2">
                    <a:lumMod val="60000"/>
                    <a:lumOff val="40000"/>
                  </a:schemeClr>
                </a:solidFill>
                <a:latin typeface="Bodoni MT Condensed" panose="02070606080606020203" pitchFamily="18" charset="0"/>
              </a:rPr>
              <a:t>Gestion et modification des fichiers de données</a:t>
            </a:r>
          </a:p>
          <a:p>
            <a:pPr marL="1089025" lvl="1" indent="-571500">
              <a:buNone/>
              <a:defRPr/>
            </a:pPr>
            <a:r>
              <a:rPr lang="fr-FR" sz="2400" dirty="0">
                <a:latin typeface="Bodoni MT Condensed" panose="02070606080606020203" pitchFamily="18" charset="0"/>
              </a:rPr>
              <a:t>        A - Edition de données</a:t>
            </a:r>
          </a:p>
          <a:p>
            <a:pPr marL="1089025" lvl="1" indent="-571500">
              <a:buNone/>
              <a:defRPr/>
            </a:pPr>
            <a:r>
              <a:rPr lang="fr-FR" sz="2400" dirty="0">
                <a:latin typeface="Bodoni MT Condensed" panose="02070606080606020203" pitchFamily="18" charset="0"/>
              </a:rPr>
              <a:t>        B - Importer-exporter </a:t>
            </a:r>
          </a:p>
          <a:p>
            <a:pPr marL="1089025" lvl="1" indent="-571500">
              <a:buNone/>
              <a:defRPr/>
            </a:pPr>
            <a:r>
              <a:rPr lang="fr-FR" sz="2400" b="1" dirty="0">
                <a:solidFill>
                  <a:schemeClr val="tx2">
                    <a:lumMod val="60000"/>
                    <a:lumOff val="40000"/>
                  </a:schemeClr>
                </a:solidFill>
                <a:latin typeface="Bodoni MT Condensed" panose="02070606080606020203" pitchFamily="18" charset="0"/>
              </a:rPr>
              <a:t>3 - </a:t>
            </a:r>
            <a:r>
              <a:rPr lang="fr-FR" altLang="fr-FR" sz="2400" b="1" dirty="0">
                <a:solidFill>
                  <a:schemeClr val="tx2">
                    <a:lumMod val="60000"/>
                    <a:lumOff val="40000"/>
                  </a:schemeClr>
                </a:solidFill>
                <a:latin typeface="Bodoni MT Condensed" panose="02070606080606020203" pitchFamily="18" charset="0"/>
              </a:rPr>
              <a:t>Gestion et modification des variables</a:t>
            </a:r>
            <a:endParaRPr lang="fr-FR" sz="2400" b="1" dirty="0">
              <a:solidFill>
                <a:schemeClr val="tx2">
                  <a:lumMod val="60000"/>
                  <a:lumOff val="40000"/>
                </a:schemeClr>
              </a:solidFill>
              <a:latin typeface="Bodoni MT Condensed" panose="02070606080606020203" pitchFamily="18" charset="0"/>
            </a:endParaRPr>
          </a:p>
          <a:p>
            <a:pPr marL="1089025" lvl="1" indent="-571500">
              <a:buNone/>
              <a:defRPr/>
            </a:pPr>
            <a:r>
              <a:rPr lang="fr-FR" sz="2400" dirty="0">
                <a:latin typeface="Bodoni MT Condensed" panose="02070606080606020203" pitchFamily="18" charset="0"/>
              </a:rPr>
              <a:t>        A - Recodage</a:t>
            </a:r>
          </a:p>
          <a:p>
            <a:pPr marL="1089025" lvl="1" indent="-571500">
              <a:buNone/>
              <a:defRPr/>
            </a:pPr>
            <a:r>
              <a:rPr lang="fr-FR" sz="2400" dirty="0">
                <a:latin typeface="Bodoni MT Condensed" panose="02070606080606020203" pitchFamily="18" charset="0"/>
              </a:rPr>
              <a:t>        B – Création de nouvelles variables</a:t>
            </a:r>
          </a:p>
          <a:p>
            <a:pPr marL="1089025" lvl="1" indent="-571500">
              <a:buNone/>
              <a:defRPr/>
            </a:pPr>
            <a:r>
              <a:rPr lang="fr-FR" sz="2400" dirty="0">
                <a:latin typeface="Bodoni MT Condensed" panose="02070606080606020203" pitchFamily="18" charset="0"/>
              </a:rPr>
              <a:t>        C – Modification des variables</a:t>
            </a:r>
          </a:p>
          <a:p>
            <a:pPr marL="1089025" lvl="1" indent="-571500">
              <a:buNone/>
              <a:defRPr/>
            </a:pPr>
            <a:r>
              <a:rPr lang="fr-FR" sz="2400" b="1" dirty="0">
                <a:solidFill>
                  <a:schemeClr val="tx2">
                    <a:lumMod val="60000"/>
                    <a:lumOff val="40000"/>
                  </a:schemeClr>
                </a:solidFill>
                <a:latin typeface="Bodoni MT Condensed" panose="02070606080606020203" pitchFamily="18" charset="0"/>
              </a:rPr>
              <a:t>4 – Analyse des données</a:t>
            </a:r>
          </a:p>
          <a:p>
            <a:pPr marL="1089025" lvl="1" indent="-571500">
              <a:buNone/>
              <a:defRPr/>
            </a:pPr>
            <a:r>
              <a:rPr lang="fr-FR" sz="2000" b="1" dirty="0">
                <a:solidFill>
                  <a:schemeClr val="tx1"/>
                </a:solidFill>
                <a:latin typeface="Comic Sans MS" panose="030F0702030302020204" pitchFamily="66" charset="0"/>
              </a:rPr>
              <a:t>       </a:t>
            </a:r>
            <a:r>
              <a:rPr lang="fr-FR" sz="2400" dirty="0">
                <a:latin typeface="Bodoni MT Condensed" panose="02070606080606020203" pitchFamily="18" charset="0"/>
              </a:rPr>
              <a:t>A -  Analyse unidimensionnelle</a:t>
            </a:r>
          </a:p>
          <a:p>
            <a:pPr marL="1089025" lvl="1" indent="-571500">
              <a:buNone/>
              <a:defRPr/>
            </a:pPr>
            <a:r>
              <a:rPr lang="fr-FR" sz="2400" dirty="0">
                <a:latin typeface="Bodoni MT Condensed" panose="02070606080606020203" pitchFamily="18" charset="0"/>
              </a:rPr>
              <a:t>             B - Analyse bidimensionnelle</a:t>
            </a: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p:txBody>
      </p:sp>
    </p:spTree>
    <p:extLst>
      <p:ext uri="{BB962C8B-B14F-4D97-AF65-F5344CB8AC3E}">
        <p14:creationId xmlns:p14="http://schemas.microsoft.com/office/powerpoint/2010/main" val="69365442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16632"/>
            <a:ext cx="8382000" cy="1163395"/>
          </a:xfrm>
        </p:spPr>
        <p:txBody>
          <a:bodyPr>
            <a:noAutofit/>
          </a:bodyPr>
          <a:lstStyle/>
          <a:p>
            <a:pPr algn="just" defTabSz="914400">
              <a:lnSpc>
                <a:spcPct val="90000"/>
              </a:lnSpc>
              <a:spcBef>
                <a:spcPts val="0"/>
              </a:spcBef>
              <a:buNone/>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Cas pratiques Sur SPSS</a:t>
            </a:r>
            <a:endPar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endParaRPr>
          </a:p>
        </p:txBody>
      </p:sp>
      <p:sp>
        <p:nvSpPr>
          <p:cNvPr id="3" name="Text Placeholder 2"/>
          <p:cNvSpPr>
            <a:spLocks noGrp="1"/>
          </p:cNvSpPr>
          <p:nvPr>
            <p:ph type="body" sz="quarter" idx="10"/>
          </p:nvPr>
        </p:nvSpPr>
        <p:spPr>
          <a:xfrm>
            <a:off x="381000" y="1098088"/>
            <a:ext cx="8382000" cy="4661824"/>
          </a:xfrm>
        </p:spPr>
        <p:txBody>
          <a:bodyPr>
            <a:noAutofit/>
          </a:bodyPr>
          <a:lstStyle/>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517525" lvl="1" indent="0">
              <a:buNone/>
              <a:defRPr/>
            </a:pPr>
            <a:r>
              <a:rPr lang="fr-FR" sz="2400" b="1" dirty="0">
                <a:solidFill>
                  <a:schemeClr val="tx2">
                    <a:lumMod val="60000"/>
                    <a:lumOff val="40000"/>
                  </a:schemeClr>
                </a:solidFill>
                <a:latin typeface="Comic Sans MS" panose="030F0702030302020204" pitchFamily="66" charset="0"/>
                <a:ea typeface="MS PGothic" pitchFamily="34" charset="-128"/>
              </a:rPr>
              <a:t>4 – Analyse des données</a:t>
            </a:r>
          </a:p>
          <a:p>
            <a:pPr marL="1089025" lvl="1" indent="-571500">
              <a:buNone/>
              <a:defRPr/>
            </a:pPr>
            <a:r>
              <a:rPr lang="fr-FR" sz="2000" b="1" dirty="0">
                <a:solidFill>
                  <a:schemeClr val="tx1"/>
                </a:solidFill>
                <a:latin typeface="Comic Sans MS" panose="030F0702030302020204" pitchFamily="66" charset="0"/>
              </a:rPr>
              <a:t>       </a:t>
            </a:r>
            <a:r>
              <a:rPr lang="fr-FR" sz="2400" dirty="0">
                <a:latin typeface="Bodoni MT Condensed" panose="02070606080606020203" pitchFamily="18" charset="0"/>
              </a:rPr>
              <a:t>A -  Analyse unidimensionnelle</a:t>
            </a:r>
          </a:p>
          <a:p>
            <a:pPr marL="1089025" lvl="1" indent="-571500">
              <a:buNone/>
              <a:defRPr/>
            </a:pPr>
            <a:r>
              <a:rPr lang="fr-FR" sz="2400" dirty="0">
                <a:latin typeface="Bodoni MT Condensed" panose="02070606080606020203" pitchFamily="18" charset="0"/>
              </a:rPr>
              <a:t>             B - Analyse bidimensionnelle</a:t>
            </a: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a:p>
            <a:pPr marL="914400" lvl="2" indent="0" algn="just">
              <a:lnSpc>
                <a:spcPct val="100000"/>
              </a:lnSpc>
              <a:spcBef>
                <a:spcPts val="672"/>
              </a:spcBef>
              <a:buClr>
                <a:srgbClr val="000000"/>
              </a:buClr>
              <a:buNone/>
            </a:pPr>
            <a:endParaRPr lang="fr-FR" noProof="1">
              <a:latin typeface="Bodoni MT Condensed" panose="02070606080606020203" pitchFamily="18" charset="0"/>
            </a:endParaRPr>
          </a:p>
        </p:txBody>
      </p:sp>
    </p:spTree>
    <p:extLst>
      <p:ext uri="{BB962C8B-B14F-4D97-AF65-F5344CB8AC3E}">
        <p14:creationId xmlns:p14="http://schemas.microsoft.com/office/powerpoint/2010/main" val="347519661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2"/>
          <p:cNvSpPr>
            <a:spLocks noGrp="1"/>
          </p:cNvSpPr>
          <p:nvPr>
            <p:ph idx="1"/>
          </p:nvPr>
        </p:nvSpPr>
        <p:spPr>
          <a:xfrm>
            <a:off x="331470" y="1722120"/>
            <a:ext cx="8503920" cy="5010150"/>
          </a:xfrm>
        </p:spPr>
        <p:txBody>
          <a:bodyPr>
            <a:normAutofit/>
          </a:bodyPr>
          <a:lstStyle/>
          <a:p>
            <a:pPr marL="0" indent="0">
              <a:buNone/>
              <a:defRPr/>
            </a:pPr>
            <a:r>
              <a:rPr lang="fr-FR" b="1" dirty="0">
                <a:solidFill>
                  <a:srgbClr val="002060"/>
                </a:solidFill>
                <a:latin typeface="Comic Sans MS" panose="030F0702030302020204" pitchFamily="66" charset="0"/>
                <a:ea typeface="MS PGothic" pitchFamily="34" charset="-128"/>
              </a:rPr>
              <a:t>A -  Vue globale sur le logiciel:</a:t>
            </a:r>
          </a:p>
          <a:p>
            <a:pPr marL="0" indent="0">
              <a:buNone/>
              <a:defRPr/>
            </a:pPr>
            <a:endParaRPr lang="fr-FR" sz="3200" b="1" dirty="0">
              <a:solidFill>
                <a:srgbClr val="002060"/>
              </a:solidFill>
              <a:ea typeface="MS PGothic" pitchFamily="34" charset="-128"/>
            </a:endParaRPr>
          </a:p>
          <a:p>
            <a:pPr algn="just">
              <a:buFont typeface="Wingdings" panose="05000000000000000000" pitchFamily="2" charset="2"/>
              <a:buChar char="v"/>
              <a:defRPr/>
            </a:pPr>
            <a:r>
              <a:rPr lang="fr-FR" altLang="fr-FR" sz="2000" b="1" dirty="0">
                <a:solidFill>
                  <a:schemeClr val="accent6">
                    <a:lumMod val="75000"/>
                  </a:schemeClr>
                </a:solidFill>
                <a:latin typeface="Comic Sans MS" panose="030F0702030302020204" pitchFamily="66" charset="0"/>
              </a:rPr>
              <a:t>SPSS	est  un  logiciel  spécialement  conçu pour les analyses statistiques en sciences sociales. Il signifie </a:t>
            </a:r>
            <a:r>
              <a:rPr lang="fr-FR" altLang="fr-FR" sz="2000" b="1" i="1" dirty="0" err="1">
                <a:solidFill>
                  <a:schemeClr val="accent6">
                    <a:lumMod val="75000"/>
                  </a:schemeClr>
                </a:solidFill>
                <a:latin typeface="Comic Sans MS" panose="030F0702030302020204" pitchFamily="66" charset="0"/>
              </a:rPr>
              <a:t>Statistical</a:t>
            </a:r>
            <a:r>
              <a:rPr lang="fr-FR" altLang="fr-FR" sz="2000" b="1" i="1" dirty="0">
                <a:solidFill>
                  <a:schemeClr val="accent6">
                    <a:lumMod val="75000"/>
                  </a:schemeClr>
                </a:solidFill>
                <a:latin typeface="Comic Sans MS" panose="030F0702030302020204" pitchFamily="66" charset="0"/>
              </a:rPr>
              <a:t> Package for Social Sciences.</a:t>
            </a:r>
          </a:p>
          <a:p>
            <a:pPr marL="0" indent="0" algn="just">
              <a:buNone/>
              <a:defRPr/>
            </a:pPr>
            <a:endParaRPr lang="fr-FR" altLang="fr-FR" sz="2000" b="1" i="1" dirty="0">
              <a:solidFill>
                <a:schemeClr val="accent6">
                  <a:lumMod val="75000"/>
                </a:schemeClr>
              </a:solidFill>
              <a:latin typeface="Comic Sans MS" panose="030F0702030302020204" pitchFamily="66" charset="0"/>
            </a:endParaRPr>
          </a:p>
          <a:p>
            <a:pPr algn="just">
              <a:buFont typeface="Wingdings" panose="05000000000000000000" pitchFamily="2" charset="2"/>
              <a:buChar char="v"/>
              <a:defRPr/>
            </a:pPr>
            <a:r>
              <a:rPr lang="fr-FR" altLang="fr-FR" sz="2000" b="1" dirty="0">
                <a:solidFill>
                  <a:schemeClr val="accent6">
                    <a:lumMod val="75000"/>
                  </a:schemeClr>
                </a:solidFill>
                <a:latin typeface="Comic Sans MS" panose="030F0702030302020204" pitchFamily="66" charset="0"/>
              </a:rPr>
              <a:t>Installation et démarrage</a:t>
            </a:r>
          </a:p>
          <a:p>
            <a:pPr marL="0" indent="0" algn="just">
              <a:buNone/>
              <a:defRPr/>
            </a:pPr>
            <a:endParaRPr lang="fr-FR" altLang="fr-FR" sz="2000" b="1" dirty="0">
              <a:solidFill>
                <a:schemeClr val="accent6">
                  <a:lumMod val="75000"/>
                </a:schemeClr>
              </a:solidFill>
              <a:latin typeface="Comic Sans MS" panose="030F0702030302020204" pitchFamily="66" charset="0"/>
            </a:endParaRPr>
          </a:p>
          <a:p>
            <a:pPr>
              <a:buFontTx/>
              <a:buNone/>
              <a:defRPr/>
            </a:pPr>
            <a:endParaRPr lang="fr-FR" sz="2000" dirty="0"/>
          </a:p>
        </p:txBody>
      </p:sp>
      <p:sp>
        <p:nvSpPr>
          <p:cNvPr id="7" name="Title 1">
            <a:extLst>
              <a:ext uri="{FF2B5EF4-FFF2-40B4-BE49-F238E27FC236}">
                <a16:creationId xmlns:a16="http://schemas.microsoft.com/office/drawing/2014/main" id="{C6F6C29A-4856-48C7-824B-CD2EC112ADA3}"/>
              </a:ext>
            </a:extLst>
          </p:cNvPr>
          <p:cNvSpPr>
            <a:spLocks noGrp="1"/>
          </p:cNvSpPr>
          <p:nvPr>
            <p:ph type="title"/>
          </p:nvPr>
        </p:nvSpPr>
        <p:spPr>
          <a:xfrm>
            <a:off x="381000" y="116632"/>
            <a:ext cx="8382000" cy="1163395"/>
          </a:xfrm>
        </p:spPr>
        <p:txBody>
          <a:bodyPr>
            <a:noAutofit/>
          </a:bodyPr>
          <a:lstStyle/>
          <a:p>
            <a:pPr algn="just" defTabSz="914400">
              <a:lnSpc>
                <a:spcPct val="90000"/>
              </a:lnSpc>
              <a:spcBef>
                <a:spcPts val="0"/>
              </a:spcBef>
              <a:buNone/>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1- Généralités</a:t>
            </a:r>
            <a:endPar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endParaRPr>
          </a:p>
        </p:txBody>
      </p:sp>
    </p:spTree>
    <p:extLst>
      <p:ext uri="{BB962C8B-B14F-4D97-AF65-F5344CB8AC3E}">
        <p14:creationId xmlns:p14="http://schemas.microsoft.com/office/powerpoint/2010/main" val="3110986411"/>
      </p:ext>
    </p:extLst>
  </p:cSld>
  <p:clrMapOvr>
    <a:masterClrMapping/>
  </p:clrMapOvr>
  <p:transition spd="slow">
    <p:cov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2"/>
          <p:cNvSpPr>
            <a:spLocks noGrp="1"/>
          </p:cNvSpPr>
          <p:nvPr>
            <p:ph idx="1"/>
          </p:nvPr>
        </p:nvSpPr>
        <p:spPr>
          <a:xfrm>
            <a:off x="381000" y="923925"/>
            <a:ext cx="8503920" cy="5010150"/>
          </a:xfrm>
        </p:spPr>
        <p:txBody>
          <a:bodyPr>
            <a:normAutofit/>
          </a:bodyPr>
          <a:lstStyle/>
          <a:p>
            <a:pPr marL="0" indent="0">
              <a:buNone/>
              <a:defRPr/>
            </a:pPr>
            <a:r>
              <a:rPr lang="fr-FR" b="1" dirty="0">
                <a:solidFill>
                  <a:srgbClr val="002060"/>
                </a:solidFill>
                <a:latin typeface="Bauhaus 93" panose="04030905020B02020C02" pitchFamily="82" charset="0"/>
                <a:ea typeface="MS PGothic" pitchFamily="34" charset="-128"/>
              </a:rPr>
              <a:t>A -  Vue globale sur le logiciel:</a:t>
            </a:r>
            <a:endParaRPr lang="fr-FR" altLang="fr-FR" sz="2000" b="1" i="1" dirty="0">
              <a:solidFill>
                <a:schemeClr val="accent6">
                  <a:lumMod val="75000"/>
                </a:schemeClr>
              </a:solidFill>
              <a:latin typeface="Bauhaus 93" panose="04030905020B02020C02" pitchFamily="82" charset="0"/>
            </a:endParaRPr>
          </a:p>
          <a:p>
            <a:pPr algn="just">
              <a:buFont typeface="Wingdings" panose="05000000000000000000" pitchFamily="2" charset="2"/>
              <a:buChar char="v"/>
              <a:defRPr/>
            </a:pPr>
            <a:r>
              <a:rPr lang="fr-FR" altLang="fr-FR" sz="2400" b="1" dirty="0">
                <a:latin typeface="Bodoni MT" panose="02070603080606020203" pitchFamily="18" charset="0"/>
              </a:rPr>
              <a:t>Installation et démarrage</a:t>
            </a:r>
          </a:p>
          <a:p>
            <a:pPr marL="0" indent="0" algn="just">
              <a:buNone/>
              <a:defRPr/>
            </a:pPr>
            <a:r>
              <a:rPr lang="fr-FR" altLang="fr-FR" sz="2400" b="1" dirty="0">
                <a:latin typeface="Bodoni MT" panose="02070603080606020203" pitchFamily="18" charset="0"/>
              </a:rPr>
              <a:t>Cliquez sur l’icône        pour ouvrir SPSS </a:t>
            </a:r>
          </a:p>
          <a:p>
            <a:pPr>
              <a:buFontTx/>
              <a:buNone/>
              <a:defRPr/>
            </a:pPr>
            <a:endParaRPr lang="fr-FR" sz="2000" dirty="0"/>
          </a:p>
        </p:txBody>
      </p:sp>
      <p:pic>
        <p:nvPicPr>
          <p:cNvPr id="4" name="Picture 759"/>
          <p:cNvPicPr/>
          <p:nvPr/>
        </p:nvPicPr>
        <p:blipFill>
          <a:blip r:embed="rId2"/>
          <a:stretch>
            <a:fillRect/>
          </a:stretch>
        </p:blipFill>
        <p:spPr>
          <a:xfrm>
            <a:off x="611560" y="2204864"/>
            <a:ext cx="6537960" cy="3806190"/>
          </a:xfrm>
          <a:prstGeom prst="rect">
            <a:avLst/>
          </a:prstGeom>
        </p:spPr>
      </p:pic>
      <p:pic>
        <p:nvPicPr>
          <p:cNvPr id="7" name="Picture 750"/>
          <p:cNvPicPr/>
          <p:nvPr/>
        </p:nvPicPr>
        <p:blipFill>
          <a:blip r:embed="rId3"/>
          <a:stretch>
            <a:fillRect/>
          </a:stretch>
        </p:blipFill>
        <p:spPr>
          <a:xfrm>
            <a:off x="2717165" y="2518410"/>
            <a:ext cx="574675" cy="472440"/>
          </a:xfrm>
          <a:prstGeom prst="rect">
            <a:avLst/>
          </a:prstGeom>
        </p:spPr>
      </p:pic>
      <p:sp>
        <p:nvSpPr>
          <p:cNvPr id="8" name="Title 1">
            <a:extLst>
              <a:ext uri="{FF2B5EF4-FFF2-40B4-BE49-F238E27FC236}">
                <a16:creationId xmlns:a16="http://schemas.microsoft.com/office/drawing/2014/main" id="{3597D65B-D947-4E79-91CE-5376F007836D}"/>
              </a:ext>
            </a:extLst>
          </p:cNvPr>
          <p:cNvSpPr>
            <a:spLocks noGrp="1"/>
          </p:cNvSpPr>
          <p:nvPr>
            <p:ph type="title"/>
          </p:nvPr>
        </p:nvSpPr>
        <p:spPr>
          <a:xfrm>
            <a:off x="381000" y="116633"/>
            <a:ext cx="8382000" cy="936104"/>
          </a:xfrm>
        </p:spPr>
        <p:txBody>
          <a:bodyPr>
            <a:noAutofit/>
          </a:bodyPr>
          <a:lstStyle/>
          <a:p>
            <a:pPr algn="just" defTabSz="914400">
              <a:lnSpc>
                <a:spcPct val="90000"/>
              </a:lnSpc>
              <a:spcBef>
                <a:spcPts val="0"/>
              </a:spcBef>
              <a:buNone/>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1- Généralités</a:t>
            </a:r>
            <a:endPar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endParaRPr>
          </a:p>
        </p:txBody>
      </p:sp>
    </p:spTree>
    <p:extLst>
      <p:ext uri="{BB962C8B-B14F-4D97-AF65-F5344CB8AC3E}">
        <p14:creationId xmlns:p14="http://schemas.microsoft.com/office/powerpoint/2010/main" val="323670549"/>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2"/>
          <p:cNvSpPr>
            <a:spLocks noGrp="1"/>
          </p:cNvSpPr>
          <p:nvPr>
            <p:ph idx="1"/>
          </p:nvPr>
        </p:nvSpPr>
        <p:spPr>
          <a:xfrm>
            <a:off x="244011" y="1052736"/>
            <a:ext cx="8503920" cy="5010150"/>
          </a:xfrm>
        </p:spPr>
        <p:txBody>
          <a:bodyPr>
            <a:normAutofit/>
          </a:bodyPr>
          <a:lstStyle/>
          <a:p>
            <a:pPr marL="0" indent="0">
              <a:buNone/>
              <a:defRPr/>
            </a:pPr>
            <a:r>
              <a:rPr lang="fr-FR" b="1" dirty="0">
                <a:solidFill>
                  <a:srgbClr val="002060"/>
                </a:solidFill>
                <a:latin typeface="Comic Sans MS" panose="030F0702030302020204" pitchFamily="66" charset="0"/>
                <a:ea typeface="MS PGothic" pitchFamily="34" charset="-128"/>
              </a:rPr>
              <a:t>A -  Vue globale sur le logiciel:</a:t>
            </a:r>
          </a:p>
          <a:p>
            <a:pPr marL="0" indent="0" algn="just">
              <a:buNone/>
              <a:defRPr/>
            </a:pPr>
            <a:endParaRPr lang="fr-FR" altLang="fr-FR" sz="2000" b="1" dirty="0">
              <a:solidFill>
                <a:schemeClr val="accent6">
                  <a:lumMod val="75000"/>
                </a:schemeClr>
              </a:solidFill>
              <a:latin typeface="Comic Sans MS" panose="030F0702030302020204" pitchFamily="66" charset="0"/>
            </a:endParaRPr>
          </a:p>
          <a:p>
            <a:pPr marL="0" indent="0" algn="just">
              <a:buNone/>
              <a:defRPr/>
            </a:pPr>
            <a:r>
              <a:rPr lang="fr-FR" altLang="fr-FR" b="1" dirty="0">
                <a:latin typeface="Bodoni MT" panose="02070603080606020203" pitchFamily="18" charset="0"/>
              </a:rPr>
              <a:t>SPSS présente trois types de fichiers</a:t>
            </a:r>
          </a:p>
          <a:p>
            <a:pPr lvl="1" algn="just">
              <a:buFont typeface="Wingdings" panose="05000000000000000000" pitchFamily="2" charset="2"/>
              <a:buChar char="q"/>
              <a:defRPr/>
            </a:pPr>
            <a:r>
              <a:rPr lang="fr-FR" altLang="fr-FR" b="1" dirty="0">
                <a:latin typeface="Bodoni MT" panose="02070603080606020203" pitchFamily="18" charset="0"/>
              </a:rPr>
              <a:t> Fichier de données (.</a:t>
            </a:r>
            <a:r>
              <a:rPr lang="fr-FR" altLang="fr-FR" b="1" dirty="0" err="1">
                <a:latin typeface="Bodoni MT" panose="02070603080606020203" pitchFamily="18" charset="0"/>
              </a:rPr>
              <a:t>sav</a:t>
            </a:r>
            <a:r>
              <a:rPr lang="fr-FR" altLang="fr-FR" b="1" dirty="0">
                <a:latin typeface="Bodoni MT" panose="02070603080606020203" pitchFamily="18" charset="0"/>
              </a:rPr>
              <a:t>)</a:t>
            </a:r>
          </a:p>
          <a:p>
            <a:pPr lvl="1" algn="just">
              <a:buFont typeface="Wingdings" panose="05000000000000000000" pitchFamily="2" charset="2"/>
              <a:buChar char="q"/>
              <a:defRPr/>
            </a:pPr>
            <a:r>
              <a:rPr lang="fr-FR" altLang="fr-FR" b="1" dirty="0">
                <a:latin typeface="Bodoni MT" panose="02070603080606020203" pitchFamily="18" charset="0"/>
              </a:rPr>
              <a:t> Fichier  de syntaxe ou programme (.</a:t>
            </a:r>
            <a:r>
              <a:rPr lang="fr-FR" altLang="fr-FR" b="1" dirty="0" err="1">
                <a:latin typeface="Bodoni MT" panose="02070603080606020203" pitchFamily="18" charset="0"/>
              </a:rPr>
              <a:t>sps</a:t>
            </a:r>
            <a:r>
              <a:rPr lang="fr-FR" altLang="fr-FR" b="1" dirty="0">
                <a:latin typeface="Bodoni MT" panose="02070603080606020203" pitchFamily="18" charset="0"/>
              </a:rPr>
              <a:t>)</a:t>
            </a:r>
          </a:p>
          <a:p>
            <a:pPr lvl="1" algn="just">
              <a:buFont typeface="Wingdings" panose="05000000000000000000" pitchFamily="2" charset="2"/>
              <a:buChar char="q"/>
              <a:defRPr/>
            </a:pPr>
            <a:r>
              <a:rPr lang="fr-FR" altLang="fr-FR" b="1" dirty="0">
                <a:latin typeface="Bodoni MT" panose="02070603080606020203" pitchFamily="18" charset="0"/>
              </a:rPr>
              <a:t> Fichier des résultats (.</a:t>
            </a:r>
            <a:r>
              <a:rPr lang="fr-FR" altLang="fr-FR" b="1" dirty="0" err="1">
                <a:latin typeface="Bodoni MT" panose="02070603080606020203" pitchFamily="18" charset="0"/>
              </a:rPr>
              <a:t>spv</a:t>
            </a:r>
            <a:r>
              <a:rPr lang="fr-FR" altLang="fr-FR" b="1" dirty="0">
                <a:latin typeface="Bodoni MT" panose="02070603080606020203" pitchFamily="18" charset="0"/>
              </a:rPr>
              <a:t>)</a:t>
            </a:r>
          </a:p>
          <a:p>
            <a:pPr>
              <a:buFontTx/>
              <a:buNone/>
              <a:defRPr/>
            </a:pPr>
            <a:endParaRPr lang="fr-FR" sz="2000" dirty="0"/>
          </a:p>
        </p:txBody>
      </p:sp>
      <p:sp>
        <p:nvSpPr>
          <p:cNvPr id="7" name="Title 1">
            <a:extLst>
              <a:ext uri="{FF2B5EF4-FFF2-40B4-BE49-F238E27FC236}">
                <a16:creationId xmlns:a16="http://schemas.microsoft.com/office/drawing/2014/main" id="{C46C17FA-A6D4-4D29-B683-F11E4476D336}"/>
              </a:ext>
            </a:extLst>
          </p:cNvPr>
          <p:cNvSpPr>
            <a:spLocks noGrp="1"/>
          </p:cNvSpPr>
          <p:nvPr>
            <p:ph type="title"/>
          </p:nvPr>
        </p:nvSpPr>
        <p:spPr>
          <a:xfrm>
            <a:off x="381000" y="116632"/>
            <a:ext cx="8382000" cy="1163395"/>
          </a:xfrm>
        </p:spPr>
        <p:txBody>
          <a:bodyPr>
            <a:noAutofit/>
          </a:bodyPr>
          <a:lstStyle/>
          <a:p>
            <a:pPr algn="just" defTabSz="914400">
              <a:lnSpc>
                <a:spcPct val="90000"/>
              </a:lnSpc>
              <a:spcBef>
                <a:spcPts val="0"/>
              </a:spcBef>
              <a:buNone/>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1- Généralités</a:t>
            </a:r>
            <a:endPar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endParaRPr>
          </a:p>
        </p:txBody>
      </p:sp>
    </p:spTree>
    <p:extLst>
      <p:ext uri="{BB962C8B-B14F-4D97-AF65-F5344CB8AC3E}">
        <p14:creationId xmlns:p14="http://schemas.microsoft.com/office/powerpoint/2010/main" val="16178254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2"/>
          <p:cNvSpPr>
            <a:spLocks noGrp="1"/>
          </p:cNvSpPr>
          <p:nvPr>
            <p:ph idx="1"/>
          </p:nvPr>
        </p:nvSpPr>
        <p:spPr>
          <a:xfrm>
            <a:off x="331470" y="1722120"/>
            <a:ext cx="8503920" cy="5010150"/>
          </a:xfrm>
        </p:spPr>
        <p:txBody>
          <a:bodyPr>
            <a:normAutofit/>
          </a:bodyPr>
          <a:lstStyle/>
          <a:p>
            <a:pPr marL="0" indent="0">
              <a:buNone/>
              <a:defRPr/>
            </a:pPr>
            <a:r>
              <a:rPr lang="fr-FR" b="1" dirty="0">
                <a:solidFill>
                  <a:srgbClr val="002060"/>
                </a:solidFill>
                <a:latin typeface="Comic Sans MS" panose="030F0702030302020204" pitchFamily="66" charset="0"/>
                <a:ea typeface="MS PGothic" pitchFamily="34" charset="-128"/>
              </a:rPr>
              <a:t>A -  Vue globale sur le logiciel:</a:t>
            </a:r>
            <a:endParaRPr lang="fr-FR" altLang="fr-FR" sz="2000" b="1" dirty="0">
              <a:solidFill>
                <a:schemeClr val="accent6">
                  <a:lumMod val="75000"/>
                </a:schemeClr>
              </a:solidFill>
              <a:latin typeface="Comic Sans MS" panose="030F0702030302020204" pitchFamily="66" charset="0"/>
            </a:endParaRPr>
          </a:p>
          <a:p>
            <a:pPr algn="just">
              <a:buFont typeface="Wingdings" panose="05000000000000000000" pitchFamily="2" charset="2"/>
              <a:buChar char="q"/>
              <a:defRPr/>
            </a:pPr>
            <a:r>
              <a:rPr lang="fr-FR" altLang="fr-FR" sz="2800" b="1" dirty="0">
                <a:solidFill>
                  <a:schemeClr val="accent6">
                    <a:lumMod val="75000"/>
                  </a:schemeClr>
                </a:solidFill>
                <a:latin typeface="Comic Sans MS" panose="030F0702030302020204" pitchFamily="66" charset="0"/>
              </a:rPr>
              <a:t>Fichier de données (.</a:t>
            </a:r>
            <a:r>
              <a:rPr lang="fr-FR" altLang="fr-FR" sz="2800" b="1" dirty="0" err="1">
                <a:solidFill>
                  <a:schemeClr val="accent6">
                    <a:lumMod val="75000"/>
                  </a:schemeClr>
                </a:solidFill>
                <a:latin typeface="Comic Sans MS" panose="030F0702030302020204" pitchFamily="66" charset="0"/>
              </a:rPr>
              <a:t>sav</a:t>
            </a:r>
            <a:r>
              <a:rPr lang="fr-FR" altLang="fr-FR" sz="2800" b="1" dirty="0">
                <a:solidFill>
                  <a:schemeClr val="accent6">
                    <a:lumMod val="75000"/>
                  </a:schemeClr>
                </a:solidFill>
                <a:latin typeface="Comic Sans MS" panose="030F0702030302020204" pitchFamily="66" charset="0"/>
              </a:rPr>
              <a:t>)</a:t>
            </a:r>
          </a:p>
          <a:p>
            <a:pPr marL="301943" lvl="1" indent="0">
              <a:buNone/>
              <a:defRPr/>
            </a:pPr>
            <a:r>
              <a:rPr lang="fr-FR" sz="2400" b="1" dirty="0">
                <a:solidFill>
                  <a:srgbClr val="FF0000"/>
                </a:solidFill>
              </a:rPr>
              <a:t>              Affichage des données </a:t>
            </a:r>
            <a:endParaRPr lang="fr-FR" sz="2400" dirty="0">
              <a:solidFill>
                <a:srgbClr val="FF0000"/>
              </a:solidFill>
            </a:endParaRPr>
          </a:p>
          <a:p>
            <a:pPr>
              <a:buFontTx/>
              <a:buNone/>
              <a:defRPr/>
            </a:pPr>
            <a:endParaRPr lang="fr-FR" sz="2000" dirty="0"/>
          </a:p>
        </p:txBody>
      </p:sp>
      <p:pic>
        <p:nvPicPr>
          <p:cNvPr id="4" name="Picture 796"/>
          <p:cNvPicPr/>
          <p:nvPr/>
        </p:nvPicPr>
        <p:blipFill>
          <a:blip r:embed="rId2"/>
          <a:stretch>
            <a:fillRect/>
          </a:stretch>
        </p:blipFill>
        <p:spPr>
          <a:xfrm>
            <a:off x="1419542" y="3177540"/>
            <a:ext cx="5893435" cy="3268980"/>
          </a:xfrm>
          <a:prstGeom prst="rect">
            <a:avLst/>
          </a:prstGeom>
        </p:spPr>
      </p:pic>
      <p:sp>
        <p:nvSpPr>
          <p:cNvPr id="7" name="Title 1">
            <a:extLst>
              <a:ext uri="{FF2B5EF4-FFF2-40B4-BE49-F238E27FC236}">
                <a16:creationId xmlns:a16="http://schemas.microsoft.com/office/drawing/2014/main" id="{06F4A7B9-14D5-4101-9E21-E7B387F89419}"/>
              </a:ext>
            </a:extLst>
          </p:cNvPr>
          <p:cNvSpPr>
            <a:spLocks noGrp="1"/>
          </p:cNvSpPr>
          <p:nvPr>
            <p:ph type="title"/>
          </p:nvPr>
        </p:nvSpPr>
        <p:spPr>
          <a:xfrm>
            <a:off x="381000" y="116632"/>
            <a:ext cx="8382000" cy="1163395"/>
          </a:xfrm>
        </p:spPr>
        <p:txBody>
          <a:bodyPr>
            <a:noAutofit/>
          </a:bodyPr>
          <a:lstStyle/>
          <a:p>
            <a:pPr algn="just" defTabSz="914400">
              <a:lnSpc>
                <a:spcPct val="90000"/>
              </a:lnSpc>
              <a:spcBef>
                <a:spcPts val="0"/>
              </a:spcBef>
              <a:buNone/>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1- Généralités</a:t>
            </a:r>
            <a:endPar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endParaRPr>
          </a:p>
        </p:txBody>
      </p:sp>
    </p:spTree>
    <p:extLst>
      <p:ext uri="{BB962C8B-B14F-4D97-AF65-F5344CB8AC3E}">
        <p14:creationId xmlns:p14="http://schemas.microsoft.com/office/powerpoint/2010/main" val="35650943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2"/>
          <p:cNvSpPr>
            <a:spLocks noGrp="1"/>
          </p:cNvSpPr>
          <p:nvPr>
            <p:ph idx="1"/>
          </p:nvPr>
        </p:nvSpPr>
        <p:spPr>
          <a:xfrm>
            <a:off x="259080" y="1019542"/>
            <a:ext cx="8503920" cy="5010150"/>
          </a:xfrm>
        </p:spPr>
        <p:txBody>
          <a:bodyPr>
            <a:normAutofit/>
          </a:bodyPr>
          <a:lstStyle/>
          <a:p>
            <a:pPr marL="0" indent="0">
              <a:buNone/>
              <a:defRPr/>
            </a:pPr>
            <a:r>
              <a:rPr lang="fr-FR" b="1" dirty="0">
                <a:solidFill>
                  <a:srgbClr val="002060"/>
                </a:solidFill>
                <a:latin typeface="Comic Sans MS" panose="030F0702030302020204" pitchFamily="66" charset="0"/>
                <a:ea typeface="MS PGothic" pitchFamily="34" charset="-128"/>
              </a:rPr>
              <a:t>A -  Vue globale sur le logiciel:</a:t>
            </a:r>
            <a:endParaRPr lang="fr-FR" altLang="fr-FR" sz="2000" b="1" dirty="0">
              <a:solidFill>
                <a:schemeClr val="accent6">
                  <a:lumMod val="75000"/>
                </a:schemeClr>
              </a:solidFill>
              <a:latin typeface="Comic Sans MS" panose="030F0702030302020204" pitchFamily="66" charset="0"/>
            </a:endParaRPr>
          </a:p>
          <a:p>
            <a:pPr algn="just">
              <a:buFont typeface="Wingdings" panose="05000000000000000000" pitchFamily="2" charset="2"/>
              <a:buChar char="q"/>
              <a:defRPr/>
            </a:pPr>
            <a:r>
              <a:rPr lang="fr-FR" altLang="fr-FR" sz="2800" b="1" dirty="0">
                <a:latin typeface="Bodoni MT" panose="02070603080606020203" pitchFamily="18" charset="0"/>
              </a:rPr>
              <a:t>Fichier de données (.</a:t>
            </a:r>
            <a:r>
              <a:rPr lang="fr-FR" altLang="fr-FR" sz="2800" b="1" dirty="0" err="1">
                <a:latin typeface="Bodoni MT" panose="02070603080606020203" pitchFamily="18" charset="0"/>
              </a:rPr>
              <a:t>sav</a:t>
            </a:r>
            <a:r>
              <a:rPr lang="fr-FR" altLang="fr-FR" sz="2800" b="1" dirty="0">
                <a:latin typeface="Bodoni MT" panose="02070603080606020203" pitchFamily="18" charset="0"/>
              </a:rPr>
              <a:t>)</a:t>
            </a:r>
          </a:p>
          <a:p>
            <a:pPr marL="301943" lvl="1" indent="0">
              <a:buNone/>
              <a:defRPr/>
            </a:pPr>
            <a:r>
              <a:rPr lang="fr-FR" sz="2400" b="1" dirty="0">
                <a:solidFill>
                  <a:srgbClr val="FF0000"/>
                </a:solidFill>
              </a:rPr>
              <a:t>              Affichage des variables </a:t>
            </a:r>
            <a:endParaRPr lang="fr-FR" sz="2400" dirty="0">
              <a:solidFill>
                <a:srgbClr val="FF0000"/>
              </a:solidFill>
            </a:endParaRPr>
          </a:p>
          <a:p>
            <a:pPr>
              <a:buFontTx/>
              <a:buNone/>
              <a:defRPr/>
            </a:pPr>
            <a:endParaRPr lang="fr-FR" sz="2000" dirty="0"/>
          </a:p>
        </p:txBody>
      </p:sp>
      <p:pic>
        <p:nvPicPr>
          <p:cNvPr id="7" name="Picture 807"/>
          <p:cNvPicPr/>
          <p:nvPr/>
        </p:nvPicPr>
        <p:blipFill>
          <a:blip r:embed="rId2"/>
          <a:stretch>
            <a:fillRect/>
          </a:stretch>
        </p:blipFill>
        <p:spPr>
          <a:xfrm>
            <a:off x="611560" y="2420888"/>
            <a:ext cx="6995160" cy="3417570"/>
          </a:xfrm>
          <a:prstGeom prst="rect">
            <a:avLst/>
          </a:prstGeom>
        </p:spPr>
      </p:pic>
      <p:sp>
        <p:nvSpPr>
          <p:cNvPr id="8" name="Title 1">
            <a:extLst>
              <a:ext uri="{FF2B5EF4-FFF2-40B4-BE49-F238E27FC236}">
                <a16:creationId xmlns:a16="http://schemas.microsoft.com/office/drawing/2014/main" id="{D45DD472-A36A-479A-BEB5-8E407D472960}"/>
              </a:ext>
            </a:extLst>
          </p:cNvPr>
          <p:cNvSpPr>
            <a:spLocks noGrp="1"/>
          </p:cNvSpPr>
          <p:nvPr>
            <p:ph type="title"/>
          </p:nvPr>
        </p:nvSpPr>
        <p:spPr>
          <a:xfrm>
            <a:off x="381000" y="116632"/>
            <a:ext cx="8382000" cy="1163395"/>
          </a:xfrm>
        </p:spPr>
        <p:txBody>
          <a:bodyPr>
            <a:noAutofit/>
          </a:bodyPr>
          <a:lstStyle/>
          <a:p>
            <a:pPr algn="just" defTabSz="914400">
              <a:lnSpc>
                <a:spcPct val="90000"/>
              </a:lnSpc>
              <a:spcBef>
                <a:spcPts val="0"/>
              </a:spcBef>
              <a:buNone/>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1- Généralités</a:t>
            </a:r>
            <a:endPar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endParaRPr>
          </a:p>
        </p:txBody>
      </p:sp>
    </p:spTree>
    <p:extLst>
      <p:ext uri="{BB962C8B-B14F-4D97-AF65-F5344CB8AC3E}">
        <p14:creationId xmlns:p14="http://schemas.microsoft.com/office/powerpoint/2010/main" val="27520811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2"/>
          <p:cNvSpPr>
            <a:spLocks noGrp="1"/>
          </p:cNvSpPr>
          <p:nvPr>
            <p:ph idx="1"/>
          </p:nvPr>
        </p:nvSpPr>
        <p:spPr>
          <a:xfrm>
            <a:off x="251908" y="1052736"/>
            <a:ext cx="8503920" cy="5010150"/>
          </a:xfrm>
        </p:spPr>
        <p:txBody>
          <a:bodyPr>
            <a:normAutofit/>
          </a:bodyPr>
          <a:lstStyle/>
          <a:p>
            <a:pPr marL="0" indent="0">
              <a:buNone/>
              <a:defRPr/>
            </a:pPr>
            <a:r>
              <a:rPr lang="fr-FR" b="1" dirty="0">
                <a:solidFill>
                  <a:srgbClr val="002060"/>
                </a:solidFill>
                <a:latin typeface="Comic Sans MS" panose="030F0702030302020204" pitchFamily="66" charset="0"/>
                <a:ea typeface="MS PGothic" pitchFamily="34" charset="-128"/>
              </a:rPr>
              <a:t>A -  Vue globale sur le logiciel:</a:t>
            </a:r>
            <a:endParaRPr lang="fr-FR" altLang="fr-FR" sz="2000" b="1" dirty="0">
              <a:solidFill>
                <a:schemeClr val="accent6">
                  <a:lumMod val="75000"/>
                </a:schemeClr>
              </a:solidFill>
              <a:latin typeface="Comic Sans MS" panose="030F0702030302020204" pitchFamily="66" charset="0"/>
            </a:endParaRPr>
          </a:p>
          <a:p>
            <a:pPr algn="just">
              <a:buFont typeface="Wingdings" panose="05000000000000000000" pitchFamily="2" charset="2"/>
              <a:buChar char="q"/>
              <a:defRPr/>
            </a:pPr>
            <a:r>
              <a:rPr lang="fr-FR" altLang="fr-FR" sz="2800" b="1" dirty="0">
                <a:latin typeface="Comic Sans MS" panose="030F0702030302020204" pitchFamily="66" charset="0"/>
              </a:rPr>
              <a:t>Fichier de résultats (.</a:t>
            </a:r>
            <a:r>
              <a:rPr lang="fr-FR" altLang="fr-FR" sz="2800" b="1" dirty="0" err="1">
                <a:latin typeface="Comic Sans MS" panose="030F0702030302020204" pitchFamily="66" charset="0"/>
              </a:rPr>
              <a:t>spv</a:t>
            </a:r>
            <a:r>
              <a:rPr lang="fr-FR" altLang="fr-FR" sz="2800" b="1" dirty="0">
                <a:latin typeface="Comic Sans MS" panose="030F0702030302020204" pitchFamily="66" charset="0"/>
              </a:rPr>
              <a:t>)</a:t>
            </a:r>
          </a:p>
          <a:p>
            <a:pPr marL="301943" lvl="1" indent="0">
              <a:buNone/>
              <a:defRPr/>
            </a:pPr>
            <a:r>
              <a:rPr lang="fr-FR" sz="2400" b="1" dirty="0">
                <a:solidFill>
                  <a:srgbClr val="FF0000"/>
                </a:solidFill>
              </a:rPr>
              <a:t>              </a:t>
            </a:r>
            <a:endParaRPr lang="fr-FR" sz="2400" dirty="0">
              <a:solidFill>
                <a:srgbClr val="FF0000"/>
              </a:solidFill>
            </a:endParaRPr>
          </a:p>
          <a:p>
            <a:pPr>
              <a:buFontTx/>
              <a:buNone/>
              <a:defRPr/>
            </a:pPr>
            <a:endParaRPr lang="fr-FR" sz="2000" dirty="0"/>
          </a:p>
        </p:txBody>
      </p:sp>
      <p:pic>
        <p:nvPicPr>
          <p:cNvPr id="8" name="Picture 819"/>
          <p:cNvPicPr/>
          <p:nvPr/>
        </p:nvPicPr>
        <p:blipFill>
          <a:blip r:embed="rId2"/>
          <a:stretch>
            <a:fillRect/>
          </a:stretch>
        </p:blipFill>
        <p:spPr>
          <a:xfrm>
            <a:off x="467544" y="2216131"/>
            <a:ext cx="7733294" cy="3312543"/>
          </a:xfrm>
          <a:prstGeom prst="rect">
            <a:avLst/>
          </a:prstGeom>
        </p:spPr>
      </p:pic>
      <p:sp>
        <p:nvSpPr>
          <p:cNvPr id="7" name="Title 1">
            <a:extLst>
              <a:ext uri="{FF2B5EF4-FFF2-40B4-BE49-F238E27FC236}">
                <a16:creationId xmlns:a16="http://schemas.microsoft.com/office/drawing/2014/main" id="{7F971749-5F2C-448C-8B15-97A9D69970AB}"/>
              </a:ext>
            </a:extLst>
          </p:cNvPr>
          <p:cNvSpPr>
            <a:spLocks noGrp="1"/>
          </p:cNvSpPr>
          <p:nvPr>
            <p:ph type="title"/>
          </p:nvPr>
        </p:nvSpPr>
        <p:spPr>
          <a:xfrm>
            <a:off x="381000" y="116632"/>
            <a:ext cx="8382000" cy="1163395"/>
          </a:xfrm>
        </p:spPr>
        <p:txBody>
          <a:bodyPr>
            <a:noAutofit/>
          </a:bodyPr>
          <a:lstStyle/>
          <a:p>
            <a:pPr algn="just" defTabSz="914400">
              <a:lnSpc>
                <a:spcPct val="90000"/>
              </a:lnSpc>
              <a:spcBef>
                <a:spcPts val="0"/>
              </a:spcBef>
              <a:buNone/>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1- Généralités</a:t>
            </a:r>
            <a:endPar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endParaRPr>
          </a:p>
        </p:txBody>
      </p:sp>
    </p:spTree>
    <p:extLst>
      <p:ext uri="{BB962C8B-B14F-4D97-AF65-F5344CB8AC3E}">
        <p14:creationId xmlns:p14="http://schemas.microsoft.com/office/powerpoint/2010/main" val="40008233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2"/>
          <p:cNvSpPr>
            <a:spLocks noGrp="1"/>
          </p:cNvSpPr>
          <p:nvPr>
            <p:ph idx="1"/>
          </p:nvPr>
        </p:nvSpPr>
        <p:spPr>
          <a:xfrm>
            <a:off x="248796" y="923925"/>
            <a:ext cx="8503920" cy="5010150"/>
          </a:xfrm>
        </p:spPr>
        <p:txBody>
          <a:bodyPr>
            <a:normAutofit/>
          </a:bodyPr>
          <a:lstStyle/>
          <a:p>
            <a:pPr marL="0" indent="0">
              <a:buNone/>
              <a:defRPr/>
            </a:pPr>
            <a:r>
              <a:rPr lang="fr-FR" b="1" dirty="0">
                <a:solidFill>
                  <a:srgbClr val="002060"/>
                </a:solidFill>
                <a:latin typeface="Comic Sans MS" panose="030F0702030302020204" pitchFamily="66" charset="0"/>
                <a:ea typeface="MS PGothic" pitchFamily="34" charset="-128"/>
              </a:rPr>
              <a:t>A -  Vue globale sur le logiciel:</a:t>
            </a:r>
            <a:endParaRPr lang="fr-FR" altLang="fr-FR" sz="2000" b="1" dirty="0">
              <a:solidFill>
                <a:schemeClr val="accent6">
                  <a:lumMod val="75000"/>
                </a:schemeClr>
              </a:solidFill>
              <a:latin typeface="Comic Sans MS" panose="030F0702030302020204" pitchFamily="66" charset="0"/>
            </a:endParaRPr>
          </a:p>
          <a:p>
            <a:pPr algn="just">
              <a:buFont typeface="Wingdings" panose="05000000000000000000" pitchFamily="2" charset="2"/>
              <a:buChar char="q"/>
              <a:defRPr/>
            </a:pPr>
            <a:r>
              <a:rPr lang="fr-FR" altLang="fr-FR" sz="2800" b="1" dirty="0">
                <a:latin typeface="Comic Sans MS" panose="030F0702030302020204" pitchFamily="66" charset="0"/>
              </a:rPr>
              <a:t>Fichier de syntaxe (.</a:t>
            </a:r>
            <a:r>
              <a:rPr lang="fr-FR" altLang="fr-FR" sz="2800" b="1" dirty="0" err="1">
                <a:latin typeface="Comic Sans MS" panose="030F0702030302020204" pitchFamily="66" charset="0"/>
              </a:rPr>
              <a:t>sps</a:t>
            </a:r>
            <a:r>
              <a:rPr lang="fr-FR" altLang="fr-FR" sz="2800" b="1" dirty="0">
                <a:latin typeface="Comic Sans MS" panose="030F0702030302020204" pitchFamily="66" charset="0"/>
              </a:rPr>
              <a:t>)</a:t>
            </a:r>
          </a:p>
          <a:p>
            <a:pPr marL="301943" lvl="1" indent="0">
              <a:buNone/>
              <a:defRPr/>
            </a:pPr>
            <a:r>
              <a:rPr lang="fr-FR" sz="2400" b="1" dirty="0">
                <a:solidFill>
                  <a:srgbClr val="FF0000"/>
                </a:solidFill>
              </a:rPr>
              <a:t>              </a:t>
            </a:r>
            <a:endParaRPr lang="fr-FR" sz="2400" dirty="0">
              <a:solidFill>
                <a:srgbClr val="FF0000"/>
              </a:solidFill>
            </a:endParaRPr>
          </a:p>
          <a:p>
            <a:pPr>
              <a:buFontTx/>
              <a:buNone/>
              <a:defRPr/>
            </a:pPr>
            <a:endParaRPr lang="fr-FR" sz="2000" dirty="0"/>
          </a:p>
        </p:txBody>
      </p:sp>
      <p:pic>
        <p:nvPicPr>
          <p:cNvPr id="9" name="Image 8"/>
          <p:cNvPicPr/>
          <p:nvPr/>
        </p:nvPicPr>
        <p:blipFill>
          <a:blip r:embed="rId2"/>
          <a:stretch>
            <a:fillRect/>
          </a:stretch>
        </p:blipFill>
        <p:spPr>
          <a:xfrm>
            <a:off x="373465" y="2086694"/>
            <a:ext cx="7634376" cy="3847381"/>
          </a:xfrm>
          <a:prstGeom prst="rect">
            <a:avLst/>
          </a:prstGeom>
        </p:spPr>
      </p:pic>
      <p:sp>
        <p:nvSpPr>
          <p:cNvPr id="7" name="Title 1">
            <a:extLst>
              <a:ext uri="{FF2B5EF4-FFF2-40B4-BE49-F238E27FC236}">
                <a16:creationId xmlns:a16="http://schemas.microsoft.com/office/drawing/2014/main" id="{03F565F2-6CB7-4D9A-9CAE-9DB5399E9A33}"/>
              </a:ext>
            </a:extLst>
          </p:cNvPr>
          <p:cNvSpPr>
            <a:spLocks noGrp="1"/>
          </p:cNvSpPr>
          <p:nvPr>
            <p:ph type="title"/>
          </p:nvPr>
        </p:nvSpPr>
        <p:spPr>
          <a:xfrm>
            <a:off x="381000" y="116633"/>
            <a:ext cx="8382000" cy="936104"/>
          </a:xfrm>
        </p:spPr>
        <p:txBody>
          <a:bodyPr>
            <a:noAutofit/>
          </a:bodyPr>
          <a:lstStyle/>
          <a:p>
            <a:pPr algn="just" defTabSz="914400">
              <a:lnSpc>
                <a:spcPct val="90000"/>
              </a:lnSpc>
              <a:spcBef>
                <a:spcPts val="0"/>
              </a:spcBef>
              <a:buNone/>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1- Généralités</a:t>
            </a:r>
            <a:endPar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endParaRPr>
          </a:p>
        </p:txBody>
      </p:sp>
    </p:spTree>
    <p:extLst>
      <p:ext uri="{BB962C8B-B14F-4D97-AF65-F5344CB8AC3E}">
        <p14:creationId xmlns:p14="http://schemas.microsoft.com/office/powerpoint/2010/main" val="4141802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2"/>
          <p:cNvSpPr>
            <a:spLocks noGrp="1"/>
          </p:cNvSpPr>
          <p:nvPr>
            <p:ph idx="1"/>
          </p:nvPr>
        </p:nvSpPr>
        <p:spPr>
          <a:xfrm>
            <a:off x="251520" y="1268760"/>
            <a:ext cx="8263890" cy="5010150"/>
          </a:xfrm>
        </p:spPr>
        <p:txBody>
          <a:bodyPr>
            <a:normAutofit/>
          </a:bodyPr>
          <a:lstStyle/>
          <a:p>
            <a:pPr marL="0" indent="0">
              <a:buNone/>
              <a:defRPr/>
            </a:pPr>
            <a:r>
              <a:rPr lang="fr-FR" sz="2800" b="1" dirty="0">
                <a:solidFill>
                  <a:srgbClr val="002060"/>
                </a:solidFill>
                <a:latin typeface="Comic Sans MS" panose="030F0702030302020204" pitchFamily="66" charset="0"/>
                <a:ea typeface="MS PGothic" pitchFamily="34" charset="-128"/>
              </a:rPr>
              <a:t>B-Que peut faire SPSS :</a:t>
            </a:r>
          </a:p>
          <a:p>
            <a:pPr marL="514350" indent="-514350">
              <a:buFontTx/>
              <a:buNone/>
              <a:defRPr/>
            </a:pPr>
            <a:endParaRPr lang="fr-FR" sz="2000" dirty="0"/>
          </a:p>
          <a:p>
            <a:pPr algn="just">
              <a:buFontTx/>
              <a:buNone/>
              <a:defRPr/>
            </a:pPr>
            <a:r>
              <a:rPr lang="fr-FR" sz="2000" b="1" dirty="0">
                <a:latin typeface="Comic Sans MS" panose="030F0702030302020204" pitchFamily="66" charset="0"/>
              </a:rPr>
              <a:t>SPSS est un logiciel d’analyse et de traitement de données.</a:t>
            </a:r>
          </a:p>
          <a:p>
            <a:pPr algn="just">
              <a:buFontTx/>
              <a:buNone/>
              <a:defRPr/>
            </a:pPr>
            <a:r>
              <a:rPr lang="fr-FR" sz="2000" b="1" dirty="0">
                <a:latin typeface="Comic Sans MS" panose="030F0702030302020204" pitchFamily="66" charset="0"/>
              </a:rPr>
              <a:t>Ses fonctions diversifiées permettent de développer plusieurs types d’analyses :</a:t>
            </a:r>
          </a:p>
          <a:p>
            <a:pPr algn="just">
              <a:buFontTx/>
              <a:buNone/>
              <a:defRPr/>
            </a:pPr>
            <a:r>
              <a:rPr lang="fr-FR" sz="2000" b="1" dirty="0">
                <a:latin typeface="Comic Sans MS" panose="030F0702030302020204" pitchFamily="66" charset="0"/>
              </a:rPr>
              <a:t>- L’analyse « basique » (Fréquences, Moyennes, Tableaux croisés…)</a:t>
            </a:r>
          </a:p>
          <a:p>
            <a:pPr algn="just">
              <a:buFontTx/>
              <a:buNone/>
              <a:defRPr/>
            </a:pPr>
            <a:r>
              <a:rPr lang="fr-FR" sz="2000" b="1" dirty="0">
                <a:latin typeface="Comic Sans MS" panose="030F0702030302020204" pitchFamily="66" charset="0"/>
              </a:rPr>
              <a:t>- L’analyse économétrique (Régressions linéaires, multiples…)</a:t>
            </a:r>
          </a:p>
          <a:p>
            <a:pPr algn="just">
              <a:buFontTx/>
              <a:buNone/>
              <a:defRPr/>
            </a:pPr>
            <a:r>
              <a:rPr lang="fr-FR" sz="2000" b="1" dirty="0">
                <a:latin typeface="Comic Sans MS" panose="030F0702030302020204" pitchFamily="66" charset="0"/>
              </a:rPr>
              <a:t>- L’analyse de données (Analyse factorielle, …)</a:t>
            </a:r>
          </a:p>
          <a:p>
            <a:pPr algn="just">
              <a:buFontTx/>
              <a:buNone/>
              <a:defRPr/>
            </a:pPr>
            <a:r>
              <a:rPr lang="fr-FR" sz="2000" b="1" dirty="0">
                <a:latin typeface="Comic Sans MS" panose="030F0702030302020204" pitchFamily="66" charset="0"/>
              </a:rPr>
              <a:t>- Et bien d’autres encore…</a:t>
            </a:r>
          </a:p>
          <a:p>
            <a:pPr>
              <a:buFontTx/>
              <a:buNone/>
              <a:defRPr/>
            </a:pPr>
            <a:endParaRPr lang="fr-FR" sz="2000" dirty="0"/>
          </a:p>
        </p:txBody>
      </p:sp>
      <p:sp>
        <p:nvSpPr>
          <p:cNvPr id="7" name="Title 1">
            <a:extLst>
              <a:ext uri="{FF2B5EF4-FFF2-40B4-BE49-F238E27FC236}">
                <a16:creationId xmlns:a16="http://schemas.microsoft.com/office/drawing/2014/main" id="{057FC7A4-B130-4EE1-93C4-623D4DDE0B39}"/>
              </a:ext>
            </a:extLst>
          </p:cNvPr>
          <p:cNvSpPr>
            <a:spLocks noGrp="1"/>
          </p:cNvSpPr>
          <p:nvPr>
            <p:ph type="title"/>
          </p:nvPr>
        </p:nvSpPr>
        <p:spPr>
          <a:xfrm>
            <a:off x="381000" y="116633"/>
            <a:ext cx="8382000" cy="936104"/>
          </a:xfrm>
        </p:spPr>
        <p:txBody>
          <a:bodyPr>
            <a:noAutofit/>
          </a:bodyPr>
          <a:lstStyle/>
          <a:p>
            <a:pPr algn="just" defTabSz="914400">
              <a:lnSpc>
                <a:spcPct val="90000"/>
              </a:lnSpc>
              <a:spcBef>
                <a:spcPts val="0"/>
              </a:spcBef>
              <a:buNone/>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1- Généralités</a:t>
            </a:r>
            <a:endParaRPr lang="fr-FR" sz="6000" b="0" i="0" spc="-150" noProof="1">
              <a:solidFill>
                <a:srgbClr val="1D4775"/>
              </a:solidFill>
              <a:effectLst>
                <a:outerShdw blurRad="50800" dist="38100" dir="2700000" algn="tl">
                  <a:prstClr val="black">
                    <a:alpha val="40000"/>
                  </a:prstClr>
                </a:outerShdw>
              </a:effectLst>
              <a:latin typeface="Bauhaus 93" panose="04030905020B02020C02" pitchFamily="82" charset="0"/>
              <a:cs typeface="Arial"/>
            </a:endParaRPr>
          </a:p>
        </p:txBody>
      </p:sp>
    </p:spTree>
    <p:extLst>
      <p:ext uri="{BB962C8B-B14F-4D97-AF65-F5344CB8AC3E}">
        <p14:creationId xmlns:p14="http://schemas.microsoft.com/office/powerpoint/2010/main" val="28557955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2"/>
          <p:cNvSpPr>
            <a:spLocks noGrp="1"/>
          </p:cNvSpPr>
          <p:nvPr>
            <p:ph idx="1"/>
          </p:nvPr>
        </p:nvSpPr>
        <p:spPr>
          <a:xfrm>
            <a:off x="459759" y="1844824"/>
            <a:ext cx="8332470" cy="4693920"/>
          </a:xfrm>
        </p:spPr>
        <p:txBody>
          <a:bodyPr>
            <a:normAutofit/>
          </a:bodyPr>
          <a:lstStyle/>
          <a:p>
            <a:pPr marL="0" indent="0">
              <a:buNone/>
              <a:defRPr/>
            </a:pPr>
            <a:r>
              <a:rPr lang="fr-FR" sz="2800" b="1" dirty="0">
                <a:solidFill>
                  <a:srgbClr val="002060"/>
                </a:solidFill>
                <a:latin typeface="Comic Sans MS" panose="030F0702030302020204" pitchFamily="66" charset="0"/>
                <a:ea typeface="MS PGothic" pitchFamily="34" charset="-128"/>
              </a:rPr>
              <a:t>A -  Edition de données</a:t>
            </a:r>
          </a:p>
          <a:p>
            <a:pPr>
              <a:buFont typeface="Wingdings" panose="05000000000000000000" pitchFamily="2" charset="2"/>
              <a:buChar char="ü"/>
              <a:defRPr/>
            </a:pPr>
            <a:r>
              <a:rPr lang="fr-FR" sz="2000" b="1" dirty="0">
                <a:latin typeface="Comic Sans MS" panose="030F0702030302020204" pitchFamily="66" charset="0"/>
              </a:rPr>
              <a:t>Saisie des données</a:t>
            </a:r>
          </a:p>
          <a:p>
            <a:pPr marL="0" indent="0">
              <a:buNone/>
              <a:defRPr/>
            </a:pPr>
            <a:endParaRPr lang="fr-FR" sz="2000" b="1" dirty="0">
              <a:latin typeface="Comic Sans MS" panose="030F0702030302020204" pitchFamily="66" charset="0"/>
            </a:endParaRPr>
          </a:p>
          <a:p>
            <a:pPr algn="just">
              <a:buFont typeface="Wingdings" panose="05000000000000000000" pitchFamily="2" charset="2"/>
              <a:buChar char="ü"/>
              <a:defRPr/>
            </a:pPr>
            <a:r>
              <a:rPr lang="fr-FR" sz="2000" b="1" dirty="0">
                <a:latin typeface="Comic Sans MS" panose="030F0702030302020204" pitchFamily="66" charset="0"/>
              </a:rPr>
              <a:t>Modification des données</a:t>
            </a:r>
          </a:p>
          <a:p>
            <a:pPr marL="0" indent="0" algn="just">
              <a:buNone/>
              <a:defRPr/>
            </a:pPr>
            <a:endParaRPr lang="fr-FR" sz="2000" b="1" dirty="0">
              <a:latin typeface="Comic Sans MS" panose="030F0702030302020204" pitchFamily="66" charset="0"/>
            </a:endParaRPr>
          </a:p>
          <a:p>
            <a:pPr algn="just">
              <a:buFont typeface="Wingdings" panose="05000000000000000000" pitchFamily="2" charset="2"/>
              <a:buChar char="ü"/>
              <a:defRPr/>
            </a:pPr>
            <a:r>
              <a:rPr lang="fr-FR" sz="2000" b="1" dirty="0">
                <a:latin typeface="Comic Sans MS" panose="030F0702030302020204" pitchFamily="66" charset="0"/>
              </a:rPr>
              <a:t>Ecrire des syntaxes (programmes): </a:t>
            </a:r>
          </a:p>
          <a:p>
            <a:pPr lvl="1" algn="just">
              <a:buFont typeface="Wingdings" panose="05000000000000000000" pitchFamily="2" charset="2"/>
              <a:buChar char="q"/>
              <a:defRPr/>
            </a:pPr>
            <a:r>
              <a:rPr lang="fr-FR" sz="1800" b="1" dirty="0">
                <a:latin typeface="Comic Sans MS" panose="030F0702030302020204" pitchFamily="66" charset="0"/>
              </a:rPr>
              <a:t>Exemples pour ouvrir un fichier</a:t>
            </a:r>
          </a:p>
          <a:p>
            <a:pPr algn="just">
              <a:buNone/>
              <a:defRPr/>
            </a:pPr>
            <a:r>
              <a:rPr lang="fr-FR" sz="2000" b="1" dirty="0">
                <a:latin typeface="Comic Sans MS" panose="030F0702030302020204" pitchFamily="66" charset="0"/>
              </a:rPr>
              <a:t>GET FILE = '</a:t>
            </a:r>
            <a:r>
              <a:rPr lang="fr-FR" sz="2000" b="1" dirty="0" err="1">
                <a:latin typeface="Comic Sans MS" panose="030F0702030302020204" pitchFamily="66" charset="0"/>
              </a:rPr>
              <a:t>E:traitementdedonnées</a:t>
            </a:r>
            <a:r>
              <a:rPr lang="fr-FR" sz="2000" b="1" dirty="0">
                <a:latin typeface="Comic Sans MS" panose="030F0702030302020204" pitchFamily="66" charset="0"/>
              </a:rPr>
              <a:t>\</a:t>
            </a:r>
            <a:r>
              <a:rPr lang="fr-FR" sz="2000" b="1" dirty="0" err="1">
                <a:latin typeface="Comic Sans MS" panose="030F0702030302020204" pitchFamily="66" charset="0"/>
              </a:rPr>
              <a:t>femme.sav</a:t>
            </a:r>
            <a:r>
              <a:rPr lang="fr-FR" sz="2000" b="1" dirty="0">
                <a:latin typeface="Comic Sans MS" panose="030F0702030302020204" pitchFamily="66" charset="0"/>
              </a:rPr>
              <a:t>' </a:t>
            </a:r>
          </a:p>
          <a:p>
            <a:pPr algn="just">
              <a:buNone/>
              <a:defRPr/>
            </a:pPr>
            <a:endParaRPr lang="fr-FR" sz="2800" b="1" dirty="0">
              <a:solidFill>
                <a:schemeClr val="accent6">
                  <a:lumMod val="75000"/>
                </a:schemeClr>
              </a:solidFill>
              <a:latin typeface="Comic Sans MS" panose="030F0702030302020204" pitchFamily="66" charset="0"/>
            </a:endParaRPr>
          </a:p>
          <a:p>
            <a:pPr marL="0" indent="0">
              <a:buNone/>
              <a:defRPr/>
            </a:pPr>
            <a:r>
              <a:rPr lang="fr-FR" sz="2800" b="1" dirty="0">
                <a:solidFill>
                  <a:srgbClr val="002060"/>
                </a:solidFill>
                <a:latin typeface="Comic Sans MS" panose="030F0702030302020204" pitchFamily="66" charset="0"/>
                <a:ea typeface="MS PGothic" pitchFamily="34" charset="-128"/>
              </a:rPr>
              <a:t>B - Importer-exporter </a:t>
            </a:r>
          </a:p>
          <a:p>
            <a:pPr>
              <a:buFontTx/>
              <a:buNone/>
              <a:defRPr/>
            </a:pPr>
            <a:endParaRPr lang="fr-FR" sz="2000" dirty="0"/>
          </a:p>
        </p:txBody>
      </p:sp>
      <p:sp>
        <p:nvSpPr>
          <p:cNvPr id="4" name="Title 1">
            <a:extLst>
              <a:ext uri="{FF2B5EF4-FFF2-40B4-BE49-F238E27FC236}">
                <a16:creationId xmlns:a16="http://schemas.microsoft.com/office/drawing/2014/main" id="{A5878A72-5342-49FE-B73D-1F2E96284EC3}"/>
              </a:ext>
            </a:extLst>
          </p:cNvPr>
          <p:cNvSpPr txBox="1">
            <a:spLocks/>
          </p:cNvSpPr>
          <p:nvPr/>
        </p:nvSpPr>
        <p:spPr>
          <a:xfrm>
            <a:off x="381000" y="116632"/>
            <a:ext cx="8382000" cy="1440160"/>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2- Gestion et modification des données</a:t>
            </a:r>
          </a:p>
        </p:txBody>
      </p:sp>
    </p:spTree>
    <p:extLst>
      <p:ext uri="{BB962C8B-B14F-4D97-AF65-F5344CB8AC3E}">
        <p14:creationId xmlns:p14="http://schemas.microsoft.com/office/powerpoint/2010/main" val="25902094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2453640"/>
            <a:ext cx="7620000" cy="2055947"/>
          </a:xfrm>
          <a:prstGeom prst="rect">
            <a:avLst/>
          </a:prstGeom>
        </p:spPr>
        <p:txBody>
          <a:bodyPr>
            <a:spAutoFit/>
          </a:bodyPr>
          <a:lstStyle/>
          <a:p>
            <a:pPr marL="342900" indent="-342900" eaLnBrk="0" hangingPunct="0">
              <a:spcBef>
                <a:spcPct val="20000"/>
              </a:spcBef>
              <a:defRPr/>
            </a:pPr>
            <a:r>
              <a:rPr lang="fr-FR" sz="2200" b="1" dirty="0">
                <a:solidFill>
                  <a:srgbClr val="002060"/>
                </a:solidFill>
                <a:latin typeface="Comic Sans MS" panose="030F0702030302020204" pitchFamily="66" charset="0"/>
                <a:ea typeface="MS PGothic" pitchFamily="34" charset="-128"/>
              </a:rPr>
              <a:t>A – </a:t>
            </a:r>
            <a:r>
              <a:rPr lang="fr-FR" sz="2200" b="1" dirty="0">
                <a:latin typeface="Comic Sans MS" panose="030F0702030302020204" pitchFamily="66" charset="0"/>
                <a:ea typeface="MS PGothic" pitchFamily="34" charset="-128"/>
              </a:rPr>
              <a:t>Recodage</a:t>
            </a:r>
          </a:p>
          <a:p>
            <a:pPr marL="342900" indent="-342900" eaLnBrk="0" hangingPunct="0">
              <a:spcBef>
                <a:spcPct val="20000"/>
              </a:spcBef>
              <a:defRPr/>
            </a:pPr>
            <a:endParaRPr lang="fr-FR" sz="2200" b="1" dirty="0">
              <a:latin typeface="Comic Sans MS" panose="030F0702030302020204" pitchFamily="66" charset="0"/>
              <a:ea typeface="MS PGothic" pitchFamily="34" charset="-128"/>
            </a:endParaRPr>
          </a:p>
          <a:p>
            <a:pPr marL="342900" indent="-342900" eaLnBrk="0" hangingPunct="0">
              <a:spcBef>
                <a:spcPct val="20000"/>
              </a:spcBef>
              <a:defRPr/>
            </a:pPr>
            <a:r>
              <a:rPr lang="fr-FR" sz="2200" b="1" dirty="0">
                <a:latin typeface="Comic Sans MS" panose="030F0702030302020204" pitchFamily="66" charset="0"/>
                <a:ea typeface="MS PGothic" pitchFamily="34" charset="-128"/>
              </a:rPr>
              <a:t>B – Création de nouvelles variables</a:t>
            </a:r>
          </a:p>
          <a:p>
            <a:pPr marL="342900" indent="-342900" eaLnBrk="0" hangingPunct="0">
              <a:spcBef>
                <a:spcPct val="20000"/>
              </a:spcBef>
              <a:defRPr/>
            </a:pPr>
            <a:endParaRPr lang="fr-FR" sz="2200" b="1" dirty="0">
              <a:latin typeface="Comic Sans MS" panose="030F0702030302020204" pitchFamily="66" charset="0"/>
              <a:ea typeface="MS PGothic" pitchFamily="34" charset="-128"/>
            </a:endParaRPr>
          </a:p>
          <a:p>
            <a:pPr marL="342900" indent="-342900" eaLnBrk="0" hangingPunct="0">
              <a:spcBef>
                <a:spcPct val="20000"/>
              </a:spcBef>
              <a:defRPr/>
            </a:pPr>
            <a:r>
              <a:rPr lang="fr-FR" sz="2200" b="1" dirty="0">
                <a:latin typeface="Comic Sans MS" panose="030F0702030302020204" pitchFamily="66" charset="0"/>
                <a:ea typeface="MS PGothic" pitchFamily="34" charset="-128"/>
              </a:rPr>
              <a:t>C – Modification des variables</a:t>
            </a:r>
          </a:p>
        </p:txBody>
      </p:sp>
      <p:sp>
        <p:nvSpPr>
          <p:cNvPr id="6" name="Title 1">
            <a:extLst>
              <a:ext uri="{FF2B5EF4-FFF2-40B4-BE49-F238E27FC236}">
                <a16:creationId xmlns:a16="http://schemas.microsoft.com/office/drawing/2014/main" id="{CF961B00-9F38-4FBF-85BB-3C647BB27993}"/>
              </a:ext>
            </a:extLst>
          </p:cNvPr>
          <p:cNvSpPr txBox="1">
            <a:spLocks/>
          </p:cNvSpPr>
          <p:nvPr/>
        </p:nvSpPr>
        <p:spPr>
          <a:xfrm>
            <a:off x="381000" y="116632"/>
            <a:ext cx="8382000" cy="1440160"/>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3- Gestion et modification des variables</a:t>
            </a:r>
          </a:p>
        </p:txBody>
      </p:sp>
    </p:spTree>
    <p:extLst>
      <p:ext uri="{BB962C8B-B14F-4D97-AF65-F5344CB8AC3E}">
        <p14:creationId xmlns:p14="http://schemas.microsoft.com/office/powerpoint/2010/main" val="13864397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2900" y="1074420"/>
            <a:ext cx="8343900" cy="3046988"/>
          </a:xfrm>
          <a:prstGeom prst="rect">
            <a:avLst/>
          </a:prstGeom>
        </p:spPr>
        <p:txBody>
          <a:bodyPr wrap="square">
            <a:spAutoFit/>
          </a:bodyPr>
          <a:lstStyle/>
          <a:p>
            <a:pPr marL="571500" indent="-571500">
              <a:buNone/>
              <a:defRPr/>
            </a:pPr>
            <a:r>
              <a:rPr lang="fr-FR" sz="2400" b="1" dirty="0">
                <a:latin typeface="Comic Sans MS" panose="030F0702030302020204" pitchFamily="66" charset="0"/>
              </a:rPr>
              <a:t> A -  Analyse unidimensionnelle</a:t>
            </a:r>
          </a:p>
          <a:p>
            <a:pPr>
              <a:defRPr/>
            </a:pPr>
            <a:endParaRPr lang="fr-FR" sz="2400" b="1" dirty="0">
              <a:solidFill>
                <a:srgbClr val="00B0F0"/>
              </a:solidFill>
              <a:latin typeface="Comic Sans MS" panose="030F0702030302020204" pitchFamily="66" charset="0"/>
            </a:endParaRPr>
          </a:p>
          <a:p>
            <a:pPr>
              <a:defRPr/>
            </a:pPr>
            <a:endParaRPr lang="fr-FR" sz="2400" b="1" dirty="0">
              <a:solidFill>
                <a:srgbClr val="00B0F0"/>
              </a:solidFill>
              <a:latin typeface="Comic Sans MS" panose="030F0702030302020204" pitchFamily="66" charset="0"/>
            </a:endParaRPr>
          </a:p>
          <a:p>
            <a:pPr>
              <a:defRPr/>
            </a:pPr>
            <a:endParaRPr lang="fr-FR" sz="2400" b="1" dirty="0">
              <a:solidFill>
                <a:srgbClr val="00B0F0"/>
              </a:solidFill>
              <a:latin typeface="Comic Sans MS" panose="030F0702030302020204" pitchFamily="66" charset="0"/>
            </a:endParaRPr>
          </a:p>
          <a:p>
            <a:pPr>
              <a:defRPr/>
            </a:pPr>
            <a:endParaRPr lang="fr-FR" sz="2400" b="1" dirty="0">
              <a:solidFill>
                <a:srgbClr val="00B0F0"/>
              </a:solidFill>
              <a:latin typeface="Comic Sans MS" panose="030F0702030302020204" pitchFamily="66" charset="0"/>
            </a:endParaRPr>
          </a:p>
          <a:p>
            <a:pPr>
              <a:defRPr/>
            </a:pPr>
            <a:endParaRPr lang="fr-FR" sz="2400" b="1" dirty="0">
              <a:solidFill>
                <a:srgbClr val="00B0F0"/>
              </a:solidFill>
              <a:latin typeface="Comic Sans MS" panose="030F0702030302020204" pitchFamily="66" charset="0"/>
            </a:endParaRPr>
          </a:p>
          <a:p>
            <a:pPr>
              <a:defRPr/>
            </a:pPr>
            <a:endParaRPr lang="fr-FR" sz="2400" b="1" dirty="0">
              <a:solidFill>
                <a:srgbClr val="00B0F0"/>
              </a:solidFill>
              <a:latin typeface="Comic Sans MS" panose="030F0702030302020204" pitchFamily="66" charset="0"/>
            </a:endParaRPr>
          </a:p>
          <a:p>
            <a:pPr>
              <a:defRPr/>
            </a:pPr>
            <a:endParaRPr lang="fr-FR" sz="2400" b="1" dirty="0">
              <a:solidFill>
                <a:srgbClr val="00B0F0"/>
              </a:solidFill>
              <a:latin typeface="Comic Sans MS" panose="030F0702030302020204" pitchFamily="66" charset="0"/>
            </a:endParaRPr>
          </a:p>
        </p:txBody>
      </p:sp>
      <p:pic>
        <p:nvPicPr>
          <p:cNvPr id="5" name="Picture 887"/>
          <p:cNvPicPr/>
          <p:nvPr/>
        </p:nvPicPr>
        <p:blipFill>
          <a:blip r:embed="rId2"/>
          <a:stretch>
            <a:fillRect/>
          </a:stretch>
        </p:blipFill>
        <p:spPr>
          <a:xfrm>
            <a:off x="463922" y="1916832"/>
            <a:ext cx="7748906" cy="2815590"/>
          </a:xfrm>
          <a:prstGeom prst="rect">
            <a:avLst/>
          </a:prstGeom>
        </p:spPr>
      </p:pic>
      <p:sp>
        <p:nvSpPr>
          <p:cNvPr id="7" name="Title 1">
            <a:extLst>
              <a:ext uri="{FF2B5EF4-FFF2-40B4-BE49-F238E27FC236}">
                <a16:creationId xmlns:a16="http://schemas.microsoft.com/office/drawing/2014/main" id="{3BF4A068-EC7F-4A6A-8AA0-0DBF01746544}"/>
              </a:ext>
            </a:extLst>
          </p:cNvPr>
          <p:cNvSpPr txBox="1">
            <a:spLocks/>
          </p:cNvSpPr>
          <p:nvPr/>
        </p:nvSpPr>
        <p:spPr>
          <a:xfrm>
            <a:off x="381000" y="116632"/>
            <a:ext cx="8382000" cy="1440160"/>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32999655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1520" y="1340768"/>
            <a:ext cx="8343900" cy="4173450"/>
          </a:xfrm>
          <a:prstGeom prst="rect">
            <a:avLst/>
          </a:prstGeom>
        </p:spPr>
        <p:txBody>
          <a:bodyPr wrap="square">
            <a:spAutoFit/>
          </a:bodyPr>
          <a:lstStyle/>
          <a:p>
            <a:pPr marL="571500" indent="-571500">
              <a:buNone/>
              <a:defRPr/>
            </a:pPr>
            <a:r>
              <a:rPr lang="fr-FR" sz="2400" b="1" dirty="0">
                <a:latin typeface="Comic Sans MS" panose="030F0702030302020204" pitchFamily="66" charset="0"/>
              </a:rPr>
              <a:t> A -  Analyse unidimensionnelle</a:t>
            </a:r>
          </a:p>
          <a:p>
            <a:pPr marL="571500" indent="-571500">
              <a:buNone/>
              <a:defRPr/>
            </a:pPr>
            <a:endParaRPr lang="fr-FR" sz="2400" b="1" dirty="0">
              <a:latin typeface="Comic Sans MS" panose="030F0702030302020204" pitchFamily="66" charset="0"/>
            </a:endParaRPr>
          </a:p>
          <a:p>
            <a:pPr marL="571500" indent="-571500">
              <a:buFont typeface="Wingdings" panose="05000000000000000000" pitchFamily="2" charset="2"/>
              <a:buChar char="v"/>
              <a:defRPr/>
            </a:pPr>
            <a:r>
              <a:rPr lang="fr-FR" sz="2400" b="1" dirty="0">
                <a:solidFill>
                  <a:srgbClr val="C00000"/>
                </a:solidFill>
                <a:latin typeface="Comic Sans MS" panose="030F0702030302020204" pitchFamily="66" charset="0"/>
              </a:rPr>
              <a:t>Caractéristiques numériques</a:t>
            </a:r>
          </a:p>
          <a:p>
            <a:pPr marL="274320" indent="-274320" algn="just">
              <a:spcBef>
                <a:spcPct val="20000"/>
              </a:spcBef>
              <a:buClr>
                <a:schemeClr val="accent1"/>
              </a:buClr>
              <a:buSzPct val="100000"/>
              <a:defRPr/>
            </a:pPr>
            <a:endParaRPr lang="fr-FR" sz="2000" b="1" dirty="0">
              <a:solidFill>
                <a:schemeClr val="accent6">
                  <a:lumMod val="75000"/>
                </a:schemeClr>
              </a:solidFill>
              <a:latin typeface="Comic Sans MS" panose="030F0702030302020204" pitchFamily="66" charset="0"/>
            </a:endParaRPr>
          </a:p>
          <a:p>
            <a:pPr marL="274320" indent="-274320" algn="just">
              <a:spcBef>
                <a:spcPct val="20000"/>
              </a:spcBef>
              <a:buClr>
                <a:schemeClr val="accent1"/>
              </a:buClr>
              <a:buSzPct val="100000"/>
              <a:defRPr/>
            </a:pPr>
            <a:r>
              <a:rPr lang="fr-FR" sz="2200" b="1" dirty="0">
                <a:latin typeface="Comic Sans MS" panose="030F0702030302020204" pitchFamily="66" charset="0"/>
              </a:rPr>
              <a:t>Cette partie concerne seulement les variables quantitatives. </a:t>
            </a:r>
          </a:p>
          <a:p>
            <a:pPr marL="274320" indent="-274320" algn="just">
              <a:spcBef>
                <a:spcPct val="20000"/>
              </a:spcBef>
              <a:buClr>
                <a:schemeClr val="accent1"/>
              </a:buClr>
              <a:buSzPct val="100000"/>
              <a:defRPr/>
            </a:pPr>
            <a:r>
              <a:rPr lang="fr-FR" sz="2200" b="1" dirty="0">
                <a:latin typeface="Comic Sans MS" panose="030F0702030302020204" pitchFamily="66" charset="0"/>
              </a:rPr>
              <a:t>Pour obtenir ces caractéristiques numériques, cliquez sur Analyse + Statistique descriptives + statistiques. </a:t>
            </a:r>
          </a:p>
          <a:p>
            <a:pPr marL="274320" indent="-274320" algn="just">
              <a:spcBef>
                <a:spcPct val="20000"/>
              </a:spcBef>
              <a:buClr>
                <a:schemeClr val="accent1"/>
              </a:buClr>
              <a:buSzPct val="100000"/>
              <a:defRPr/>
            </a:pPr>
            <a:r>
              <a:rPr lang="fr-FR" sz="2200" b="1" dirty="0">
                <a:latin typeface="Comic Sans MS" panose="030F0702030302020204" pitchFamily="66" charset="0"/>
              </a:rPr>
              <a:t>Il s’agit principalement des caractéristiques de tendance centrale ; de dispersion et de forme. </a:t>
            </a:r>
          </a:p>
          <a:p>
            <a:pPr>
              <a:defRPr/>
            </a:pPr>
            <a:endParaRPr lang="fr-FR" sz="2400" b="1" dirty="0">
              <a:solidFill>
                <a:srgbClr val="00B0F0"/>
              </a:solidFill>
              <a:latin typeface="Comic Sans MS" panose="030F0702030302020204" pitchFamily="66" charset="0"/>
            </a:endParaRPr>
          </a:p>
        </p:txBody>
      </p:sp>
      <p:sp>
        <p:nvSpPr>
          <p:cNvPr id="6" name="Title 1">
            <a:extLst>
              <a:ext uri="{FF2B5EF4-FFF2-40B4-BE49-F238E27FC236}">
                <a16:creationId xmlns:a16="http://schemas.microsoft.com/office/drawing/2014/main" id="{34A77A9D-AC80-45EA-963E-772765DBF4F8}"/>
              </a:ext>
            </a:extLst>
          </p:cNvPr>
          <p:cNvSpPr txBox="1">
            <a:spLocks/>
          </p:cNvSpPr>
          <p:nvPr/>
        </p:nvSpPr>
        <p:spPr>
          <a:xfrm>
            <a:off x="381000" y="116632"/>
            <a:ext cx="8382000" cy="1440160"/>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41321689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8296" y="1041592"/>
            <a:ext cx="8343900" cy="4216539"/>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pPr marL="571500" indent="-571500">
              <a:buNone/>
              <a:defRPr/>
            </a:pPr>
            <a:endParaRPr lang="fr-FR" sz="2400" b="1" dirty="0">
              <a:latin typeface="Comic Sans MS" panose="030F0702030302020204" pitchFamily="66" charset="0"/>
            </a:endParaRPr>
          </a:p>
          <a:p>
            <a:pPr marL="571500" indent="-571500">
              <a:buFont typeface="Wingdings" panose="05000000000000000000" pitchFamily="2" charset="2"/>
              <a:buChar char="v"/>
              <a:defRPr/>
            </a:pPr>
            <a:r>
              <a:rPr lang="fr-FR" sz="2000" dirty="0">
                <a:solidFill>
                  <a:srgbClr val="C00000"/>
                </a:solidFill>
                <a:latin typeface="Comic Sans MS" panose="030F0702030302020204" pitchFamily="66" charset="0"/>
              </a:rPr>
              <a:t>Tableaux croisés </a:t>
            </a:r>
          </a:p>
          <a:p>
            <a:pPr marL="571500" indent="-571500">
              <a:buFont typeface="Wingdings" panose="05000000000000000000" pitchFamily="2" charset="2"/>
              <a:buChar char="v"/>
              <a:defRPr/>
            </a:pPr>
            <a:endParaRPr lang="fr-FR" sz="2000" b="1" dirty="0">
              <a:solidFill>
                <a:srgbClr val="C00000"/>
              </a:solidFill>
              <a:latin typeface="Comic Sans MS" panose="030F0702030302020204" pitchFamily="66" charset="0"/>
              <a:ea typeface="MS PGothic" pitchFamily="34" charset="-128"/>
            </a:endParaRPr>
          </a:p>
          <a:p>
            <a:pPr marL="571500" indent="-571500">
              <a:buFont typeface="Wingdings" panose="05000000000000000000" pitchFamily="2" charset="2"/>
              <a:buChar char="v"/>
              <a:defRPr/>
            </a:pPr>
            <a:r>
              <a:rPr lang="fr-FR" sz="2000" dirty="0">
                <a:solidFill>
                  <a:srgbClr val="C00000"/>
                </a:solidFill>
                <a:latin typeface="Comic Sans MS" panose="030F0702030302020204" pitchFamily="66" charset="0"/>
              </a:rPr>
              <a:t>Etude des dépendances entre deux variables</a:t>
            </a:r>
          </a:p>
          <a:p>
            <a:pPr>
              <a:defRPr/>
            </a:pPr>
            <a:endParaRPr lang="fr-FR" sz="2000" dirty="0">
              <a:solidFill>
                <a:srgbClr val="C00000"/>
              </a:solidFill>
              <a:latin typeface="Comic Sans MS" panose="030F0702030302020204" pitchFamily="66" charset="0"/>
            </a:endParaRPr>
          </a:p>
          <a:p>
            <a:pPr>
              <a:defRPr/>
            </a:pPr>
            <a:r>
              <a:rPr lang="fr-FR" sz="2000" b="1" dirty="0">
                <a:solidFill>
                  <a:srgbClr val="0070C0"/>
                </a:solidFill>
                <a:latin typeface="Comic Sans MS" panose="030F0702030302020204" pitchFamily="66" charset="0"/>
              </a:rPr>
              <a:t>Le type d’analyse dépend du type de variables </a:t>
            </a:r>
          </a:p>
          <a:p>
            <a:pPr>
              <a:defRPr/>
            </a:pPr>
            <a:endParaRPr lang="fr-FR" sz="2000" b="1" dirty="0">
              <a:solidFill>
                <a:srgbClr val="C00000"/>
              </a:solidFill>
              <a:latin typeface="Comic Sans MS" panose="030F0702030302020204" pitchFamily="66" charset="0"/>
              <a:ea typeface="MS PGothic" pitchFamily="34" charset="-128"/>
            </a:endParaRPr>
          </a:p>
          <a:p>
            <a:pPr>
              <a:defRPr/>
            </a:pPr>
            <a:endParaRPr lang="fr-FR" sz="2000" b="1" dirty="0">
              <a:solidFill>
                <a:srgbClr val="C00000"/>
              </a:solidFill>
              <a:latin typeface="Comic Sans MS" panose="030F0702030302020204" pitchFamily="66" charset="0"/>
              <a:ea typeface="MS PGothic" pitchFamily="34" charset="-128"/>
            </a:endParaRPr>
          </a:p>
          <a:p>
            <a:pPr>
              <a:defRPr/>
            </a:pPr>
            <a:endParaRPr lang="fr-FR" sz="2000" b="1" dirty="0">
              <a:solidFill>
                <a:srgbClr val="C00000"/>
              </a:solidFill>
              <a:latin typeface="Comic Sans MS" panose="030F0702030302020204" pitchFamily="66" charset="0"/>
              <a:ea typeface="MS PGothic" pitchFamily="34" charset="-128"/>
            </a:endParaRPr>
          </a:p>
          <a:p>
            <a:pPr>
              <a:defRPr/>
            </a:pPr>
            <a:endParaRPr lang="fr-FR" sz="2000" b="1" dirty="0">
              <a:solidFill>
                <a:srgbClr val="C00000"/>
              </a:solidFill>
              <a:latin typeface="Comic Sans MS" panose="030F0702030302020204" pitchFamily="66" charset="0"/>
              <a:ea typeface="MS PGothic" pitchFamily="34" charset="-128"/>
            </a:endParaRPr>
          </a:p>
          <a:p>
            <a:pPr>
              <a:defRPr/>
            </a:pPr>
            <a:endParaRPr lang="fr-FR" sz="2000" b="1" dirty="0">
              <a:solidFill>
                <a:srgbClr val="C00000"/>
              </a:solidFill>
              <a:latin typeface="Comic Sans MS" panose="030F0702030302020204" pitchFamily="66" charset="0"/>
              <a:ea typeface="MS PGothic" pitchFamily="34" charset="-128"/>
            </a:endParaRPr>
          </a:p>
          <a:p>
            <a:pPr>
              <a:defRPr/>
            </a:pPr>
            <a:endParaRPr lang="fr-FR" sz="2000" b="1" dirty="0">
              <a:solidFill>
                <a:srgbClr val="C00000"/>
              </a:solidFill>
              <a:latin typeface="Comic Sans MS" panose="030F0702030302020204" pitchFamily="66" charset="0"/>
              <a:ea typeface="MS PGothic" pitchFamily="34" charset="-128"/>
            </a:endParaRPr>
          </a:p>
        </p:txBody>
      </p:sp>
      <p:graphicFrame>
        <p:nvGraphicFramePr>
          <p:cNvPr id="5" name="Tableau 4"/>
          <p:cNvGraphicFramePr>
            <a:graphicFrameLocks noGrp="1"/>
          </p:cNvGraphicFramePr>
          <p:nvPr>
            <p:extLst>
              <p:ext uri="{D42A27DB-BD31-4B8C-83A1-F6EECF244321}">
                <p14:modId xmlns:p14="http://schemas.microsoft.com/office/powerpoint/2010/main" val="3525668025"/>
              </p:ext>
            </p:extLst>
          </p:nvPr>
        </p:nvGraphicFramePr>
        <p:xfrm>
          <a:off x="348615" y="3429000"/>
          <a:ext cx="8446770" cy="1811866"/>
        </p:xfrm>
        <a:graphic>
          <a:graphicData uri="http://schemas.openxmlformats.org/drawingml/2006/table">
            <a:tbl>
              <a:tblPr firstRow="1" bandRow="1">
                <a:tableStyleId>{073A0DAA-6AF3-43AB-8588-CEC1D06C72B9}</a:tableStyleId>
              </a:tblPr>
              <a:tblGrid>
                <a:gridCol w="1882140">
                  <a:extLst>
                    <a:ext uri="{9D8B030D-6E8A-4147-A177-3AD203B41FA5}">
                      <a16:colId xmlns:a16="http://schemas.microsoft.com/office/drawing/2014/main" val="20000"/>
                    </a:ext>
                  </a:extLst>
                </a:gridCol>
                <a:gridCol w="2792730">
                  <a:extLst>
                    <a:ext uri="{9D8B030D-6E8A-4147-A177-3AD203B41FA5}">
                      <a16:colId xmlns:a16="http://schemas.microsoft.com/office/drawing/2014/main" val="20001"/>
                    </a:ext>
                  </a:extLst>
                </a:gridCol>
                <a:gridCol w="3771900">
                  <a:extLst>
                    <a:ext uri="{9D8B030D-6E8A-4147-A177-3AD203B41FA5}">
                      <a16:colId xmlns:a16="http://schemas.microsoft.com/office/drawing/2014/main" val="20002"/>
                    </a:ext>
                  </a:extLst>
                </a:gridCol>
              </a:tblGrid>
              <a:tr h="555413">
                <a:tc>
                  <a:txBody>
                    <a:bodyPr/>
                    <a:lstStyle/>
                    <a:p>
                      <a:r>
                        <a:rPr lang="fr-FR" sz="2000" dirty="0">
                          <a:latin typeface="Comic Sans MS" panose="030F0702030302020204" pitchFamily="66" charset="0"/>
                        </a:rPr>
                        <a:t>       X</a:t>
                      </a:r>
                    </a:p>
                    <a:p>
                      <a:r>
                        <a:rPr lang="fr-FR" sz="2000" dirty="0">
                          <a:latin typeface="Comic Sans MS" panose="030F0702030302020204" pitchFamily="66" charset="0"/>
                        </a:rPr>
                        <a:t>Y</a:t>
                      </a:r>
                    </a:p>
                  </a:txBody>
                  <a:tcPr/>
                </a:tc>
                <a:tc>
                  <a:txBody>
                    <a:bodyPr/>
                    <a:lstStyle/>
                    <a:p>
                      <a:pPr algn="ctr"/>
                      <a:r>
                        <a:rPr lang="fr-FR" sz="2000" b="1" dirty="0">
                          <a:solidFill>
                            <a:srgbClr val="FFC000"/>
                          </a:solidFill>
                        </a:rPr>
                        <a:t>Qualitative</a:t>
                      </a:r>
                      <a:endParaRPr lang="fr-FR" sz="2000" b="1" dirty="0">
                        <a:solidFill>
                          <a:srgbClr val="FFC000"/>
                        </a:solidFill>
                        <a:latin typeface="Comic Sans MS" panose="030F0702030302020204" pitchFamily="66" charset="0"/>
                      </a:endParaRPr>
                    </a:p>
                  </a:txBody>
                  <a:tcPr/>
                </a:tc>
                <a:tc>
                  <a:txBody>
                    <a:bodyPr/>
                    <a:lstStyle/>
                    <a:p>
                      <a:pPr algn="ctr"/>
                      <a:r>
                        <a:rPr lang="fr-FR" sz="2000" b="1" dirty="0">
                          <a:solidFill>
                            <a:srgbClr val="FFC000"/>
                          </a:solidFill>
                        </a:rPr>
                        <a:t>Quantitative</a:t>
                      </a:r>
                      <a:endParaRPr lang="fr-FR" sz="2000" b="1" dirty="0">
                        <a:solidFill>
                          <a:srgbClr val="FFC000"/>
                        </a:solidFill>
                        <a:latin typeface="Comic Sans MS" panose="030F0702030302020204" pitchFamily="66" charset="0"/>
                      </a:endParaRPr>
                    </a:p>
                  </a:txBody>
                  <a:tcPr/>
                </a:tc>
                <a:extLst>
                  <a:ext uri="{0D108BD9-81ED-4DB2-BD59-A6C34878D82A}">
                    <a16:rowId xmlns:a16="http://schemas.microsoft.com/office/drawing/2014/main" val="10000"/>
                  </a:ext>
                </a:extLst>
              </a:tr>
              <a:tr h="555413">
                <a:tc>
                  <a:txBody>
                    <a:bodyPr/>
                    <a:lstStyle/>
                    <a:p>
                      <a:r>
                        <a:rPr lang="fr-FR" sz="2000" b="1" dirty="0">
                          <a:solidFill>
                            <a:srgbClr val="FFC000"/>
                          </a:solidFill>
                        </a:rPr>
                        <a:t>Qualitative</a:t>
                      </a:r>
                      <a:endParaRPr lang="fr-FR" sz="2000" b="1" dirty="0">
                        <a:solidFill>
                          <a:srgbClr val="FFC000"/>
                        </a:solidFill>
                        <a:latin typeface="Comic Sans MS" panose="030F0702030302020204" pitchFamily="66" charset="0"/>
                      </a:endParaRPr>
                    </a:p>
                  </a:txBody>
                  <a:tcPr/>
                </a:tc>
                <a:tc>
                  <a:txBody>
                    <a:bodyPr/>
                    <a:lstStyle/>
                    <a:p>
                      <a:pPr algn="ctr"/>
                      <a:r>
                        <a:rPr lang="fr-FR" sz="2000" b="1" dirty="0">
                          <a:solidFill>
                            <a:schemeClr val="accent6">
                              <a:lumMod val="50000"/>
                            </a:schemeClr>
                          </a:solidFill>
                        </a:rPr>
                        <a:t>Test du Khi-deux</a:t>
                      </a:r>
                      <a:endParaRPr lang="fr-FR" sz="2000" b="1" dirty="0">
                        <a:solidFill>
                          <a:schemeClr val="accent6">
                            <a:lumMod val="50000"/>
                          </a:schemeClr>
                        </a:solidFill>
                        <a:latin typeface="Comic Sans MS" panose="030F0702030302020204" pitchFamily="66" charset="0"/>
                      </a:endParaRPr>
                    </a:p>
                  </a:txBody>
                  <a:tcPr/>
                </a:tc>
                <a:tc>
                  <a:txBody>
                    <a:bodyPr/>
                    <a:lstStyle/>
                    <a:p>
                      <a:pPr algn="ctr"/>
                      <a:r>
                        <a:rPr lang="fr-FR" sz="2000" b="1" dirty="0">
                          <a:solidFill>
                            <a:schemeClr val="accent6">
                              <a:lumMod val="50000"/>
                            </a:schemeClr>
                          </a:solidFill>
                        </a:rPr>
                        <a:t>ANOVA</a:t>
                      </a:r>
                      <a:endParaRPr lang="fr-FR" sz="2000" b="1" dirty="0">
                        <a:solidFill>
                          <a:schemeClr val="accent6">
                            <a:lumMod val="50000"/>
                          </a:schemeClr>
                        </a:solidFill>
                        <a:latin typeface="Comic Sans MS" panose="030F0702030302020204" pitchFamily="66" charset="0"/>
                      </a:endParaRPr>
                    </a:p>
                  </a:txBody>
                  <a:tcPr/>
                </a:tc>
                <a:extLst>
                  <a:ext uri="{0D108BD9-81ED-4DB2-BD59-A6C34878D82A}">
                    <a16:rowId xmlns:a16="http://schemas.microsoft.com/office/drawing/2014/main" val="10001"/>
                  </a:ext>
                </a:extLst>
              </a:tr>
              <a:tr h="555413">
                <a:tc>
                  <a:txBody>
                    <a:bodyPr/>
                    <a:lstStyle/>
                    <a:p>
                      <a:r>
                        <a:rPr lang="fr-FR" sz="2000" b="1" dirty="0">
                          <a:solidFill>
                            <a:srgbClr val="FFC000"/>
                          </a:solidFill>
                        </a:rPr>
                        <a:t>Quantitative</a:t>
                      </a:r>
                      <a:endParaRPr lang="fr-FR" sz="2000" b="1" dirty="0">
                        <a:solidFill>
                          <a:srgbClr val="FFC000"/>
                        </a:solidFill>
                        <a:latin typeface="Comic Sans MS" panose="030F0702030302020204" pitchFamily="66" charset="0"/>
                      </a:endParaRPr>
                    </a:p>
                  </a:txBody>
                  <a:tcPr/>
                </a:tc>
                <a:tc>
                  <a:txBody>
                    <a:bodyPr/>
                    <a:lstStyle/>
                    <a:p>
                      <a:pPr algn="ctr"/>
                      <a:r>
                        <a:rPr lang="fr-FR" sz="2000" b="1" dirty="0">
                          <a:solidFill>
                            <a:schemeClr val="accent6">
                              <a:lumMod val="50000"/>
                            </a:schemeClr>
                          </a:solidFill>
                        </a:rPr>
                        <a:t>ANOVA</a:t>
                      </a:r>
                      <a:endParaRPr lang="fr-FR" sz="2000" b="1" dirty="0">
                        <a:solidFill>
                          <a:schemeClr val="accent6">
                            <a:lumMod val="50000"/>
                          </a:schemeClr>
                        </a:solidFill>
                        <a:latin typeface="Comic Sans MS" panose="030F0702030302020204" pitchFamily="66" charset="0"/>
                      </a:endParaRPr>
                    </a:p>
                  </a:txBody>
                  <a:tcPr/>
                </a:tc>
                <a:tc>
                  <a:txBody>
                    <a:bodyPr/>
                    <a:lstStyle/>
                    <a:p>
                      <a:pPr algn="ctr"/>
                      <a:r>
                        <a:rPr lang="fr-FR" sz="2000" b="1" dirty="0">
                          <a:solidFill>
                            <a:schemeClr val="accent6">
                              <a:lumMod val="50000"/>
                            </a:schemeClr>
                          </a:solidFill>
                        </a:rPr>
                        <a:t>Corrélation</a:t>
                      </a:r>
                      <a:r>
                        <a:rPr lang="fr-FR" sz="2000" b="1" baseline="0" dirty="0">
                          <a:solidFill>
                            <a:schemeClr val="accent6">
                              <a:lumMod val="50000"/>
                            </a:schemeClr>
                          </a:solidFill>
                        </a:rPr>
                        <a:t> de Karl-Pearson</a:t>
                      </a:r>
                      <a:endParaRPr lang="fr-FR" sz="2000" b="1" dirty="0">
                        <a:solidFill>
                          <a:schemeClr val="accent6">
                            <a:lumMod val="50000"/>
                          </a:schemeClr>
                        </a:solidFill>
                        <a:latin typeface="Comic Sans MS" panose="030F0702030302020204" pitchFamily="66" charset="0"/>
                      </a:endParaRPr>
                    </a:p>
                  </a:txBody>
                  <a:tcPr/>
                </a:tc>
                <a:extLst>
                  <a:ext uri="{0D108BD9-81ED-4DB2-BD59-A6C34878D82A}">
                    <a16:rowId xmlns:a16="http://schemas.microsoft.com/office/drawing/2014/main" val="10002"/>
                  </a:ext>
                </a:extLst>
              </a:tr>
            </a:tbl>
          </a:graphicData>
        </a:graphic>
      </p:graphicFrame>
      <p:sp>
        <p:nvSpPr>
          <p:cNvPr id="7" name="Title 1">
            <a:extLst>
              <a:ext uri="{FF2B5EF4-FFF2-40B4-BE49-F238E27FC236}">
                <a16:creationId xmlns:a16="http://schemas.microsoft.com/office/drawing/2014/main" id="{007FE71D-E237-453F-BB6D-69939E6C8FC9}"/>
              </a:ext>
            </a:extLst>
          </p:cNvPr>
          <p:cNvSpPr txBox="1">
            <a:spLocks/>
          </p:cNvSpPr>
          <p:nvPr/>
        </p:nvSpPr>
        <p:spPr>
          <a:xfrm>
            <a:off x="381000" y="116632"/>
            <a:ext cx="8382000" cy="1440160"/>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cxnSp>
        <p:nvCxnSpPr>
          <p:cNvPr id="9" name="Connecteur droit 8">
            <a:extLst>
              <a:ext uri="{FF2B5EF4-FFF2-40B4-BE49-F238E27FC236}">
                <a16:creationId xmlns:a16="http://schemas.microsoft.com/office/drawing/2014/main" id="{8E2D69CC-578F-4BFF-A905-97934126E98E}"/>
              </a:ext>
            </a:extLst>
          </p:cNvPr>
          <p:cNvCxnSpPr>
            <a:cxnSpLocks/>
          </p:cNvCxnSpPr>
          <p:nvPr/>
        </p:nvCxnSpPr>
        <p:spPr>
          <a:xfrm>
            <a:off x="381000" y="3501008"/>
            <a:ext cx="1814736" cy="57606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3692151"/>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376282" y="1196752"/>
                <a:ext cx="8343900" cy="5359929"/>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pPr marL="571500" indent="-571500">
                  <a:buFont typeface="Wingdings" panose="05000000000000000000" pitchFamily="2" charset="2"/>
                  <a:buChar char="ü"/>
                  <a:defRPr/>
                </a:pPr>
                <a:r>
                  <a:rPr lang="fr-FR" sz="2400" b="1" dirty="0">
                    <a:solidFill>
                      <a:srgbClr val="00B050"/>
                    </a:solidFill>
                    <a:latin typeface="Comic Sans MS" panose="030F0702030302020204" pitchFamily="66" charset="0"/>
                  </a:rPr>
                  <a:t>Test du Khi2 pour deux variables qualitatives</a:t>
                </a:r>
              </a:p>
              <a:p>
                <a:pPr marL="571500" indent="-571500">
                  <a:buFont typeface="Wingdings" panose="05000000000000000000" pitchFamily="2" charset="2"/>
                  <a:buChar char="v"/>
                  <a:defRPr/>
                </a:pPr>
                <a:r>
                  <a:rPr lang="fr-FR" sz="2000" b="1" dirty="0">
                    <a:solidFill>
                      <a:srgbClr val="C00000"/>
                    </a:solidFill>
                    <a:latin typeface="Comic Sans MS" panose="030F0702030302020204" pitchFamily="66" charset="0"/>
                  </a:rPr>
                  <a:t>Rappel du test du Khi-deux</a:t>
                </a:r>
              </a:p>
              <a:p>
                <a:pPr>
                  <a:defRPr/>
                </a:pPr>
                <a:endParaRPr lang="fr-FR" sz="2000" b="1" dirty="0">
                  <a:solidFill>
                    <a:srgbClr val="C00000"/>
                  </a:solidFill>
                  <a:latin typeface="Comic Sans MS" panose="030F0702030302020204" pitchFamily="66" charset="0"/>
                </a:endParaRPr>
              </a:p>
              <a:p>
                <a:pPr marL="342900" indent="-342900">
                  <a:buFont typeface="Courier New" panose="02070309020205020404" pitchFamily="49" charset="0"/>
                  <a:buChar char="o"/>
                  <a:defRPr/>
                </a:pPr>
                <a:r>
                  <a:rPr lang="fr-FR" sz="2400" b="1" dirty="0">
                    <a:solidFill>
                      <a:srgbClr val="0070C0"/>
                    </a:solidFill>
                    <a:latin typeface="Comic Sans MS" panose="030F0702030302020204" pitchFamily="66" charset="0"/>
                    <a:ea typeface="MS PGothic" pitchFamily="34" charset="-128"/>
                  </a:rPr>
                  <a:t>Indépendance  entre deux  variables  X  et  Y en probabilité : </a:t>
                </a:r>
                <a14:m>
                  <m:oMath xmlns:m="http://schemas.openxmlformats.org/officeDocument/2006/math">
                    <m:r>
                      <a:rPr lang="fr-FR" sz="2400" b="1" i="1" smtClean="0">
                        <a:solidFill>
                          <a:srgbClr val="0070C0"/>
                        </a:solidFill>
                        <a:latin typeface="Cambria Math" panose="02040503050406030204" pitchFamily="18" charset="0"/>
                        <a:ea typeface="Cambria Math" panose="02040503050406030204" pitchFamily="18" charset="0"/>
                      </a:rPr>
                      <m:t>∀</m:t>
                    </m:r>
                    <m:d>
                      <m:dPr>
                        <m:ctrlPr>
                          <a:rPr lang="fr-FR" sz="2400" b="1" i="1" smtClean="0">
                            <a:solidFill>
                              <a:srgbClr val="0070C0"/>
                            </a:solidFill>
                            <a:latin typeface="Cambria Math" panose="02040503050406030204" pitchFamily="18" charset="0"/>
                            <a:ea typeface="Cambria Math" panose="02040503050406030204" pitchFamily="18" charset="0"/>
                          </a:rPr>
                        </m:ctrlPr>
                      </m:dPr>
                      <m:e>
                        <m:r>
                          <a:rPr lang="fr-FR" sz="2400" b="1" i="1" smtClean="0">
                            <a:solidFill>
                              <a:srgbClr val="0070C0"/>
                            </a:solidFill>
                            <a:latin typeface="Cambria Math" panose="02040503050406030204" pitchFamily="18" charset="0"/>
                            <a:ea typeface="Cambria Math" panose="02040503050406030204" pitchFamily="18" charset="0"/>
                          </a:rPr>
                          <m:t>𝒊</m:t>
                        </m:r>
                        <m:r>
                          <a:rPr lang="fr-FR" sz="2400" b="1" i="1" smtClean="0">
                            <a:solidFill>
                              <a:srgbClr val="0070C0"/>
                            </a:solidFill>
                            <a:latin typeface="Cambria Math" panose="02040503050406030204" pitchFamily="18" charset="0"/>
                            <a:ea typeface="Cambria Math" panose="02040503050406030204" pitchFamily="18" charset="0"/>
                          </a:rPr>
                          <m:t>, </m:t>
                        </m:r>
                        <m:r>
                          <a:rPr lang="fr-FR" sz="2400" b="1" i="1" smtClean="0">
                            <a:solidFill>
                              <a:srgbClr val="0070C0"/>
                            </a:solidFill>
                            <a:latin typeface="Cambria Math" panose="02040503050406030204" pitchFamily="18" charset="0"/>
                            <a:ea typeface="Cambria Math" panose="02040503050406030204" pitchFamily="18" charset="0"/>
                          </a:rPr>
                          <m:t>𝒋</m:t>
                        </m:r>
                      </m:e>
                    </m:d>
                    <m:r>
                      <a:rPr lang="fr-FR" sz="2400" b="1" i="1" smtClean="0">
                        <a:solidFill>
                          <a:srgbClr val="0070C0"/>
                        </a:solidFill>
                        <a:latin typeface="Cambria Math" panose="02040503050406030204" pitchFamily="18" charset="0"/>
                        <a:ea typeface="Cambria Math" panose="02040503050406030204" pitchFamily="18" charset="0"/>
                      </a:rPr>
                      <m:t>𝑷</m:t>
                    </m:r>
                    <m:r>
                      <a:rPr lang="fr-FR" sz="2400" b="1" i="1" smtClean="0">
                        <a:solidFill>
                          <a:srgbClr val="0070C0"/>
                        </a:solidFill>
                        <a:latin typeface="Cambria Math" panose="02040503050406030204" pitchFamily="18" charset="0"/>
                        <a:ea typeface="Cambria Math" panose="02040503050406030204" pitchFamily="18" charset="0"/>
                      </a:rPr>
                      <m:t>(</m:t>
                    </m:r>
                    <m:r>
                      <a:rPr lang="fr-FR" sz="2400" b="1" i="1" smtClean="0">
                        <a:solidFill>
                          <a:srgbClr val="0070C0"/>
                        </a:solidFill>
                        <a:latin typeface="Cambria Math" panose="02040503050406030204" pitchFamily="18" charset="0"/>
                        <a:ea typeface="Cambria Math" panose="02040503050406030204" pitchFamily="18" charset="0"/>
                      </a:rPr>
                      <m:t>𝑿</m:t>
                    </m:r>
                    <m:r>
                      <a:rPr lang="fr-FR" sz="2400" b="1" i="1" smtClean="0">
                        <a:solidFill>
                          <a:srgbClr val="0070C0"/>
                        </a:solidFill>
                        <a:latin typeface="Cambria Math" panose="02040503050406030204" pitchFamily="18" charset="0"/>
                        <a:ea typeface="Cambria Math" panose="02040503050406030204" pitchFamily="18" charset="0"/>
                      </a:rPr>
                      <m:t>=</m:t>
                    </m:r>
                    <m:sSub>
                      <m:sSubPr>
                        <m:ctrlPr>
                          <a:rPr lang="fr-FR" sz="2400" b="1" i="1" smtClean="0">
                            <a:solidFill>
                              <a:srgbClr val="0070C0"/>
                            </a:solidFill>
                            <a:latin typeface="Cambria Math" panose="02040503050406030204" pitchFamily="18" charset="0"/>
                            <a:ea typeface="Cambria Math" panose="02040503050406030204" pitchFamily="18" charset="0"/>
                          </a:rPr>
                        </m:ctrlPr>
                      </m:sSubPr>
                      <m:e>
                        <m:r>
                          <a:rPr lang="fr-FR" sz="2400" b="1" i="1" smtClean="0">
                            <a:solidFill>
                              <a:srgbClr val="0070C0"/>
                            </a:solidFill>
                            <a:latin typeface="Cambria Math" panose="02040503050406030204" pitchFamily="18" charset="0"/>
                            <a:ea typeface="Cambria Math" panose="02040503050406030204" pitchFamily="18" charset="0"/>
                          </a:rPr>
                          <m:t>𝒙</m:t>
                        </m:r>
                      </m:e>
                      <m:sub>
                        <m:r>
                          <a:rPr lang="fr-FR" sz="2400" b="1" i="1" smtClean="0">
                            <a:solidFill>
                              <a:srgbClr val="0070C0"/>
                            </a:solidFill>
                            <a:latin typeface="Cambria Math" panose="02040503050406030204" pitchFamily="18" charset="0"/>
                            <a:ea typeface="Cambria Math" panose="02040503050406030204" pitchFamily="18" charset="0"/>
                          </a:rPr>
                          <m:t>𝒊</m:t>
                        </m:r>
                        <m:r>
                          <a:rPr lang="fr-FR" sz="2400" b="1" i="1" smtClean="0">
                            <a:solidFill>
                              <a:srgbClr val="0070C0"/>
                            </a:solidFill>
                            <a:latin typeface="Cambria Math" panose="02040503050406030204" pitchFamily="18" charset="0"/>
                            <a:ea typeface="Cambria Math" panose="02040503050406030204" pitchFamily="18" charset="0"/>
                          </a:rPr>
                          <m:t>,</m:t>
                        </m:r>
                      </m:sub>
                    </m:sSub>
                    <m:r>
                      <a:rPr lang="fr-FR" sz="2400" b="1" i="1" smtClean="0">
                        <a:solidFill>
                          <a:srgbClr val="0070C0"/>
                        </a:solidFill>
                        <a:latin typeface="Cambria Math" panose="02040503050406030204" pitchFamily="18" charset="0"/>
                        <a:ea typeface="Cambria Math" panose="02040503050406030204" pitchFamily="18" charset="0"/>
                      </a:rPr>
                      <m:t> </m:t>
                    </m:r>
                    <m:r>
                      <a:rPr lang="fr-FR" sz="2400" b="1" i="1" smtClean="0">
                        <a:solidFill>
                          <a:srgbClr val="0070C0"/>
                        </a:solidFill>
                        <a:latin typeface="Cambria Math" panose="02040503050406030204" pitchFamily="18" charset="0"/>
                        <a:ea typeface="Cambria Math" panose="02040503050406030204" pitchFamily="18" charset="0"/>
                      </a:rPr>
                      <m:t>𝒀</m:t>
                    </m:r>
                    <m:r>
                      <a:rPr lang="fr-FR" sz="2400" b="1" i="1">
                        <a:solidFill>
                          <a:srgbClr val="0070C0"/>
                        </a:solidFill>
                        <a:latin typeface="Cambria Math" panose="02040503050406030204" pitchFamily="18" charset="0"/>
                        <a:ea typeface="Cambria Math" panose="02040503050406030204" pitchFamily="18" charset="0"/>
                      </a:rPr>
                      <m:t>=</m:t>
                    </m:r>
                    <m:sSub>
                      <m:sSubPr>
                        <m:ctrlPr>
                          <a:rPr lang="fr-FR" sz="2400" b="1" i="1" smtClean="0">
                            <a:solidFill>
                              <a:srgbClr val="0070C0"/>
                            </a:solidFill>
                            <a:latin typeface="Cambria Math" panose="02040503050406030204" pitchFamily="18" charset="0"/>
                            <a:ea typeface="Cambria Math" panose="02040503050406030204" pitchFamily="18" charset="0"/>
                          </a:rPr>
                        </m:ctrlPr>
                      </m:sSubPr>
                      <m:e>
                        <m:r>
                          <a:rPr lang="fr-FR" sz="2400" b="1" i="1" smtClean="0">
                            <a:solidFill>
                              <a:srgbClr val="0070C0"/>
                            </a:solidFill>
                            <a:latin typeface="Cambria Math" panose="02040503050406030204" pitchFamily="18" charset="0"/>
                            <a:ea typeface="Cambria Math" panose="02040503050406030204" pitchFamily="18" charset="0"/>
                          </a:rPr>
                          <m:t>𝒚</m:t>
                        </m:r>
                      </m:e>
                      <m:sub>
                        <m:r>
                          <a:rPr lang="fr-FR" sz="2400" b="1" i="1" smtClean="0">
                            <a:solidFill>
                              <a:srgbClr val="0070C0"/>
                            </a:solidFill>
                            <a:latin typeface="Cambria Math" panose="02040503050406030204" pitchFamily="18" charset="0"/>
                            <a:ea typeface="Cambria Math" panose="02040503050406030204" pitchFamily="18" charset="0"/>
                          </a:rPr>
                          <m:t>𝒋</m:t>
                        </m:r>
                      </m:sub>
                    </m:sSub>
                  </m:oMath>
                </a14:m>
                <a:r>
                  <a:rPr lang="fr-FR" sz="2400" b="1" dirty="0">
                    <a:solidFill>
                      <a:srgbClr val="0070C0"/>
                    </a:solidFill>
                    <a:latin typeface="Comic Sans MS" panose="030F0702030302020204" pitchFamily="66" charset="0"/>
                    <a:ea typeface="MS PGothic" pitchFamily="34" charset="-128"/>
                  </a:rPr>
                  <a:t>)=P(</a:t>
                </a:r>
                <a14:m>
                  <m:oMath xmlns:m="http://schemas.openxmlformats.org/officeDocument/2006/math">
                    <m:r>
                      <a:rPr lang="fr-FR" sz="2400" b="1" i="1">
                        <a:solidFill>
                          <a:srgbClr val="0070C0"/>
                        </a:solidFill>
                        <a:latin typeface="Cambria Math" panose="02040503050406030204" pitchFamily="18" charset="0"/>
                        <a:ea typeface="Cambria Math" panose="02040503050406030204" pitchFamily="18" charset="0"/>
                      </a:rPr>
                      <m:t>𝑿</m:t>
                    </m:r>
                    <m:r>
                      <a:rPr lang="fr-FR" sz="2400" b="1" i="1">
                        <a:solidFill>
                          <a:srgbClr val="0070C0"/>
                        </a:solidFill>
                        <a:latin typeface="Cambria Math" panose="02040503050406030204" pitchFamily="18" charset="0"/>
                        <a:ea typeface="Cambria Math" panose="02040503050406030204" pitchFamily="18" charset="0"/>
                      </a:rPr>
                      <m:t>=</m:t>
                    </m:r>
                    <m:sSub>
                      <m:sSubPr>
                        <m:ctrlPr>
                          <a:rPr lang="fr-FR" sz="2400" b="1" i="1">
                            <a:solidFill>
                              <a:srgbClr val="0070C0"/>
                            </a:solidFill>
                            <a:latin typeface="Cambria Math" panose="02040503050406030204" pitchFamily="18" charset="0"/>
                            <a:ea typeface="Cambria Math" panose="02040503050406030204" pitchFamily="18" charset="0"/>
                          </a:rPr>
                        </m:ctrlPr>
                      </m:sSubPr>
                      <m:e>
                        <m:r>
                          <a:rPr lang="fr-FR" sz="2400" b="1" i="1">
                            <a:solidFill>
                              <a:srgbClr val="0070C0"/>
                            </a:solidFill>
                            <a:latin typeface="Cambria Math" panose="02040503050406030204" pitchFamily="18" charset="0"/>
                            <a:ea typeface="Cambria Math" panose="02040503050406030204" pitchFamily="18" charset="0"/>
                          </a:rPr>
                          <m:t>𝒙</m:t>
                        </m:r>
                      </m:e>
                      <m:sub>
                        <m:r>
                          <a:rPr lang="fr-FR" sz="2400" b="1" i="1">
                            <a:solidFill>
                              <a:srgbClr val="0070C0"/>
                            </a:solidFill>
                            <a:latin typeface="Cambria Math" panose="02040503050406030204" pitchFamily="18" charset="0"/>
                            <a:ea typeface="Cambria Math" panose="02040503050406030204" pitchFamily="18" charset="0"/>
                          </a:rPr>
                          <m:t>𝒊</m:t>
                        </m:r>
                      </m:sub>
                    </m:sSub>
                  </m:oMath>
                </a14:m>
                <a:r>
                  <a:rPr lang="fr-FR" sz="2400" b="1" dirty="0">
                    <a:solidFill>
                      <a:srgbClr val="0070C0"/>
                    </a:solidFill>
                    <a:latin typeface="Comic Sans MS" panose="030F0702030302020204" pitchFamily="66" charset="0"/>
                    <a:ea typeface="MS PGothic" pitchFamily="34" charset="-128"/>
                  </a:rPr>
                  <a:t>)P(</a:t>
                </a:r>
                <a14:m>
                  <m:oMath xmlns:m="http://schemas.openxmlformats.org/officeDocument/2006/math">
                    <m:r>
                      <a:rPr lang="fr-FR" sz="2400" b="1" i="1">
                        <a:solidFill>
                          <a:srgbClr val="0070C0"/>
                        </a:solidFill>
                        <a:latin typeface="Cambria Math" panose="02040503050406030204" pitchFamily="18" charset="0"/>
                        <a:ea typeface="Cambria Math" panose="02040503050406030204" pitchFamily="18" charset="0"/>
                      </a:rPr>
                      <m:t>𝑿</m:t>
                    </m:r>
                    <m:r>
                      <a:rPr lang="fr-FR" sz="2400" b="1" i="1">
                        <a:solidFill>
                          <a:srgbClr val="0070C0"/>
                        </a:solidFill>
                        <a:latin typeface="Cambria Math" panose="02040503050406030204" pitchFamily="18" charset="0"/>
                        <a:ea typeface="Cambria Math" panose="02040503050406030204" pitchFamily="18" charset="0"/>
                      </a:rPr>
                      <m:t>=</m:t>
                    </m:r>
                    <m:sSub>
                      <m:sSubPr>
                        <m:ctrlPr>
                          <a:rPr lang="fr-FR" sz="2400" b="1" i="1">
                            <a:solidFill>
                              <a:srgbClr val="0070C0"/>
                            </a:solidFill>
                            <a:latin typeface="Cambria Math" panose="02040503050406030204" pitchFamily="18" charset="0"/>
                            <a:ea typeface="Cambria Math" panose="02040503050406030204" pitchFamily="18" charset="0"/>
                          </a:rPr>
                        </m:ctrlPr>
                      </m:sSubPr>
                      <m:e>
                        <m:r>
                          <a:rPr lang="fr-FR" sz="2400" b="1" i="1" smtClean="0">
                            <a:solidFill>
                              <a:srgbClr val="0070C0"/>
                            </a:solidFill>
                            <a:latin typeface="Cambria Math" panose="02040503050406030204" pitchFamily="18" charset="0"/>
                            <a:ea typeface="Cambria Math" panose="02040503050406030204" pitchFamily="18" charset="0"/>
                          </a:rPr>
                          <m:t>𝒚</m:t>
                        </m:r>
                      </m:e>
                      <m:sub>
                        <m:r>
                          <a:rPr lang="fr-FR" sz="2400" b="1" i="1" smtClean="0">
                            <a:solidFill>
                              <a:srgbClr val="0070C0"/>
                            </a:solidFill>
                            <a:latin typeface="Cambria Math" panose="02040503050406030204" pitchFamily="18" charset="0"/>
                            <a:ea typeface="Cambria Math" panose="02040503050406030204" pitchFamily="18" charset="0"/>
                          </a:rPr>
                          <m:t>𝒋</m:t>
                        </m:r>
                      </m:sub>
                    </m:sSub>
                    <m:r>
                      <a:rPr lang="fr-FR" sz="2400" b="1" i="0" smtClean="0">
                        <a:solidFill>
                          <a:srgbClr val="0070C0"/>
                        </a:solidFill>
                        <a:latin typeface="Cambria Math" panose="02040503050406030204" pitchFamily="18" charset="0"/>
                        <a:ea typeface="Cambria Math" panose="02040503050406030204" pitchFamily="18" charset="0"/>
                      </a:rPr>
                      <m:t>)</m:t>
                    </m:r>
                  </m:oMath>
                </a14:m>
                <a:endParaRPr lang="fr-FR" sz="2400" b="1" dirty="0">
                  <a:solidFill>
                    <a:srgbClr val="0070C0"/>
                  </a:solidFill>
                  <a:latin typeface="Comic Sans MS" panose="030F0702030302020204" pitchFamily="66" charset="0"/>
                  <a:ea typeface="MS PGothic" pitchFamily="34" charset="-128"/>
                </a:endParaRPr>
              </a:p>
              <a:p>
                <a:pPr>
                  <a:defRPr/>
                </a:pPr>
                <a14:m>
                  <m:oMathPara xmlns:m="http://schemas.openxmlformats.org/officeDocument/2006/math">
                    <m:oMathParaPr>
                      <m:jc m:val="centerGroup"/>
                    </m:oMathParaPr>
                    <m:oMath xmlns:m="http://schemas.openxmlformats.org/officeDocument/2006/math">
                      <m:sSub>
                        <m:sSubPr>
                          <m:ctrlPr>
                            <a:rPr lang="fr-FR" sz="2400" b="1" i="1">
                              <a:solidFill>
                                <a:srgbClr val="0070C0"/>
                              </a:solidFill>
                              <a:latin typeface="Cambria Math" panose="02040503050406030204" pitchFamily="18" charset="0"/>
                              <a:ea typeface="MS PGothic" pitchFamily="34" charset="-128"/>
                            </a:rPr>
                          </m:ctrlPr>
                        </m:sSubPr>
                        <m:e>
                          <m:r>
                            <a:rPr lang="fr-FR" sz="2400" b="1" i="1">
                              <a:solidFill>
                                <a:srgbClr val="0070C0"/>
                              </a:solidFill>
                              <a:latin typeface="Cambria Math" panose="02040503050406030204" pitchFamily="18" charset="0"/>
                              <a:ea typeface="MS PGothic" pitchFamily="34" charset="-128"/>
                            </a:rPr>
                            <m:t>𝒇</m:t>
                          </m:r>
                        </m:e>
                        <m:sub>
                          <m:r>
                            <a:rPr lang="fr-FR" sz="2400" b="1" i="1">
                              <a:solidFill>
                                <a:srgbClr val="0070C0"/>
                              </a:solidFill>
                              <a:latin typeface="Cambria Math" panose="02040503050406030204" pitchFamily="18" charset="0"/>
                              <a:ea typeface="MS PGothic" pitchFamily="34" charset="-128"/>
                            </a:rPr>
                            <m:t>𝒊𝒋</m:t>
                          </m:r>
                        </m:sub>
                      </m:sSub>
                      <m:r>
                        <a:rPr lang="fr-FR" sz="2400" b="1" i="1">
                          <a:solidFill>
                            <a:srgbClr val="0070C0"/>
                          </a:solidFill>
                          <a:latin typeface="Cambria Math" panose="02040503050406030204" pitchFamily="18" charset="0"/>
                          <a:ea typeface="MS PGothic" pitchFamily="34" charset="-128"/>
                        </a:rPr>
                        <m:t>=</m:t>
                      </m:r>
                      <m:sSub>
                        <m:sSubPr>
                          <m:ctrlPr>
                            <a:rPr lang="fr-FR" sz="2400" b="1" i="1">
                              <a:solidFill>
                                <a:srgbClr val="0070C0"/>
                              </a:solidFill>
                              <a:latin typeface="Cambria Math" panose="02040503050406030204" pitchFamily="18" charset="0"/>
                              <a:ea typeface="MS PGothic" pitchFamily="34" charset="-128"/>
                            </a:rPr>
                          </m:ctrlPr>
                        </m:sSubPr>
                        <m:e>
                          <m:r>
                            <a:rPr lang="fr-FR" sz="2400" b="1" i="1">
                              <a:solidFill>
                                <a:srgbClr val="0070C0"/>
                              </a:solidFill>
                              <a:latin typeface="Cambria Math" panose="02040503050406030204" pitchFamily="18" charset="0"/>
                              <a:ea typeface="MS PGothic" pitchFamily="34" charset="-128"/>
                            </a:rPr>
                            <m:t>𝒇</m:t>
                          </m:r>
                        </m:e>
                        <m:sub>
                          <m:r>
                            <a:rPr lang="fr-FR" sz="2400" b="1" i="1">
                              <a:solidFill>
                                <a:srgbClr val="0070C0"/>
                              </a:solidFill>
                              <a:latin typeface="Cambria Math" panose="02040503050406030204" pitchFamily="18" charset="0"/>
                              <a:ea typeface="MS PGothic" pitchFamily="34" charset="-128"/>
                            </a:rPr>
                            <m:t>𝒊</m:t>
                          </m:r>
                          <m:r>
                            <a:rPr lang="fr-FR" sz="2400" b="1" i="1">
                              <a:solidFill>
                                <a:srgbClr val="0070C0"/>
                              </a:solidFill>
                              <a:latin typeface="Cambria Math" panose="02040503050406030204" pitchFamily="18" charset="0"/>
                              <a:ea typeface="MS PGothic" pitchFamily="34" charset="-128"/>
                            </a:rPr>
                            <m:t>.</m:t>
                          </m:r>
                        </m:sub>
                      </m:sSub>
                      <m:sSub>
                        <m:sSubPr>
                          <m:ctrlPr>
                            <a:rPr lang="fr-FR" sz="2400" b="1" i="1">
                              <a:solidFill>
                                <a:srgbClr val="0070C0"/>
                              </a:solidFill>
                              <a:latin typeface="Cambria Math" panose="02040503050406030204" pitchFamily="18" charset="0"/>
                              <a:ea typeface="MS PGothic" pitchFamily="34" charset="-128"/>
                            </a:rPr>
                          </m:ctrlPr>
                        </m:sSubPr>
                        <m:e>
                          <m:r>
                            <a:rPr lang="fr-FR" sz="2400" b="1" i="1">
                              <a:solidFill>
                                <a:srgbClr val="0070C0"/>
                              </a:solidFill>
                              <a:latin typeface="Cambria Math" panose="02040503050406030204" pitchFamily="18" charset="0"/>
                              <a:ea typeface="MS PGothic" pitchFamily="34" charset="-128"/>
                            </a:rPr>
                            <m:t>𝒇</m:t>
                          </m:r>
                        </m:e>
                        <m:sub>
                          <m:r>
                            <a:rPr lang="fr-FR" sz="2400" b="1" i="1">
                              <a:solidFill>
                                <a:srgbClr val="0070C0"/>
                              </a:solidFill>
                              <a:latin typeface="Cambria Math" panose="02040503050406030204" pitchFamily="18" charset="0"/>
                              <a:ea typeface="MS PGothic" pitchFamily="34" charset="-128"/>
                            </a:rPr>
                            <m:t>.</m:t>
                          </m:r>
                          <m:r>
                            <a:rPr lang="fr-FR" sz="2400" b="1" i="1">
                              <a:solidFill>
                                <a:srgbClr val="0070C0"/>
                              </a:solidFill>
                              <a:latin typeface="Cambria Math" panose="02040503050406030204" pitchFamily="18" charset="0"/>
                              <a:ea typeface="MS PGothic" pitchFamily="34" charset="-128"/>
                            </a:rPr>
                            <m:t>𝒋</m:t>
                          </m:r>
                        </m:sub>
                      </m:sSub>
                      <m:r>
                        <a:rPr lang="fr-FR" sz="2400" b="1" i="1" smtClean="0">
                          <a:solidFill>
                            <a:srgbClr val="0070C0"/>
                          </a:solidFill>
                          <a:latin typeface="Cambria Math" panose="02040503050406030204" pitchFamily="18" charset="0"/>
                          <a:ea typeface="Cambria Math" panose="02040503050406030204" pitchFamily="18" charset="0"/>
                        </a:rPr>
                        <m:t>⟺</m:t>
                      </m:r>
                      <m:sSub>
                        <m:sSubPr>
                          <m:ctrlPr>
                            <a:rPr lang="fr-FR" sz="2400" b="1" i="1" smtClean="0">
                              <a:solidFill>
                                <a:srgbClr val="0070C0"/>
                              </a:solidFill>
                              <a:latin typeface="Cambria Math" panose="02040503050406030204" pitchFamily="18" charset="0"/>
                              <a:ea typeface="Cambria Math" panose="02040503050406030204" pitchFamily="18" charset="0"/>
                            </a:rPr>
                          </m:ctrlPr>
                        </m:sSubPr>
                        <m:e>
                          <m:r>
                            <a:rPr lang="fr-FR" sz="2400" b="1" i="1" smtClean="0">
                              <a:solidFill>
                                <a:srgbClr val="0070C0"/>
                              </a:solidFill>
                              <a:latin typeface="Cambria Math" panose="02040503050406030204" pitchFamily="18" charset="0"/>
                              <a:ea typeface="Cambria Math" panose="02040503050406030204" pitchFamily="18" charset="0"/>
                            </a:rPr>
                            <m:t>𝒏</m:t>
                          </m:r>
                        </m:e>
                        <m:sub>
                          <m:r>
                            <a:rPr lang="fr-FR" sz="2400" b="1" i="1" smtClean="0">
                              <a:solidFill>
                                <a:srgbClr val="0070C0"/>
                              </a:solidFill>
                              <a:latin typeface="Cambria Math" panose="02040503050406030204" pitchFamily="18" charset="0"/>
                              <a:ea typeface="Cambria Math" panose="02040503050406030204" pitchFamily="18" charset="0"/>
                            </a:rPr>
                            <m:t>𝒊𝒋</m:t>
                          </m:r>
                        </m:sub>
                      </m:sSub>
                      <m:r>
                        <a:rPr lang="fr-FR" sz="2400" b="1" i="1" smtClean="0">
                          <a:solidFill>
                            <a:srgbClr val="0070C0"/>
                          </a:solidFill>
                          <a:latin typeface="Cambria Math" panose="02040503050406030204" pitchFamily="18" charset="0"/>
                          <a:ea typeface="Cambria Math" panose="02040503050406030204" pitchFamily="18" charset="0"/>
                        </a:rPr>
                        <m:t>=</m:t>
                      </m:r>
                      <m:f>
                        <m:fPr>
                          <m:ctrlPr>
                            <a:rPr lang="fr-FR" sz="2400" b="1" i="1" smtClean="0">
                              <a:solidFill>
                                <a:srgbClr val="0070C0"/>
                              </a:solidFill>
                              <a:latin typeface="Cambria Math" panose="02040503050406030204" pitchFamily="18" charset="0"/>
                              <a:ea typeface="Cambria Math" panose="02040503050406030204" pitchFamily="18" charset="0"/>
                            </a:rPr>
                          </m:ctrlPr>
                        </m:fPr>
                        <m:num>
                          <m:sSub>
                            <m:sSubPr>
                              <m:ctrlPr>
                                <a:rPr lang="fr-FR" sz="2400" b="1" i="1" smtClean="0">
                                  <a:solidFill>
                                    <a:srgbClr val="0070C0"/>
                                  </a:solidFill>
                                  <a:latin typeface="Cambria Math" panose="02040503050406030204" pitchFamily="18" charset="0"/>
                                  <a:ea typeface="Cambria Math" panose="02040503050406030204" pitchFamily="18" charset="0"/>
                                </a:rPr>
                              </m:ctrlPr>
                            </m:sSubPr>
                            <m:e>
                              <m:r>
                                <a:rPr lang="fr-FR" sz="2400" b="1" i="1" smtClean="0">
                                  <a:solidFill>
                                    <a:srgbClr val="0070C0"/>
                                  </a:solidFill>
                                  <a:latin typeface="Cambria Math" panose="02040503050406030204" pitchFamily="18" charset="0"/>
                                  <a:ea typeface="Cambria Math" panose="02040503050406030204" pitchFamily="18" charset="0"/>
                                </a:rPr>
                                <m:t>𝒏</m:t>
                              </m:r>
                            </m:e>
                            <m:sub>
                              <m:r>
                                <a:rPr lang="fr-FR" sz="2400" b="1" i="1" smtClean="0">
                                  <a:solidFill>
                                    <a:srgbClr val="0070C0"/>
                                  </a:solidFill>
                                  <a:latin typeface="Cambria Math" panose="02040503050406030204" pitchFamily="18" charset="0"/>
                                  <a:ea typeface="Cambria Math" panose="02040503050406030204" pitchFamily="18" charset="0"/>
                                </a:rPr>
                                <m:t>𝒊</m:t>
                              </m:r>
                              <m:r>
                                <a:rPr lang="fr-FR" sz="2400" b="1" i="1" smtClean="0">
                                  <a:solidFill>
                                    <a:srgbClr val="0070C0"/>
                                  </a:solidFill>
                                  <a:latin typeface="Cambria Math" panose="02040503050406030204" pitchFamily="18" charset="0"/>
                                  <a:ea typeface="Cambria Math" panose="02040503050406030204" pitchFamily="18" charset="0"/>
                                </a:rPr>
                                <m:t>.</m:t>
                              </m:r>
                            </m:sub>
                          </m:sSub>
                          <m:sSub>
                            <m:sSubPr>
                              <m:ctrlPr>
                                <a:rPr lang="fr-FR" sz="2400" b="1" i="1" smtClean="0">
                                  <a:solidFill>
                                    <a:srgbClr val="0070C0"/>
                                  </a:solidFill>
                                  <a:latin typeface="Cambria Math" panose="02040503050406030204" pitchFamily="18" charset="0"/>
                                  <a:ea typeface="Cambria Math" panose="02040503050406030204" pitchFamily="18" charset="0"/>
                                </a:rPr>
                              </m:ctrlPr>
                            </m:sSubPr>
                            <m:e>
                              <m:r>
                                <a:rPr lang="fr-FR" sz="2400" b="1" i="1" smtClean="0">
                                  <a:solidFill>
                                    <a:srgbClr val="0070C0"/>
                                  </a:solidFill>
                                  <a:latin typeface="Cambria Math" panose="02040503050406030204" pitchFamily="18" charset="0"/>
                                  <a:ea typeface="Cambria Math" panose="02040503050406030204" pitchFamily="18" charset="0"/>
                                </a:rPr>
                                <m:t>𝒏</m:t>
                              </m:r>
                            </m:e>
                            <m:sub>
                              <m:r>
                                <a:rPr lang="fr-FR" sz="2400" b="1" i="1" smtClean="0">
                                  <a:solidFill>
                                    <a:srgbClr val="0070C0"/>
                                  </a:solidFill>
                                  <a:latin typeface="Cambria Math" panose="02040503050406030204" pitchFamily="18" charset="0"/>
                                  <a:ea typeface="Cambria Math" panose="02040503050406030204" pitchFamily="18" charset="0"/>
                                </a:rPr>
                                <m:t>.</m:t>
                              </m:r>
                              <m:r>
                                <a:rPr lang="fr-FR" sz="2400" b="1" i="1" smtClean="0">
                                  <a:solidFill>
                                    <a:srgbClr val="0070C0"/>
                                  </a:solidFill>
                                  <a:latin typeface="Cambria Math" panose="02040503050406030204" pitchFamily="18" charset="0"/>
                                  <a:ea typeface="Cambria Math" panose="02040503050406030204" pitchFamily="18" charset="0"/>
                                </a:rPr>
                                <m:t>𝒋</m:t>
                              </m:r>
                            </m:sub>
                          </m:sSub>
                        </m:num>
                        <m:den>
                          <m:r>
                            <a:rPr lang="fr-FR" sz="2400" b="1" i="1" smtClean="0">
                              <a:solidFill>
                                <a:srgbClr val="0070C0"/>
                              </a:solidFill>
                              <a:latin typeface="Cambria Math" panose="02040503050406030204" pitchFamily="18" charset="0"/>
                              <a:ea typeface="Cambria Math" panose="02040503050406030204" pitchFamily="18" charset="0"/>
                            </a:rPr>
                            <m:t>𝒏</m:t>
                          </m:r>
                        </m:den>
                      </m:f>
                    </m:oMath>
                  </m:oMathPara>
                </a14:m>
                <a:endParaRPr lang="fr-FR" sz="2400" b="1" dirty="0">
                  <a:solidFill>
                    <a:srgbClr val="0070C0"/>
                  </a:solidFill>
                  <a:latin typeface="Comic Sans MS" panose="030F0702030302020204" pitchFamily="66" charset="0"/>
                  <a:ea typeface="MS PGothic" pitchFamily="34" charset="-128"/>
                </a:endParaRPr>
              </a:p>
              <a:p>
                <a:pPr>
                  <a:defRPr/>
                </a:pPr>
                <a:endParaRPr lang="fr-FR" sz="2400" b="1" dirty="0">
                  <a:solidFill>
                    <a:srgbClr val="C00000"/>
                  </a:solidFill>
                  <a:latin typeface="Comic Sans MS" panose="030F0702030302020204" pitchFamily="66" charset="0"/>
                  <a:ea typeface="MS PGothic" pitchFamily="34" charset="-128"/>
                </a:endParaRPr>
              </a:p>
              <a:p>
                <a:pPr marL="342900" indent="-342900">
                  <a:buFont typeface="Courier New" panose="02070309020205020404" pitchFamily="49" charset="0"/>
                  <a:buChar char="o"/>
                  <a:defRPr/>
                </a:pPr>
                <a:r>
                  <a:rPr lang="fr-FR" sz="2400" b="1" dirty="0">
                    <a:solidFill>
                      <a:srgbClr val="0070C0"/>
                    </a:solidFill>
                    <a:latin typeface="Comic Sans MS" panose="030F0702030302020204" pitchFamily="66" charset="0"/>
                    <a:ea typeface="MS PGothic" pitchFamily="34" charset="-128"/>
                  </a:rPr>
                  <a:t>Effectif théorique de la cellule (i,j):</a:t>
                </a:r>
                <a14:m>
                  <m:oMath xmlns:m="http://schemas.openxmlformats.org/officeDocument/2006/math">
                    <m:sSub>
                      <m:sSubPr>
                        <m:ctrlPr>
                          <a:rPr lang="fr-FR" sz="2400" b="1" i="1">
                            <a:solidFill>
                              <a:srgbClr val="0070C0"/>
                            </a:solidFill>
                            <a:latin typeface="Cambria Math" panose="02040503050406030204" pitchFamily="18" charset="0"/>
                            <a:ea typeface="MS PGothic" pitchFamily="34" charset="-128"/>
                          </a:rPr>
                        </m:ctrlPr>
                      </m:sSubPr>
                      <m:e>
                        <m:sSup>
                          <m:sSupPr>
                            <m:ctrlPr>
                              <a:rPr lang="fr-FR" sz="2400" b="1" i="1">
                                <a:solidFill>
                                  <a:srgbClr val="0070C0"/>
                                </a:solidFill>
                                <a:latin typeface="Cambria Math" panose="02040503050406030204" pitchFamily="18" charset="0"/>
                                <a:ea typeface="MS PGothic" pitchFamily="34" charset="-128"/>
                              </a:rPr>
                            </m:ctrlPr>
                          </m:sSupPr>
                          <m:e>
                            <m:r>
                              <a:rPr lang="fr-FR" sz="2400" b="1">
                                <a:solidFill>
                                  <a:srgbClr val="0070C0"/>
                                </a:solidFill>
                                <a:latin typeface="Cambria Math" panose="02040503050406030204" pitchFamily="18" charset="0"/>
                                <a:ea typeface="MS PGothic" pitchFamily="34" charset="-128"/>
                              </a:rPr>
                              <m:t>𝒏</m:t>
                            </m:r>
                          </m:e>
                          <m:sup>
                            <m:r>
                              <a:rPr lang="fr-FR" sz="2400" b="1">
                                <a:solidFill>
                                  <a:srgbClr val="0070C0"/>
                                </a:solidFill>
                                <a:latin typeface="Cambria Math" panose="02040503050406030204" pitchFamily="18" charset="0"/>
                                <a:ea typeface="MS PGothic" pitchFamily="34" charset="-128"/>
                              </a:rPr>
                              <m:t>∗</m:t>
                            </m:r>
                          </m:sup>
                        </m:sSup>
                      </m:e>
                      <m:sub>
                        <m:r>
                          <a:rPr lang="fr-FR" sz="2400" b="1">
                            <a:solidFill>
                              <a:srgbClr val="0070C0"/>
                            </a:solidFill>
                            <a:latin typeface="Cambria Math" panose="02040503050406030204" pitchFamily="18" charset="0"/>
                            <a:ea typeface="MS PGothic" pitchFamily="34" charset="-128"/>
                          </a:rPr>
                          <m:t>𝒊𝒋</m:t>
                        </m:r>
                      </m:sub>
                    </m:sSub>
                    <m:r>
                      <a:rPr lang="fr-FR" sz="2400" b="1">
                        <a:solidFill>
                          <a:srgbClr val="0070C0"/>
                        </a:solidFill>
                        <a:latin typeface="Cambria Math" panose="02040503050406030204" pitchFamily="18" charset="0"/>
                        <a:ea typeface="MS PGothic" pitchFamily="34" charset="-128"/>
                      </a:rPr>
                      <m:t>=</m:t>
                    </m:r>
                    <m:f>
                      <m:fPr>
                        <m:ctrlPr>
                          <a:rPr lang="fr-FR" sz="2400" b="1" i="1">
                            <a:solidFill>
                              <a:srgbClr val="0070C0"/>
                            </a:solidFill>
                            <a:latin typeface="Cambria Math" panose="02040503050406030204" pitchFamily="18" charset="0"/>
                            <a:ea typeface="MS PGothic" pitchFamily="34" charset="-128"/>
                          </a:rPr>
                        </m:ctrlPr>
                      </m:fPr>
                      <m:num>
                        <m:sSub>
                          <m:sSubPr>
                            <m:ctrlPr>
                              <a:rPr lang="fr-FR" sz="2400" b="1" i="1">
                                <a:solidFill>
                                  <a:srgbClr val="0070C0"/>
                                </a:solidFill>
                                <a:latin typeface="Cambria Math" panose="02040503050406030204" pitchFamily="18" charset="0"/>
                                <a:ea typeface="MS PGothic" pitchFamily="34" charset="-128"/>
                              </a:rPr>
                            </m:ctrlPr>
                          </m:sSubPr>
                          <m:e>
                            <m:r>
                              <a:rPr lang="fr-FR" sz="2400" b="1">
                                <a:solidFill>
                                  <a:srgbClr val="0070C0"/>
                                </a:solidFill>
                                <a:latin typeface="Cambria Math" panose="02040503050406030204" pitchFamily="18" charset="0"/>
                                <a:ea typeface="MS PGothic" pitchFamily="34" charset="-128"/>
                              </a:rPr>
                              <m:t>𝒏</m:t>
                            </m:r>
                          </m:e>
                          <m:sub>
                            <m:r>
                              <a:rPr lang="fr-FR" sz="2400" b="1">
                                <a:solidFill>
                                  <a:srgbClr val="0070C0"/>
                                </a:solidFill>
                                <a:latin typeface="Cambria Math" panose="02040503050406030204" pitchFamily="18" charset="0"/>
                                <a:ea typeface="MS PGothic" pitchFamily="34" charset="-128"/>
                              </a:rPr>
                              <m:t>𝒊</m:t>
                            </m:r>
                            <m:r>
                              <a:rPr lang="fr-FR" sz="2400" b="1">
                                <a:solidFill>
                                  <a:srgbClr val="0070C0"/>
                                </a:solidFill>
                                <a:latin typeface="Cambria Math" panose="02040503050406030204" pitchFamily="18" charset="0"/>
                                <a:ea typeface="MS PGothic" pitchFamily="34" charset="-128"/>
                              </a:rPr>
                              <m:t>.</m:t>
                            </m:r>
                          </m:sub>
                        </m:sSub>
                        <m:sSub>
                          <m:sSubPr>
                            <m:ctrlPr>
                              <a:rPr lang="fr-FR" sz="2400" b="1" i="1">
                                <a:solidFill>
                                  <a:srgbClr val="0070C0"/>
                                </a:solidFill>
                                <a:latin typeface="Cambria Math" panose="02040503050406030204" pitchFamily="18" charset="0"/>
                                <a:ea typeface="MS PGothic" pitchFamily="34" charset="-128"/>
                              </a:rPr>
                            </m:ctrlPr>
                          </m:sSubPr>
                          <m:e>
                            <m:r>
                              <a:rPr lang="fr-FR" sz="2400" b="1">
                                <a:solidFill>
                                  <a:srgbClr val="0070C0"/>
                                </a:solidFill>
                                <a:latin typeface="Cambria Math" panose="02040503050406030204" pitchFamily="18" charset="0"/>
                                <a:ea typeface="MS PGothic" pitchFamily="34" charset="-128"/>
                              </a:rPr>
                              <m:t>𝒏</m:t>
                            </m:r>
                          </m:e>
                          <m:sub>
                            <m:r>
                              <a:rPr lang="fr-FR" sz="2400" b="1">
                                <a:solidFill>
                                  <a:srgbClr val="0070C0"/>
                                </a:solidFill>
                                <a:latin typeface="Cambria Math" panose="02040503050406030204" pitchFamily="18" charset="0"/>
                                <a:ea typeface="MS PGothic" pitchFamily="34" charset="-128"/>
                              </a:rPr>
                              <m:t>.</m:t>
                            </m:r>
                            <m:r>
                              <a:rPr lang="fr-FR" sz="2400" b="1">
                                <a:solidFill>
                                  <a:srgbClr val="0070C0"/>
                                </a:solidFill>
                                <a:latin typeface="Cambria Math" panose="02040503050406030204" pitchFamily="18" charset="0"/>
                                <a:ea typeface="MS PGothic" pitchFamily="34" charset="-128"/>
                              </a:rPr>
                              <m:t>𝒋</m:t>
                            </m:r>
                          </m:sub>
                        </m:sSub>
                      </m:num>
                      <m:den>
                        <m:r>
                          <a:rPr lang="fr-FR" sz="2400" b="1">
                            <a:solidFill>
                              <a:srgbClr val="0070C0"/>
                            </a:solidFill>
                            <a:latin typeface="Cambria Math" panose="02040503050406030204" pitchFamily="18" charset="0"/>
                            <a:ea typeface="MS PGothic" pitchFamily="34" charset="-128"/>
                          </a:rPr>
                          <m:t>𝒏</m:t>
                        </m:r>
                      </m:den>
                    </m:f>
                  </m:oMath>
                </a14:m>
                <a:r>
                  <a:rPr lang="fr-FR" sz="2400" b="1" dirty="0">
                    <a:solidFill>
                      <a:srgbClr val="0070C0"/>
                    </a:solidFill>
                    <a:latin typeface="Comic Sans MS" panose="030F0702030302020204" pitchFamily="66" charset="0"/>
                    <a:ea typeface="MS PGothic" pitchFamily="34" charset="-128"/>
                  </a:rPr>
                  <a:t> c’est-à-dire effectif observé en cas d’indépendance</a:t>
                </a:r>
              </a:p>
              <a:p>
                <a:pPr>
                  <a:defRPr/>
                </a:pPr>
                <a:endParaRPr lang="fr-FR" sz="2000" b="1" dirty="0">
                  <a:solidFill>
                    <a:srgbClr val="0070C0"/>
                  </a:solidFill>
                  <a:latin typeface="Comic Sans MS" panose="030F0702030302020204" pitchFamily="66" charset="0"/>
                  <a:ea typeface="MS PGothic" pitchFamily="34" charset="-128"/>
                </a:endParaRPr>
              </a:p>
              <a:p>
                <a:pPr>
                  <a:defRPr/>
                </a:pPr>
                <a:endParaRPr lang="fr-FR" sz="2000" b="1" dirty="0">
                  <a:solidFill>
                    <a:srgbClr val="C00000"/>
                  </a:solidFill>
                  <a:latin typeface="Comic Sans MS" panose="030F0702030302020204" pitchFamily="66" charset="0"/>
                  <a:ea typeface="MS PGothic" pitchFamily="34" charset="-128"/>
                </a:endParaRPr>
              </a:p>
              <a:p>
                <a:pPr>
                  <a:defRPr/>
                </a:pPr>
                <a:endParaRPr lang="fr-FR" sz="2000" b="1" dirty="0">
                  <a:solidFill>
                    <a:srgbClr val="C00000"/>
                  </a:solidFill>
                  <a:latin typeface="Comic Sans MS" panose="030F0702030302020204" pitchFamily="66" charset="0"/>
                  <a:ea typeface="MS PGothic" pitchFamily="34" charset="-128"/>
                </a:endParaRPr>
              </a:p>
              <a:p>
                <a:pPr>
                  <a:defRPr/>
                </a:pPr>
                <a:endParaRPr lang="fr-FR" sz="2000" b="1" dirty="0">
                  <a:solidFill>
                    <a:srgbClr val="C00000"/>
                  </a:solidFill>
                  <a:latin typeface="Comic Sans MS" panose="030F0702030302020204" pitchFamily="66" charset="0"/>
                  <a:ea typeface="MS PGothic" pitchFamily="34" charset="-128"/>
                </a:endParaRPr>
              </a:p>
            </p:txBody>
          </p:sp>
        </mc:Choice>
        <mc:Fallback xmlns="">
          <p:sp>
            <p:nvSpPr>
              <p:cNvPr id="4" name="Rectangle 3"/>
              <p:cNvSpPr>
                <a:spLocks noRot="1" noChangeAspect="1" noMove="1" noResize="1" noEditPoints="1" noAdjustHandles="1" noChangeArrowheads="1" noChangeShapeType="1" noTextEdit="1"/>
              </p:cNvSpPr>
              <p:nvPr/>
            </p:nvSpPr>
            <p:spPr>
              <a:xfrm>
                <a:off x="376282" y="1196752"/>
                <a:ext cx="8343900" cy="5359929"/>
              </a:xfrm>
              <a:prstGeom prst="rect">
                <a:avLst/>
              </a:prstGeom>
              <a:blipFill>
                <a:blip r:embed="rId2"/>
                <a:stretch>
                  <a:fillRect l="-1170" t="-909" r="-512"/>
                </a:stretch>
              </a:blipFill>
            </p:spPr>
            <p:txBody>
              <a:bodyPr/>
              <a:lstStyle/>
              <a:p>
                <a:r>
                  <a:rPr lang="fr-FR">
                    <a:noFill/>
                  </a:rPr>
                  <a:t> </a:t>
                </a:r>
              </a:p>
            </p:txBody>
          </p:sp>
        </mc:Fallback>
      </mc:AlternateContent>
      <p:sp>
        <p:nvSpPr>
          <p:cNvPr id="6" name="Title 1">
            <a:extLst>
              <a:ext uri="{FF2B5EF4-FFF2-40B4-BE49-F238E27FC236}">
                <a16:creationId xmlns:a16="http://schemas.microsoft.com/office/drawing/2014/main" id="{ED7790D8-54A9-4170-AA1A-382F3EDB9EB9}"/>
              </a:ext>
            </a:extLst>
          </p:cNvPr>
          <p:cNvSpPr txBox="1">
            <a:spLocks/>
          </p:cNvSpPr>
          <p:nvPr/>
        </p:nvSpPr>
        <p:spPr>
          <a:xfrm>
            <a:off x="381000" y="260648"/>
            <a:ext cx="8382000" cy="1080120"/>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1732389318"/>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372739" y="1399562"/>
                <a:ext cx="8652510" cy="5469831"/>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pPr marL="571500" indent="-571500">
                  <a:buNone/>
                  <a:defRPr/>
                </a:pPr>
                <a:endParaRPr lang="fr-FR" sz="2400" b="1" dirty="0">
                  <a:latin typeface="Comic Sans MS" panose="030F0702030302020204" pitchFamily="66" charset="0"/>
                </a:endParaRPr>
              </a:p>
              <a:p>
                <a:pPr marL="571500" indent="-571500">
                  <a:buNone/>
                  <a:defRPr/>
                </a:pPr>
                <a:r>
                  <a:rPr lang="fr-FR" sz="2400" b="1" dirty="0">
                    <a:solidFill>
                      <a:srgbClr val="00B050"/>
                    </a:solidFill>
                    <a:latin typeface="Comic Sans MS" panose="030F0702030302020204" pitchFamily="66" charset="0"/>
                  </a:rPr>
                  <a:t>Définition</a:t>
                </a:r>
                <a:endParaRPr lang="fr-FR" sz="2000" dirty="0">
                  <a:solidFill>
                    <a:srgbClr val="00B050"/>
                  </a:solidFill>
                  <a:latin typeface="Comic Sans MS" panose="030F0702030302020204" pitchFamily="66" charset="0"/>
                </a:endParaRPr>
              </a:p>
              <a:p>
                <a:pPr>
                  <a:defRPr/>
                </a:pPr>
                <a:r>
                  <a:rPr lang="fr-FR" sz="2800" b="1" dirty="0">
                    <a:solidFill>
                      <a:srgbClr val="002060"/>
                    </a:solidFill>
                    <a:latin typeface="Comic Sans MS" panose="030F0702030302020204" pitchFamily="66" charset="0"/>
                    <a:ea typeface="MS PGothic" pitchFamily="34" charset="-128"/>
                  </a:rPr>
                  <a:t>Il y a indépendance effectifs théoriques= effectifs empiriques</a:t>
                </a:r>
              </a:p>
              <a:p>
                <a:pPr>
                  <a:defRPr/>
                </a:pPr>
                <a:r>
                  <a:rPr lang="fr-FR" sz="2800" b="1" dirty="0">
                    <a:solidFill>
                      <a:srgbClr val="002060"/>
                    </a:solidFill>
                    <a:ea typeface="MS PGothic" pitchFamily="34" charset="-128"/>
                  </a:rPr>
                  <a:t>La statistique de test :</a:t>
                </a:r>
                <a14:m>
                  <m:oMath xmlns:m="http://schemas.openxmlformats.org/officeDocument/2006/math">
                    <m:sSup>
                      <m:sSupPr>
                        <m:ctrlPr>
                          <a:rPr lang="fr-FR" sz="2800" b="1" i="1">
                            <a:solidFill>
                              <a:srgbClr val="002060"/>
                            </a:solidFill>
                            <a:latin typeface="Cambria Math" panose="02040503050406030204" pitchFamily="18" charset="0"/>
                            <a:ea typeface="MS PGothic" pitchFamily="34" charset="-128"/>
                          </a:rPr>
                        </m:ctrlPr>
                      </m:sSupPr>
                      <m:e>
                        <m:r>
                          <a:rPr lang="fr-FR" sz="2800" b="1" i="1">
                            <a:solidFill>
                              <a:srgbClr val="002060"/>
                            </a:solidFill>
                            <a:latin typeface="Cambria Math" panose="02040503050406030204" pitchFamily="18" charset="0"/>
                            <a:ea typeface="Cambria Math" panose="02040503050406030204" pitchFamily="18" charset="0"/>
                          </a:rPr>
                          <m:t>𝝌</m:t>
                        </m:r>
                      </m:e>
                      <m:sup>
                        <m:r>
                          <a:rPr lang="fr-FR" sz="2800" b="1" i="1">
                            <a:solidFill>
                              <a:srgbClr val="002060"/>
                            </a:solidFill>
                            <a:latin typeface="Cambria Math" panose="02040503050406030204" pitchFamily="18" charset="0"/>
                            <a:ea typeface="MS PGothic" pitchFamily="34" charset="-128"/>
                          </a:rPr>
                          <m:t>𝟐</m:t>
                        </m:r>
                      </m:sup>
                    </m:sSup>
                    <m:r>
                      <a:rPr lang="fr-FR" sz="2800" b="1" i="1" smtClean="0">
                        <a:solidFill>
                          <a:srgbClr val="002060"/>
                        </a:solidFill>
                        <a:latin typeface="Cambria Math" panose="02040503050406030204" pitchFamily="18" charset="0"/>
                        <a:ea typeface="MS PGothic" pitchFamily="34" charset="-128"/>
                      </a:rPr>
                      <m:t>=</m:t>
                    </m:r>
                    <m:nary>
                      <m:naryPr>
                        <m:chr m:val="∑"/>
                        <m:ctrlPr>
                          <a:rPr lang="fr-FR" sz="2800" b="1" i="1" smtClean="0">
                            <a:solidFill>
                              <a:srgbClr val="002060"/>
                            </a:solidFill>
                            <a:latin typeface="Cambria Math" panose="02040503050406030204" pitchFamily="18" charset="0"/>
                            <a:ea typeface="MS PGothic" pitchFamily="34" charset="-128"/>
                          </a:rPr>
                        </m:ctrlPr>
                      </m:naryPr>
                      <m:sub>
                        <m:r>
                          <m:rPr>
                            <m:brk m:alnAt="23"/>
                          </m:rPr>
                          <a:rPr lang="fr-FR" sz="2800" b="1" i="1" smtClean="0">
                            <a:solidFill>
                              <a:srgbClr val="002060"/>
                            </a:solidFill>
                            <a:latin typeface="Cambria Math" panose="02040503050406030204" pitchFamily="18" charset="0"/>
                            <a:ea typeface="MS PGothic" pitchFamily="34" charset="-128"/>
                          </a:rPr>
                          <m:t>𝒊</m:t>
                        </m:r>
                        <m:r>
                          <a:rPr lang="fr-FR" sz="2800" b="1" i="1" smtClean="0">
                            <a:solidFill>
                              <a:srgbClr val="002060"/>
                            </a:solidFill>
                            <a:latin typeface="Cambria Math" panose="02040503050406030204" pitchFamily="18" charset="0"/>
                            <a:ea typeface="MS PGothic" pitchFamily="34" charset="-128"/>
                          </a:rPr>
                          <m:t>=</m:t>
                        </m:r>
                        <m:r>
                          <a:rPr lang="fr-FR" sz="2800" b="1" i="1" smtClean="0">
                            <a:solidFill>
                              <a:srgbClr val="002060"/>
                            </a:solidFill>
                            <a:latin typeface="Cambria Math" panose="02040503050406030204" pitchFamily="18" charset="0"/>
                            <a:ea typeface="MS PGothic" pitchFamily="34" charset="-128"/>
                          </a:rPr>
                          <m:t>𝟏</m:t>
                        </m:r>
                      </m:sub>
                      <m:sup>
                        <m:r>
                          <a:rPr lang="fr-FR" sz="2800" b="1" i="1" smtClean="0">
                            <a:solidFill>
                              <a:srgbClr val="002060"/>
                            </a:solidFill>
                            <a:latin typeface="Cambria Math" panose="02040503050406030204" pitchFamily="18" charset="0"/>
                            <a:ea typeface="MS PGothic" pitchFamily="34" charset="-128"/>
                          </a:rPr>
                          <m:t>𝒑</m:t>
                        </m:r>
                      </m:sup>
                      <m:e>
                        <m:nary>
                          <m:naryPr>
                            <m:chr m:val="∑"/>
                            <m:ctrlPr>
                              <a:rPr lang="fr-FR" sz="2800" b="1" i="1" smtClean="0">
                                <a:solidFill>
                                  <a:srgbClr val="002060"/>
                                </a:solidFill>
                                <a:latin typeface="Cambria Math" panose="02040503050406030204" pitchFamily="18" charset="0"/>
                                <a:ea typeface="MS PGothic" pitchFamily="34" charset="-128"/>
                              </a:rPr>
                            </m:ctrlPr>
                          </m:naryPr>
                          <m:sub>
                            <m:r>
                              <m:rPr>
                                <m:brk m:alnAt="23"/>
                              </m:rPr>
                              <a:rPr lang="fr-FR" sz="2800" b="1" i="1" smtClean="0">
                                <a:solidFill>
                                  <a:srgbClr val="002060"/>
                                </a:solidFill>
                                <a:latin typeface="Cambria Math" panose="02040503050406030204" pitchFamily="18" charset="0"/>
                                <a:ea typeface="MS PGothic" pitchFamily="34" charset="-128"/>
                              </a:rPr>
                              <m:t>𝒋</m:t>
                            </m:r>
                            <m:r>
                              <a:rPr lang="fr-FR" sz="2800" b="1" i="1" smtClean="0">
                                <a:solidFill>
                                  <a:srgbClr val="002060"/>
                                </a:solidFill>
                                <a:latin typeface="Cambria Math" panose="02040503050406030204" pitchFamily="18" charset="0"/>
                                <a:ea typeface="MS PGothic" pitchFamily="34" charset="-128"/>
                              </a:rPr>
                              <m:t>=</m:t>
                            </m:r>
                            <m:r>
                              <a:rPr lang="fr-FR" sz="2800" b="1" i="1" smtClean="0">
                                <a:solidFill>
                                  <a:srgbClr val="002060"/>
                                </a:solidFill>
                                <a:latin typeface="Cambria Math" panose="02040503050406030204" pitchFamily="18" charset="0"/>
                                <a:ea typeface="MS PGothic" pitchFamily="34" charset="-128"/>
                              </a:rPr>
                              <m:t>𝟏</m:t>
                            </m:r>
                          </m:sub>
                          <m:sup>
                            <m:r>
                              <a:rPr lang="fr-FR" sz="2800" b="1" i="1" smtClean="0">
                                <a:solidFill>
                                  <a:srgbClr val="002060"/>
                                </a:solidFill>
                                <a:latin typeface="Cambria Math" panose="02040503050406030204" pitchFamily="18" charset="0"/>
                                <a:ea typeface="MS PGothic" pitchFamily="34" charset="-128"/>
                              </a:rPr>
                              <m:t>𝒒</m:t>
                            </m:r>
                          </m:sup>
                          <m:e>
                            <m:f>
                              <m:fPr>
                                <m:ctrlPr>
                                  <a:rPr lang="fr-FR" sz="2800" b="1" i="1" smtClean="0">
                                    <a:solidFill>
                                      <a:srgbClr val="002060"/>
                                    </a:solidFill>
                                    <a:latin typeface="Cambria Math" panose="02040503050406030204" pitchFamily="18" charset="0"/>
                                    <a:ea typeface="MS PGothic" pitchFamily="34" charset="-128"/>
                                  </a:rPr>
                                </m:ctrlPr>
                              </m:fPr>
                              <m:num>
                                <m:sSup>
                                  <m:sSupPr>
                                    <m:ctrlPr>
                                      <a:rPr lang="fr-FR" sz="2800" b="1" i="1" smtClean="0">
                                        <a:solidFill>
                                          <a:srgbClr val="002060"/>
                                        </a:solidFill>
                                        <a:latin typeface="Cambria Math" panose="02040503050406030204" pitchFamily="18" charset="0"/>
                                        <a:ea typeface="MS PGothic" pitchFamily="34" charset="-128"/>
                                      </a:rPr>
                                    </m:ctrlPr>
                                  </m:sSupPr>
                                  <m:e>
                                    <m:r>
                                      <a:rPr lang="fr-FR" sz="2800" b="1" i="1" smtClean="0">
                                        <a:solidFill>
                                          <a:srgbClr val="002060"/>
                                        </a:solidFill>
                                        <a:latin typeface="Cambria Math" panose="02040503050406030204" pitchFamily="18" charset="0"/>
                                        <a:ea typeface="MS PGothic" pitchFamily="34" charset="-128"/>
                                      </a:rPr>
                                      <m:t>(</m:t>
                                    </m:r>
                                    <m:sSub>
                                      <m:sSubPr>
                                        <m:ctrlPr>
                                          <a:rPr lang="fr-FR" sz="2800" b="1" i="1" smtClean="0">
                                            <a:solidFill>
                                              <a:srgbClr val="002060"/>
                                            </a:solidFill>
                                            <a:latin typeface="Cambria Math" panose="02040503050406030204" pitchFamily="18" charset="0"/>
                                            <a:ea typeface="MS PGothic" pitchFamily="34" charset="-128"/>
                                          </a:rPr>
                                        </m:ctrlPr>
                                      </m:sSubPr>
                                      <m:e>
                                        <m:r>
                                          <a:rPr lang="fr-FR" sz="2800" b="1" i="1" smtClean="0">
                                            <a:solidFill>
                                              <a:srgbClr val="002060"/>
                                            </a:solidFill>
                                            <a:latin typeface="Cambria Math" panose="02040503050406030204" pitchFamily="18" charset="0"/>
                                            <a:ea typeface="MS PGothic" pitchFamily="34" charset="-128"/>
                                          </a:rPr>
                                          <m:t>𝒏</m:t>
                                        </m:r>
                                      </m:e>
                                      <m:sub>
                                        <m:r>
                                          <a:rPr lang="fr-FR" sz="2800" b="1" i="1" smtClean="0">
                                            <a:solidFill>
                                              <a:srgbClr val="002060"/>
                                            </a:solidFill>
                                            <a:latin typeface="Cambria Math" panose="02040503050406030204" pitchFamily="18" charset="0"/>
                                            <a:ea typeface="MS PGothic" pitchFamily="34" charset="-128"/>
                                          </a:rPr>
                                          <m:t>𝒊𝒋</m:t>
                                        </m:r>
                                      </m:sub>
                                    </m:sSub>
                                    <m:sSup>
                                      <m:sSupPr>
                                        <m:ctrlPr>
                                          <a:rPr lang="fr-FR" sz="2800" b="1" i="1" smtClean="0">
                                            <a:solidFill>
                                              <a:srgbClr val="002060"/>
                                            </a:solidFill>
                                            <a:latin typeface="Cambria Math" panose="02040503050406030204" pitchFamily="18" charset="0"/>
                                            <a:ea typeface="MS PGothic" pitchFamily="34" charset="-128"/>
                                          </a:rPr>
                                        </m:ctrlPr>
                                      </m:sSupPr>
                                      <m:e>
                                        <m:sSub>
                                          <m:sSubPr>
                                            <m:ctrlPr>
                                              <a:rPr lang="fr-FR" sz="2800" b="1" i="1" smtClean="0">
                                                <a:solidFill>
                                                  <a:srgbClr val="002060"/>
                                                </a:solidFill>
                                                <a:latin typeface="Cambria Math" panose="02040503050406030204" pitchFamily="18" charset="0"/>
                                                <a:ea typeface="MS PGothic" pitchFamily="34" charset="-128"/>
                                              </a:rPr>
                                            </m:ctrlPr>
                                          </m:sSubPr>
                                          <m:e>
                                            <m:r>
                                              <a:rPr lang="fr-FR" sz="2800" b="1" i="1" smtClean="0">
                                                <a:solidFill>
                                                  <a:srgbClr val="002060"/>
                                                </a:solidFill>
                                                <a:latin typeface="Cambria Math" panose="02040503050406030204" pitchFamily="18" charset="0"/>
                                                <a:ea typeface="MS PGothic" pitchFamily="34" charset="-128"/>
                                              </a:rPr>
                                              <m:t>−</m:t>
                                            </m:r>
                                            <m:r>
                                              <a:rPr lang="fr-FR" sz="2800" b="1" i="1" smtClean="0">
                                                <a:solidFill>
                                                  <a:srgbClr val="002060"/>
                                                </a:solidFill>
                                                <a:latin typeface="Cambria Math" panose="02040503050406030204" pitchFamily="18" charset="0"/>
                                                <a:ea typeface="MS PGothic" pitchFamily="34" charset="-128"/>
                                              </a:rPr>
                                              <m:t>𝒏</m:t>
                                            </m:r>
                                          </m:e>
                                          <m:sub>
                                            <m:r>
                                              <a:rPr lang="fr-FR" sz="2800" b="1" i="1" smtClean="0">
                                                <a:solidFill>
                                                  <a:srgbClr val="002060"/>
                                                </a:solidFill>
                                                <a:latin typeface="Cambria Math" panose="02040503050406030204" pitchFamily="18" charset="0"/>
                                                <a:ea typeface="MS PGothic" pitchFamily="34" charset="-128"/>
                                              </a:rPr>
                                              <m:t>𝒊𝒋</m:t>
                                            </m:r>
                                          </m:sub>
                                        </m:sSub>
                                      </m:e>
                                      <m:sup>
                                        <m:r>
                                          <a:rPr lang="fr-FR" sz="2800" b="1" i="1" smtClean="0">
                                            <a:solidFill>
                                              <a:srgbClr val="002060"/>
                                            </a:solidFill>
                                            <a:latin typeface="Cambria Math" panose="02040503050406030204" pitchFamily="18" charset="0"/>
                                            <a:ea typeface="MS PGothic" pitchFamily="34" charset="-128"/>
                                          </a:rPr>
                                          <m:t>∗</m:t>
                                        </m:r>
                                      </m:sup>
                                    </m:sSup>
                                    <m:r>
                                      <a:rPr lang="fr-FR" sz="2800" b="1" i="1" smtClean="0">
                                        <a:solidFill>
                                          <a:srgbClr val="002060"/>
                                        </a:solidFill>
                                        <a:latin typeface="Cambria Math" panose="02040503050406030204" pitchFamily="18" charset="0"/>
                                        <a:ea typeface="MS PGothic" pitchFamily="34" charset="-128"/>
                                      </a:rPr>
                                      <m:t>)</m:t>
                                    </m:r>
                                  </m:e>
                                  <m:sup>
                                    <m:r>
                                      <a:rPr lang="fr-FR" sz="2800" b="1" i="1" smtClean="0">
                                        <a:solidFill>
                                          <a:srgbClr val="002060"/>
                                        </a:solidFill>
                                        <a:latin typeface="Cambria Math" panose="02040503050406030204" pitchFamily="18" charset="0"/>
                                        <a:ea typeface="MS PGothic" pitchFamily="34" charset="-128"/>
                                      </a:rPr>
                                      <m:t>𝟐</m:t>
                                    </m:r>
                                  </m:sup>
                                </m:sSup>
                              </m:num>
                              <m:den>
                                <m:sSup>
                                  <m:sSupPr>
                                    <m:ctrlPr>
                                      <a:rPr lang="fr-FR" sz="2800" b="1" i="1" smtClean="0">
                                        <a:solidFill>
                                          <a:srgbClr val="002060"/>
                                        </a:solidFill>
                                        <a:latin typeface="Cambria Math" panose="02040503050406030204" pitchFamily="18" charset="0"/>
                                        <a:ea typeface="MS PGothic" pitchFamily="34" charset="-128"/>
                                      </a:rPr>
                                    </m:ctrlPr>
                                  </m:sSupPr>
                                  <m:e>
                                    <m:sSub>
                                      <m:sSubPr>
                                        <m:ctrlPr>
                                          <a:rPr lang="fr-FR" sz="2800" b="1" i="1" smtClean="0">
                                            <a:solidFill>
                                              <a:srgbClr val="002060"/>
                                            </a:solidFill>
                                            <a:latin typeface="Cambria Math" panose="02040503050406030204" pitchFamily="18" charset="0"/>
                                            <a:ea typeface="MS PGothic" pitchFamily="34" charset="-128"/>
                                          </a:rPr>
                                        </m:ctrlPr>
                                      </m:sSubPr>
                                      <m:e>
                                        <m:r>
                                          <a:rPr lang="fr-FR" sz="2800" b="1" i="1" smtClean="0">
                                            <a:solidFill>
                                              <a:srgbClr val="002060"/>
                                            </a:solidFill>
                                            <a:latin typeface="Cambria Math" panose="02040503050406030204" pitchFamily="18" charset="0"/>
                                            <a:ea typeface="MS PGothic" pitchFamily="34" charset="-128"/>
                                          </a:rPr>
                                          <m:t>𝒏</m:t>
                                        </m:r>
                                      </m:e>
                                      <m:sub>
                                        <m:r>
                                          <a:rPr lang="fr-FR" sz="2800" b="1" i="1" smtClean="0">
                                            <a:solidFill>
                                              <a:srgbClr val="002060"/>
                                            </a:solidFill>
                                            <a:latin typeface="Cambria Math" panose="02040503050406030204" pitchFamily="18" charset="0"/>
                                            <a:ea typeface="MS PGothic" pitchFamily="34" charset="-128"/>
                                          </a:rPr>
                                          <m:t>𝒊𝒋</m:t>
                                        </m:r>
                                      </m:sub>
                                    </m:sSub>
                                  </m:e>
                                  <m:sup>
                                    <m:r>
                                      <a:rPr lang="fr-FR" sz="2800" b="1" i="1" smtClean="0">
                                        <a:solidFill>
                                          <a:srgbClr val="002060"/>
                                        </a:solidFill>
                                        <a:latin typeface="Cambria Math" panose="02040503050406030204" pitchFamily="18" charset="0"/>
                                        <a:ea typeface="MS PGothic" pitchFamily="34" charset="-128"/>
                                      </a:rPr>
                                      <m:t>∗</m:t>
                                    </m:r>
                                  </m:sup>
                                </m:sSup>
                              </m:den>
                            </m:f>
                          </m:e>
                        </m:nary>
                      </m:e>
                    </m:nary>
                  </m:oMath>
                </a14:m>
                <a:endParaRPr lang="fr-FR" sz="2800" b="1" dirty="0">
                  <a:solidFill>
                    <a:srgbClr val="C00000"/>
                  </a:solidFill>
                  <a:latin typeface="Comic Sans MS" panose="030F0702030302020204" pitchFamily="66" charset="0"/>
                  <a:ea typeface="MS PGothic" pitchFamily="34" charset="-128"/>
                </a:endParaRPr>
              </a:p>
              <a:p>
                <a:pPr>
                  <a:defRPr/>
                </a:pPr>
                <a:endParaRPr lang="fr-FR" sz="2800" b="1" dirty="0">
                  <a:solidFill>
                    <a:srgbClr val="C00000"/>
                  </a:solidFill>
                  <a:latin typeface="Comic Sans MS" panose="030F0702030302020204" pitchFamily="66" charset="0"/>
                  <a:ea typeface="MS PGothic" pitchFamily="34" charset="-128"/>
                </a:endParaRPr>
              </a:p>
              <a:p>
                <a:pPr algn="just">
                  <a:defRPr/>
                </a:pPr>
                <a:r>
                  <a:rPr lang="fr-FR" sz="2800" b="1" dirty="0">
                    <a:solidFill>
                      <a:srgbClr val="002060"/>
                    </a:solidFill>
                    <a:latin typeface="Comic Sans MS" panose="030F0702030302020204" pitchFamily="66" charset="0"/>
                    <a:ea typeface="MS PGothic" pitchFamily="34" charset="-128"/>
                  </a:rPr>
                  <a:t>A partir de quelle valeur de </a:t>
                </a:r>
                <a14:m>
                  <m:oMath xmlns:m="http://schemas.openxmlformats.org/officeDocument/2006/math">
                    <m:sSup>
                      <m:sSupPr>
                        <m:ctrlPr>
                          <a:rPr lang="fr-FR" sz="2800" b="1" i="1">
                            <a:solidFill>
                              <a:srgbClr val="002060"/>
                            </a:solidFill>
                            <a:latin typeface="Cambria Math" panose="02040503050406030204" pitchFamily="18" charset="0"/>
                            <a:ea typeface="MS PGothic" pitchFamily="34" charset="-128"/>
                          </a:rPr>
                        </m:ctrlPr>
                      </m:sSupPr>
                      <m:e>
                        <m:r>
                          <a:rPr lang="fr-FR" sz="2800" b="1">
                            <a:solidFill>
                              <a:srgbClr val="002060"/>
                            </a:solidFill>
                            <a:latin typeface="Cambria Math" panose="02040503050406030204" pitchFamily="18" charset="0"/>
                            <a:ea typeface="MS PGothic" pitchFamily="34" charset="-128"/>
                          </a:rPr>
                          <m:t>𝝌</m:t>
                        </m:r>
                      </m:e>
                      <m:sup>
                        <m:r>
                          <a:rPr lang="fr-FR" sz="2800" b="1">
                            <a:solidFill>
                              <a:srgbClr val="002060"/>
                            </a:solidFill>
                            <a:latin typeface="Cambria Math" panose="02040503050406030204" pitchFamily="18" charset="0"/>
                            <a:ea typeface="MS PGothic" pitchFamily="34" charset="-128"/>
                          </a:rPr>
                          <m:t>𝟐</m:t>
                        </m:r>
                      </m:sup>
                    </m:sSup>
                  </m:oMath>
                </a14:m>
                <a:r>
                  <a:rPr lang="fr-FR" sz="2800" b="1" dirty="0">
                    <a:solidFill>
                      <a:srgbClr val="002060"/>
                    </a:solidFill>
                    <a:latin typeface="Comic Sans MS" panose="030F0702030302020204" pitchFamily="66" charset="0"/>
                    <a:ea typeface="MS PGothic" pitchFamily="34" charset="-128"/>
                  </a:rPr>
                  <a:t> peut-on considérer qu’il est nul statistiquement c'est-à-dire que X et Y </a:t>
                </a:r>
                <a:r>
                  <a:rPr lang="fr-FR" sz="2800" b="1">
                    <a:solidFill>
                      <a:srgbClr val="002060"/>
                    </a:solidFill>
                    <a:latin typeface="Comic Sans MS" panose="030F0702030302020204" pitchFamily="66" charset="0"/>
                    <a:ea typeface="MS PGothic" pitchFamily="34" charset="-128"/>
                  </a:rPr>
                  <a:t>sont indépendantes </a:t>
                </a:r>
                <a:r>
                  <a:rPr lang="fr-FR" sz="2800" b="1" dirty="0">
                    <a:solidFill>
                      <a:srgbClr val="002060"/>
                    </a:solidFill>
                    <a:latin typeface="Comic Sans MS" panose="030F0702030302020204" pitchFamily="66" charset="0"/>
                    <a:ea typeface="MS PGothic" pitchFamily="34" charset="-128"/>
                  </a:rPr>
                  <a:t>?  </a:t>
                </a:r>
              </a:p>
              <a:p>
                <a:pPr>
                  <a:defRPr/>
                </a:pPr>
                <a:endParaRPr lang="fr-FR" sz="2800" b="1" dirty="0">
                  <a:solidFill>
                    <a:srgbClr val="002060"/>
                  </a:solidFill>
                  <a:latin typeface="Comic Sans MS" panose="030F0702030302020204" pitchFamily="66" charset="0"/>
                  <a:ea typeface="MS PGothic" pitchFamily="34" charset="-128"/>
                </a:endParaRPr>
              </a:p>
              <a:p>
                <a:pPr>
                  <a:defRPr/>
                </a:pPr>
                <a:endParaRPr lang="fr-FR" sz="2800" b="1" dirty="0">
                  <a:solidFill>
                    <a:srgbClr val="002060"/>
                  </a:solidFill>
                  <a:latin typeface="Comic Sans MS" panose="030F0702030302020204" pitchFamily="66" charset="0"/>
                  <a:ea typeface="MS PGothic" pitchFamily="34" charset="-128"/>
                </a:endParaRPr>
              </a:p>
            </p:txBody>
          </p:sp>
        </mc:Choice>
        <mc:Fallback xmlns="">
          <p:sp>
            <p:nvSpPr>
              <p:cNvPr id="4" name="Rectangle 3"/>
              <p:cNvSpPr>
                <a:spLocks noRot="1" noChangeAspect="1" noMove="1" noResize="1" noEditPoints="1" noAdjustHandles="1" noChangeArrowheads="1" noChangeShapeType="1" noTextEdit="1"/>
              </p:cNvSpPr>
              <p:nvPr/>
            </p:nvSpPr>
            <p:spPr>
              <a:xfrm>
                <a:off x="372739" y="1399562"/>
                <a:ext cx="8652510" cy="5469831"/>
              </a:xfrm>
              <a:prstGeom prst="rect">
                <a:avLst/>
              </a:prstGeom>
              <a:blipFill>
                <a:blip r:embed="rId2"/>
                <a:stretch>
                  <a:fillRect l="-1408" t="-892" r="-1408"/>
                </a:stretch>
              </a:blipFill>
            </p:spPr>
            <p:txBody>
              <a:bodyPr/>
              <a:lstStyle/>
              <a:p>
                <a:r>
                  <a:rPr lang="fr-FR">
                    <a:noFill/>
                  </a:rPr>
                  <a:t> </a:t>
                </a:r>
              </a:p>
            </p:txBody>
          </p:sp>
        </mc:Fallback>
      </mc:AlternateContent>
      <p:sp>
        <p:nvSpPr>
          <p:cNvPr id="6" name="Title 1">
            <a:extLst>
              <a:ext uri="{FF2B5EF4-FFF2-40B4-BE49-F238E27FC236}">
                <a16:creationId xmlns:a16="http://schemas.microsoft.com/office/drawing/2014/main" id="{503A1064-0092-4580-9D38-B2717BA18BEF}"/>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4285758389"/>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2900" y="1759860"/>
            <a:ext cx="8343900" cy="4462760"/>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pPr marL="571500" indent="-571500">
              <a:buNone/>
              <a:defRPr/>
            </a:pPr>
            <a:endParaRPr lang="fr-FR" sz="2400" b="1" dirty="0">
              <a:latin typeface="Comic Sans MS" panose="030F0702030302020204" pitchFamily="66" charset="0"/>
            </a:endParaRPr>
          </a:p>
          <a:p>
            <a:pPr algn="just">
              <a:defRPr/>
            </a:pPr>
            <a:r>
              <a:rPr lang="fr-FR" sz="2800" b="1" dirty="0">
                <a:latin typeface="Comic Sans MS" panose="030F0702030302020204" pitchFamily="66" charset="0"/>
                <a:ea typeface="MS PGothic" pitchFamily="34" charset="-128"/>
              </a:rPr>
              <a:t>Ces valeurs critiques correspondent à celles d’une loi du khi-carré à (p-1)(q-1) degré de liberté. Si la valeur calculée  est  inférieure  à celle lue sur une table du khi-deux en se fixant  en seuil alors on  accepte l’hypothèse d’indépendance entre X et Y. Sinon, il y a une liaison significative entre X et Y.</a:t>
            </a:r>
          </a:p>
          <a:p>
            <a:pPr>
              <a:defRPr/>
            </a:pPr>
            <a:endParaRPr lang="fr-FR" sz="2000" b="1" dirty="0">
              <a:solidFill>
                <a:srgbClr val="C00000"/>
              </a:solidFill>
              <a:latin typeface="Comic Sans MS" panose="030F0702030302020204" pitchFamily="66" charset="0"/>
              <a:ea typeface="MS PGothic" pitchFamily="34" charset="-128"/>
            </a:endParaRPr>
          </a:p>
          <a:p>
            <a:pPr>
              <a:defRPr/>
            </a:pPr>
            <a:endParaRPr lang="fr-FR" sz="2000" b="1" dirty="0">
              <a:solidFill>
                <a:srgbClr val="C00000"/>
              </a:solidFill>
              <a:latin typeface="Comic Sans MS" panose="030F0702030302020204" pitchFamily="66" charset="0"/>
              <a:ea typeface="MS PGothic" pitchFamily="34" charset="-128"/>
            </a:endParaRPr>
          </a:p>
        </p:txBody>
      </p:sp>
      <p:sp>
        <p:nvSpPr>
          <p:cNvPr id="6" name="Title 1">
            <a:extLst>
              <a:ext uri="{FF2B5EF4-FFF2-40B4-BE49-F238E27FC236}">
                <a16:creationId xmlns:a16="http://schemas.microsoft.com/office/drawing/2014/main" id="{76AA55B0-57C6-45B3-964B-5DCB8E564941}"/>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497893272"/>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00050" y="1052736"/>
            <a:ext cx="8343900" cy="1446550"/>
          </a:xfrm>
          <a:prstGeom prst="rect">
            <a:avLst/>
          </a:prstGeom>
        </p:spPr>
        <p:txBody>
          <a:bodyPr wrap="square">
            <a:spAutoFit/>
          </a:bodyPr>
          <a:lstStyle/>
          <a:p>
            <a:pPr marL="571500" indent="-571500">
              <a:buNone/>
              <a:defRPr/>
            </a:pPr>
            <a:r>
              <a:rPr lang="fr-FR" sz="2400" b="1" dirty="0">
                <a:solidFill>
                  <a:srgbClr val="C00000"/>
                </a:solidFill>
                <a:latin typeface="Comic Sans MS" panose="030F0702030302020204" pitchFamily="66" charset="0"/>
              </a:rPr>
              <a:t>  Exemple d’extrait d’une table du Khi-deux</a:t>
            </a:r>
          </a:p>
          <a:p>
            <a:pPr marL="571500" indent="-571500">
              <a:buNone/>
              <a:defRPr/>
            </a:pPr>
            <a:endParaRPr lang="fr-FR" sz="2400" b="1" dirty="0">
              <a:latin typeface="Comic Sans MS" panose="030F0702030302020204" pitchFamily="66" charset="0"/>
            </a:endParaRPr>
          </a:p>
          <a:p>
            <a:pPr>
              <a:defRPr/>
            </a:pPr>
            <a:endParaRPr lang="fr-FR" sz="2000" b="1" dirty="0">
              <a:solidFill>
                <a:srgbClr val="C00000"/>
              </a:solidFill>
              <a:latin typeface="Comic Sans MS" panose="030F0702030302020204" pitchFamily="66" charset="0"/>
              <a:ea typeface="MS PGothic" pitchFamily="34" charset="-128"/>
            </a:endParaRPr>
          </a:p>
          <a:p>
            <a:pPr>
              <a:defRPr/>
            </a:pPr>
            <a:endParaRPr lang="fr-FR" sz="2000" b="1" dirty="0">
              <a:solidFill>
                <a:srgbClr val="C00000"/>
              </a:solidFill>
              <a:latin typeface="Comic Sans MS" panose="030F0702030302020204" pitchFamily="66" charset="0"/>
              <a:ea typeface="MS PGothic" pitchFamily="34" charset="-128"/>
            </a:endParaRPr>
          </a:p>
        </p:txBody>
      </p:sp>
      <p:graphicFrame>
        <p:nvGraphicFramePr>
          <p:cNvPr id="11" name="Tableau 10"/>
          <p:cNvGraphicFramePr>
            <a:graphicFrameLocks noGrp="1"/>
          </p:cNvGraphicFramePr>
          <p:nvPr>
            <p:extLst>
              <p:ext uri="{D42A27DB-BD31-4B8C-83A1-F6EECF244321}">
                <p14:modId xmlns:p14="http://schemas.microsoft.com/office/powerpoint/2010/main" val="3705742575"/>
              </p:ext>
            </p:extLst>
          </p:nvPr>
        </p:nvGraphicFramePr>
        <p:xfrm>
          <a:off x="765017" y="1484784"/>
          <a:ext cx="7429499" cy="4652016"/>
        </p:xfrm>
        <a:graphic>
          <a:graphicData uri="http://schemas.openxmlformats.org/drawingml/2006/table">
            <a:tbl>
              <a:tblPr firstRow="1" firstCol="1" bandRow="1">
                <a:tableStyleId>{8EC20E35-A176-4012-BC5E-935CFFF8708E}</a:tableStyleId>
              </a:tblPr>
              <a:tblGrid>
                <a:gridCol w="1438530">
                  <a:extLst>
                    <a:ext uri="{9D8B030D-6E8A-4147-A177-3AD203B41FA5}">
                      <a16:colId xmlns:a16="http://schemas.microsoft.com/office/drawing/2014/main" val="20000"/>
                    </a:ext>
                  </a:extLst>
                </a:gridCol>
                <a:gridCol w="1199935">
                  <a:extLst>
                    <a:ext uri="{9D8B030D-6E8A-4147-A177-3AD203B41FA5}">
                      <a16:colId xmlns:a16="http://schemas.microsoft.com/office/drawing/2014/main" val="20001"/>
                    </a:ext>
                  </a:extLst>
                </a:gridCol>
                <a:gridCol w="1196452">
                  <a:extLst>
                    <a:ext uri="{9D8B030D-6E8A-4147-A177-3AD203B41FA5}">
                      <a16:colId xmlns:a16="http://schemas.microsoft.com/office/drawing/2014/main" val="20002"/>
                    </a:ext>
                  </a:extLst>
                </a:gridCol>
                <a:gridCol w="1199935">
                  <a:extLst>
                    <a:ext uri="{9D8B030D-6E8A-4147-A177-3AD203B41FA5}">
                      <a16:colId xmlns:a16="http://schemas.microsoft.com/office/drawing/2014/main" val="20003"/>
                    </a:ext>
                  </a:extLst>
                </a:gridCol>
                <a:gridCol w="1199935">
                  <a:extLst>
                    <a:ext uri="{9D8B030D-6E8A-4147-A177-3AD203B41FA5}">
                      <a16:colId xmlns:a16="http://schemas.microsoft.com/office/drawing/2014/main" val="20004"/>
                    </a:ext>
                  </a:extLst>
                </a:gridCol>
                <a:gridCol w="1194712">
                  <a:extLst>
                    <a:ext uri="{9D8B030D-6E8A-4147-A177-3AD203B41FA5}">
                      <a16:colId xmlns:a16="http://schemas.microsoft.com/office/drawing/2014/main" val="20005"/>
                    </a:ext>
                  </a:extLst>
                </a:gridCol>
              </a:tblGrid>
              <a:tr h="316140">
                <a:tc>
                  <a:txBody>
                    <a:bodyPr/>
                    <a:lstStyle/>
                    <a:p>
                      <a:pPr marL="234950" indent="-6350" algn="ctr">
                        <a:lnSpc>
                          <a:spcPct val="115000"/>
                        </a:lnSpc>
                        <a:spcAft>
                          <a:spcPts val="0"/>
                        </a:spcAft>
                      </a:pPr>
                      <a:r>
                        <a:rPr lang="fr-FR" sz="2000" dirty="0">
                          <a:effectLst/>
                        </a:rPr>
                        <a:t>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gridSpan="5">
                  <a:txBody>
                    <a:bodyPr/>
                    <a:lstStyle/>
                    <a:p>
                      <a:pPr marL="234950" indent="-6350" algn="ctr">
                        <a:lnSpc>
                          <a:spcPct val="115000"/>
                        </a:lnSpc>
                        <a:spcAft>
                          <a:spcPts val="0"/>
                        </a:spcAft>
                      </a:pPr>
                      <a:r>
                        <a:rPr lang="fr-FR" sz="2000" dirty="0">
                          <a:effectLst/>
                        </a:rPr>
                        <a:t>Valeur lue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0"/>
                  </a:ext>
                </a:extLst>
              </a:tr>
              <a:tr h="784858">
                <a:tc>
                  <a:txBody>
                    <a:bodyPr/>
                    <a:lstStyle/>
                    <a:p>
                      <a:pPr marL="234950" indent="-6350" algn="ctr">
                        <a:lnSpc>
                          <a:spcPct val="115000"/>
                        </a:lnSpc>
                        <a:spcAft>
                          <a:spcPts val="0"/>
                        </a:spcAft>
                      </a:pPr>
                      <a:r>
                        <a:rPr lang="fr-FR" sz="2000" dirty="0">
                          <a:solidFill>
                            <a:schemeClr val="bg1"/>
                          </a:solidFill>
                          <a:effectLst/>
                        </a:rPr>
                        <a:t>   P </a:t>
                      </a:r>
                    </a:p>
                    <a:p>
                      <a:pPr marL="234950" indent="-6350" algn="ctr">
                        <a:lnSpc>
                          <a:spcPct val="115000"/>
                        </a:lnSpc>
                        <a:spcAft>
                          <a:spcPts val="0"/>
                        </a:spcAft>
                      </a:pPr>
                      <a:endParaRPr lang="fr-FR" sz="2000" dirty="0">
                        <a:solidFill>
                          <a:schemeClr val="bg1"/>
                        </a:solidFill>
                        <a:effectLst/>
                      </a:endParaRPr>
                    </a:p>
                    <a:p>
                      <a:pPr marL="234950" indent="-6350" algn="ctr">
                        <a:lnSpc>
                          <a:spcPct val="115000"/>
                        </a:lnSpc>
                        <a:spcAft>
                          <a:spcPts val="0"/>
                        </a:spcAft>
                      </a:pPr>
                      <a:r>
                        <a:rPr lang="fr-FR" sz="2000" dirty="0" err="1">
                          <a:solidFill>
                            <a:schemeClr val="bg1"/>
                          </a:solidFill>
                          <a:effectLst/>
                        </a:rPr>
                        <a:t>ddl</a:t>
                      </a:r>
                      <a:endParaRPr lang="fr-FR" sz="2000" dirty="0">
                        <a:solidFill>
                          <a:schemeClr val="bg1"/>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68580" indent="-6350" algn="ctr">
                        <a:lnSpc>
                          <a:spcPct val="115000"/>
                        </a:lnSpc>
                        <a:spcAft>
                          <a:spcPts val="0"/>
                        </a:spcAft>
                      </a:pPr>
                      <a:r>
                        <a:rPr lang="fr-FR" sz="2000" dirty="0">
                          <a:effectLst/>
                        </a:rPr>
                        <a:t>1%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nchor="ctr"/>
                </a:tc>
                <a:tc>
                  <a:txBody>
                    <a:bodyPr/>
                    <a:lstStyle/>
                    <a:p>
                      <a:pPr marL="67310" indent="-6350" algn="ctr">
                        <a:lnSpc>
                          <a:spcPct val="115000"/>
                        </a:lnSpc>
                        <a:spcAft>
                          <a:spcPts val="0"/>
                        </a:spcAft>
                      </a:pPr>
                      <a:r>
                        <a:rPr lang="fr-FR" sz="2000">
                          <a:effectLst/>
                        </a:rPr>
                        <a:t>5%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nchor="ctr"/>
                </a:tc>
                <a:tc>
                  <a:txBody>
                    <a:bodyPr/>
                    <a:lstStyle/>
                    <a:p>
                      <a:pPr marL="33655" indent="-6350" algn="ctr">
                        <a:lnSpc>
                          <a:spcPct val="115000"/>
                        </a:lnSpc>
                        <a:spcAft>
                          <a:spcPts val="0"/>
                        </a:spcAft>
                      </a:pPr>
                      <a:r>
                        <a:rPr lang="fr-FR" sz="2000" dirty="0">
                          <a:effectLst/>
                        </a:rPr>
                        <a:t>10%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nchor="ctr"/>
                </a:tc>
                <a:tc>
                  <a:txBody>
                    <a:bodyPr/>
                    <a:lstStyle/>
                    <a:p>
                      <a:pPr marL="33655" indent="-6350" algn="ctr">
                        <a:lnSpc>
                          <a:spcPct val="115000"/>
                        </a:lnSpc>
                        <a:spcAft>
                          <a:spcPts val="0"/>
                        </a:spcAft>
                      </a:pPr>
                      <a:r>
                        <a:rPr lang="fr-FR" sz="2000" dirty="0">
                          <a:effectLst/>
                        </a:rPr>
                        <a:t>15%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nchor="ctr"/>
                </a:tc>
                <a:tc>
                  <a:txBody>
                    <a:bodyPr/>
                    <a:lstStyle/>
                    <a:p>
                      <a:pPr marL="31750" indent="-6350" algn="ctr">
                        <a:lnSpc>
                          <a:spcPct val="115000"/>
                        </a:lnSpc>
                        <a:spcAft>
                          <a:spcPts val="0"/>
                        </a:spcAft>
                      </a:pPr>
                      <a:r>
                        <a:rPr lang="fr-FR" sz="2000">
                          <a:effectLst/>
                        </a:rPr>
                        <a:t>20%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nchor="ctr"/>
                </a:tc>
                <a:extLst>
                  <a:ext uri="{0D108BD9-81ED-4DB2-BD59-A6C34878D82A}">
                    <a16:rowId xmlns:a16="http://schemas.microsoft.com/office/drawing/2014/main" val="10001"/>
                  </a:ext>
                </a:extLst>
              </a:tr>
              <a:tr h="316140">
                <a:tc>
                  <a:txBody>
                    <a:bodyPr/>
                    <a:lstStyle/>
                    <a:p>
                      <a:pPr marL="234950" indent="-6350" algn="ctr">
                        <a:lnSpc>
                          <a:spcPct val="115000"/>
                        </a:lnSpc>
                        <a:spcAft>
                          <a:spcPts val="0"/>
                        </a:spcAft>
                      </a:pPr>
                      <a:r>
                        <a:rPr lang="fr-FR" sz="2000">
                          <a:effectLst/>
                        </a:rPr>
                        <a:t>1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2070" indent="-6350" algn="ctr">
                        <a:lnSpc>
                          <a:spcPct val="115000"/>
                        </a:lnSpc>
                        <a:spcAft>
                          <a:spcPts val="0"/>
                        </a:spcAft>
                      </a:pPr>
                      <a:r>
                        <a:rPr lang="fr-FR" sz="2000" dirty="0">
                          <a:effectLst/>
                        </a:rPr>
                        <a:t>6.63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0165" indent="-6350" algn="ctr">
                        <a:lnSpc>
                          <a:spcPct val="115000"/>
                        </a:lnSpc>
                        <a:spcAft>
                          <a:spcPts val="0"/>
                        </a:spcAft>
                      </a:pPr>
                      <a:r>
                        <a:rPr lang="fr-FR" sz="2000" dirty="0">
                          <a:effectLst/>
                        </a:rPr>
                        <a:t>3.84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2070" indent="-6350" algn="ctr">
                        <a:lnSpc>
                          <a:spcPct val="115000"/>
                        </a:lnSpc>
                        <a:spcAft>
                          <a:spcPts val="0"/>
                        </a:spcAft>
                      </a:pPr>
                      <a:r>
                        <a:rPr lang="fr-FR" sz="2000">
                          <a:effectLst/>
                        </a:rPr>
                        <a:t>2.71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2070" indent="-6350" algn="ctr">
                        <a:lnSpc>
                          <a:spcPct val="115000"/>
                        </a:lnSpc>
                        <a:spcAft>
                          <a:spcPts val="0"/>
                        </a:spcAft>
                      </a:pPr>
                      <a:r>
                        <a:rPr lang="fr-FR" sz="2000">
                          <a:effectLst/>
                        </a:rPr>
                        <a:t>2.07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0165" indent="-6350" algn="ctr">
                        <a:lnSpc>
                          <a:spcPct val="115000"/>
                        </a:lnSpc>
                        <a:spcAft>
                          <a:spcPts val="0"/>
                        </a:spcAft>
                      </a:pPr>
                      <a:r>
                        <a:rPr lang="fr-FR" sz="2000">
                          <a:effectLst/>
                        </a:rPr>
                        <a:t>1.64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extLst>
                  <a:ext uri="{0D108BD9-81ED-4DB2-BD59-A6C34878D82A}">
                    <a16:rowId xmlns:a16="http://schemas.microsoft.com/office/drawing/2014/main" val="10002"/>
                  </a:ext>
                </a:extLst>
              </a:tr>
              <a:tr h="316140">
                <a:tc>
                  <a:txBody>
                    <a:bodyPr/>
                    <a:lstStyle/>
                    <a:p>
                      <a:pPr marL="234950" indent="-6350" algn="ctr">
                        <a:lnSpc>
                          <a:spcPct val="115000"/>
                        </a:lnSpc>
                        <a:spcAft>
                          <a:spcPts val="0"/>
                        </a:spcAft>
                      </a:pPr>
                      <a:r>
                        <a:rPr lang="fr-FR" sz="2000">
                          <a:effectLst/>
                        </a:rPr>
                        <a:t>2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2070" indent="-6350" algn="ctr">
                        <a:lnSpc>
                          <a:spcPct val="115000"/>
                        </a:lnSpc>
                        <a:spcAft>
                          <a:spcPts val="0"/>
                        </a:spcAft>
                      </a:pPr>
                      <a:r>
                        <a:rPr lang="fr-FR" sz="2000" dirty="0">
                          <a:effectLst/>
                        </a:rPr>
                        <a:t>9.21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0165" indent="-6350" algn="ctr">
                        <a:lnSpc>
                          <a:spcPct val="115000"/>
                        </a:lnSpc>
                        <a:spcAft>
                          <a:spcPts val="0"/>
                        </a:spcAft>
                      </a:pPr>
                      <a:r>
                        <a:rPr lang="fr-FR" sz="2000" dirty="0">
                          <a:effectLst/>
                        </a:rPr>
                        <a:t>5.99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2070" indent="-6350" algn="ctr">
                        <a:lnSpc>
                          <a:spcPct val="115000"/>
                        </a:lnSpc>
                        <a:spcAft>
                          <a:spcPts val="0"/>
                        </a:spcAft>
                      </a:pPr>
                      <a:r>
                        <a:rPr lang="fr-FR" sz="2000">
                          <a:effectLst/>
                        </a:rPr>
                        <a:t>4.61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2070" indent="-6350" algn="ctr">
                        <a:lnSpc>
                          <a:spcPct val="115000"/>
                        </a:lnSpc>
                        <a:spcAft>
                          <a:spcPts val="0"/>
                        </a:spcAft>
                      </a:pPr>
                      <a:r>
                        <a:rPr lang="fr-FR" sz="2000" dirty="0">
                          <a:effectLst/>
                        </a:rPr>
                        <a:t>3.79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0165" indent="-6350" algn="ctr">
                        <a:lnSpc>
                          <a:spcPct val="115000"/>
                        </a:lnSpc>
                        <a:spcAft>
                          <a:spcPts val="0"/>
                        </a:spcAft>
                      </a:pPr>
                      <a:r>
                        <a:rPr lang="fr-FR" sz="2000" dirty="0">
                          <a:effectLst/>
                        </a:rPr>
                        <a:t>3.22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extLst>
                  <a:ext uri="{0D108BD9-81ED-4DB2-BD59-A6C34878D82A}">
                    <a16:rowId xmlns:a16="http://schemas.microsoft.com/office/drawing/2014/main" val="10003"/>
                  </a:ext>
                </a:extLst>
              </a:tr>
              <a:tr h="316140">
                <a:tc>
                  <a:txBody>
                    <a:bodyPr/>
                    <a:lstStyle/>
                    <a:p>
                      <a:pPr marL="234950" indent="-6350" algn="ctr">
                        <a:lnSpc>
                          <a:spcPct val="115000"/>
                        </a:lnSpc>
                        <a:spcAft>
                          <a:spcPts val="0"/>
                        </a:spcAft>
                      </a:pPr>
                      <a:r>
                        <a:rPr lang="fr-FR" sz="2000">
                          <a:effectLst/>
                        </a:rPr>
                        <a:t>3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6510" indent="-6350" algn="ctr">
                        <a:lnSpc>
                          <a:spcPct val="115000"/>
                        </a:lnSpc>
                        <a:spcAft>
                          <a:spcPts val="0"/>
                        </a:spcAft>
                      </a:pPr>
                      <a:r>
                        <a:rPr lang="fr-FR" sz="2000" dirty="0">
                          <a:effectLst/>
                        </a:rPr>
                        <a:t>11.34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0165" indent="-6350" algn="ctr">
                        <a:lnSpc>
                          <a:spcPct val="115000"/>
                        </a:lnSpc>
                        <a:spcAft>
                          <a:spcPts val="0"/>
                        </a:spcAft>
                      </a:pPr>
                      <a:r>
                        <a:rPr lang="fr-FR" sz="2000" dirty="0">
                          <a:effectLst/>
                        </a:rPr>
                        <a:t>7.81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2070" indent="-6350" algn="ctr">
                        <a:lnSpc>
                          <a:spcPct val="115000"/>
                        </a:lnSpc>
                        <a:spcAft>
                          <a:spcPts val="0"/>
                        </a:spcAft>
                      </a:pPr>
                      <a:r>
                        <a:rPr lang="fr-FR" sz="2000">
                          <a:effectLst/>
                        </a:rPr>
                        <a:t>6.25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2070" indent="-6350" algn="ctr">
                        <a:lnSpc>
                          <a:spcPct val="115000"/>
                        </a:lnSpc>
                        <a:spcAft>
                          <a:spcPts val="0"/>
                        </a:spcAft>
                      </a:pPr>
                      <a:r>
                        <a:rPr lang="fr-FR" sz="2000">
                          <a:effectLst/>
                        </a:rPr>
                        <a:t>5.32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0165" indent="-6350" algn="ctr">
                        <a:lnSpc>
                          <a:spcPct val="115000"/>
                        </a:lnSpc>
                        <a:spcAft>
                          <a:spcPts val="0"/>
                        </a:spcAft>
                      </a:pPr>
                      <a:r>
                        <a:rPr lang="fr-FR" sz="2000">
                          <a:effectLst/>
                        </a:rPr>
                        <a:t>4.64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extLst>
                  <a:ext uri="{0D108BD9-81ED-4DB2-BD59-A6C34878D82A}">
                    <a16:rowId xmlns:a16="http://schemas.microsoft.com/office/drawing/2014/main" val="10004"/>
                  </a:ext>
                </a:extLst>
              </a:tr>
              <a:tr h="316140">
                <a:tc>
                  <a:txBody>
                    <a:bodyPr/>
                    <a:lstStyle/>
                    <a:p>
                      <a:pPr marL="234950" indent="-6350" algn="ctr">
                        <a:lnSpc>
                          <a:spcPct val="115000"/>
                        </a:lnSpc>
                        <a:spcAft>
                          <a:spcPts val="0"/>
                        </a:spcAft>
                      </a:pPr>
                      <a:r>
                        <a:rPr lang="fr-FR" sz="2000" dirty="0">
                          <a:effectLst/>
                        </a:rPr>
                        <a:t>4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6510" indent="-6350" algn="ctr">
                        <a:lnSpc>
                          <a:spcPct val="115000"/>
                        </a:lnSpc>
                        <a:spcAft>
                          <a:spcPts val="0"/>
                        </a:spcAft>
                      </a:pPr>
                      <a:r>
                        <a:rPr lang="fr-FR" sz="2000" dirty="0">
                          <a:effectLst/>
                        </a:rPr>
                        <a:t>13.28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0165" indent="-6350" algn="ctr">
                        <a:lnSpc>
                          <a:spcPct val="115000"/>
                        </a:lnSpc>
                        <a:spcAft>
                          <a:spcPts val="0"/>
                        </a:spcAft>
                      </a:pPr>
                      <a:r>
                        <a:rPr lang="fr-FR" sz="2000" dirty="0">
                          <a:effectLst/>
                        </a:rPr>
                        <a:t>9.49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2070" indent="-6350" algn="ctr">
                        <a:lnSpc>
                          <a:spcPct val="115000"/>
                        </a:lnSpc>
                        <a:spcAft>
                          <a:spcPts val="0"/>
                        </a:spcAft>
                      </a:pPr>
                      <a:r>
                        <a:rPr lang="fr-FR" sz="2000" dirty="0">
                          <a:effectLst/>
                        </a:rPr>
                        <a:t>7.78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2070" indent="-6350" algn="ctr">
                        <a:lnSpc>
                          <a:spcPct val="115000"/>
                        </a:lnSpc>
                        <a:spcAft>
                          <a:spcPts val="0"/>
                        </a:spcAft>
                      </a:pPr>
                      <a:r>
                        <a:rPr lang="fr-FR" sz="2000">
                          <a:effectLst/>
                        </a:rPr>
                        <a:t>6.74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0165" indent="-6350" algn="ctr">
                        <a:lnSpc>
                          <a:spcPct val="115000"/>
                        </a:lnSpc>
                        <a:spcAft>
                          <a:spcPts val="0"/>
                        </a:spcAft>
                      </a:pPr>
                      <a:r>
                        <a:rPr lang="fr-FR" sz="2000">
                          <a:effectLst/>
                        </a:rPr>
                        <a:t>5.99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extLst>
                  <a:ext uri="{0D108BD9-81ED-4DB2-BD59-A6C34878D82A}">
                    <a16:rowId xmlns:a16="http://schemas.microsoft.com/office/drawing/2014/main" val="10005"/>
                  </a:ext>
                </a:extLst>
              </a:tr>
              <a:tr h="316140">
                <a:tc>
                  <a:txBody>
                    <a:bodyPr/>
                    <a:lstStyle/>
                    <a:p>
                      <a:pPr marL="234950" indent="-6350" algn="ctr">
                        <a:lnSpc>
                          <a:spcPct val="115000"/>
                        </a:lnSpc>
                        <a:spcAft>
                          <a:spcPts val="0"/>
                        </a:spcAft>
                      </a:pPr>
                      <a:r>
                        <a:rPr lang="fr-FR" sz="2000">
                          <a:effectLst/>
                        </a:rPr>
                        <a:t>5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6510" indent="-6350" algn="ctr">
                        <a:lnSpc>
                          <a:spcPct val="115000"/>
                        </a:lnSpc>
                        <a:spcAft>
                          <a:spcPts val="0"/>
                        </a:spcAft>
                      </a:pPr>
                      <a:r>
                        <a:rPr lang="fr-FR" sz="2000">
                          <a:effectLst/>
                        </a:rPr>
                        <a:t>15.09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5240" indent="-6350" algn="ctr">
                        <a:lnSpc>
                          <a:spcPct val="115000"/>
                        </a:lnSpc>
                        <a:spcAft>
                          <a:spcPts val="0"/>
                        </a:spcAft>
                      </a:pPr>
                      <a:r>
                        <a:rPr lang="fr-FR" sz="2000" dirty="0">
                          <a:effectLst/>
                        </a:rPr>
                        <a:t>11.07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2070" indent="-6350" algn="ctr">
                        <a:lnSpc>
                          <a:spcPct val="115000"/>
                        </a:lnSpc>
                        <a:spcAft>
                          <a:spcPts val="0"/>
                        </a:spcAft>
                      </a:pPr>
                      <a:r>
                        <a:rPr lang="fr-FR" sz="2000" dirty="0">
                          <a:effectLst/>
                        </a:rPr>
                        <a:t>9.24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2070" indent="-6350" algn="ctr">
                        <a:lnSpc>
                          <a:spcPct val="115000"/>
                        </a:lnSpc>
                        <a:spcAft>
                          <a:spcPts val="0"/>
                        </a:spcAft>
                      </a:pPr>
                      <a:r>
                        <a:rPr lang="fr-FR" sz="2000" dirty="0">
                          <a:effectLst/>
                        </a:rPr>
                        <a:t>8.12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0165" indent="-6350" algn="ctr">
                        <a:lnSpc>
                          <a:spcPct val="115000"/>
                        </a:lnSpc>
                        <a:spcAft>
                          <a:spcPts val="0"/>
                        </a:spcAft>
                      </a:pPr>
                      <a:r>
                        <a:rPr lang="fr-FR" sz="2000">
                          <a:effectLst/>
                        </a:rPr>
                        <a:t>7.29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extLst>
                  <a:ext uri="{0D108BD9-81ED-4DB2-BD59-A6C34878D82A}">
                    <a16:rowId xmlns:a16="http://schemas.microsoft.com/office/drawing/2014/main" val="10006"/>
                  </a:ext>
                </a:extLst>
              </a:tr>
              <a:tr h="316140">
                <a:tc>
                  <a:txBody>
                    <a:bodyPr/>
                    <a:lstStyle/>
                    <a:p>
                      <a:pPr marL="234950" indent="-6350" algn="ctr">
                        <a:lnSpc>
                          <a:spcPct val="115000"/>
                        </a:lnSpc>
                        <a:spcAft>
                          <a:spcPts val="0"/>
                        </a:spcAft>
                      </a:pPr>
                      <a:r>
                        <a:rPr lang="fr-FR" sz="2000">
                          <a:effectLst/>
                        </a:rPr>
                        <a:t>6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6510" indent="-6350" algn="ctr">
                        <a:lnSpc>
                          <a:spcPct val="115000"/>
                        </a:lnSpc>
                        <a:spcAft>
                          <a:spcPts val="0"/>
                        </a:spcAft>
                      </a:pPr>
                      <a:r>
                        <a:rPr lang="fr-FR" sz="2000">
                          <a:effectLst/>
                        </a:rPr>
                        <a:t>16.81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5240" indent="-6350" algn="ctr">
                        <a:lnSpc>
                          <a:spcPct val="115000"/>
                        </a:lnSpc>
                        <a:spcAft>
                          <a:spcPts val="0"/>
                        </a:spcAft>
                      </a:pPr>
                      <a:r>
                        <a:rPr lang="fr-FR" sz="2000" dirty="0">
                          <a:effectLst/>
                        </a:rPr>
                        <a:t>12.59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6510" indent="-6350" algn="ctr">
                        <a:lnSpc>
                          <a:spcPct val="115000"/>
                        </a:lnSpc>
                        <a:spcAft>
                          <a:spcPts val="0"/>
                        </a:spcAft>
                      </a:pPr>
                      <a:r>
                        <a:rPr lang="fr-FR" sz="2000" dirty="0">
                          <a:effectLst/>
                        </a:rPr>
                        <a:t>10.64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2070" indent="-6350" algn="ctr">
                        <a:lnSpc>
                          <a:spcPct val="115000"/>
                        </a:lnSpc>
                        <a:spcAft>
                          <a:spcPts val="0"/>
                        </a:spcAft>
                      </a:pPr>
                      <a:r>
                        <a:rPr lang="fr-FR" sz="2000" dirty="0">
                          <a:effectLst/>
                        </a:rPr>
                        <a:t>9.45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0165" indent="-6350" algn="ctr">
                        <a:lnSpc>
                          <a:spcPct val="115000"/>
                        </a:lnSpc>
                        <a:spcAft>
                          <a:spcPts val="0"/>
                        </a:spcAft>
                      </a:pPr>
                      <a:r>
                        <a:rPr lang="fr-FR" sz="2000">
                          <a:effectLst/>
                        </a:rPr>
                        <a:t>8.56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extLst>
                  <a:ext uri="{0D108BD9-81ED-4DB2-BD59-A6C34878D82A}">
                    <a16:rowId xmlns:a16="http://schemas.microsoft.com/office/drawing/2014/main" val="10007"/>
                  </a:ext>
                </a:extLst>
              </a:tr>
              <a:tr h="316140">
                <a:tc>
                  <a:txBody>
                    <a:bodyPr/>
                    <a:lstStyle/>
                    <a:p>
                      <a:pPr marL="234950" indent="-6350" algn="ctr">
                        <a:lnSpc>
                          <a:spcPct val="115000"/>
                        </a:lnSpc>
                        <a:spcAft>
                          <a:spcPts val="0"/>
                        </a:spcAft>
                      </a:pPr>
                      <a:r>
                        <a:rPr lang="fr-FR" sz="2000">
                          <a:effectLst/>
                        </a:rPr>
                        <a:t>7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6510" indent="-6350" algn="ctr">
                        <a:lnSpc>
                          <a:spcPct val="115000"/>
                        </a:lnSpc>
                        <a:spcAft>
                          <a:spcPts val="0"/>
                        </a:spcAft>
                      </a:pPr>
                      <a:r>
                        <a:rPr lang="fr-FR" sz="2000">
                          <a:effectLst/>
                        </a:rPr>
                        <a:t>18.48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5240" indent="-6350" algn="ctr">
                        <a:lnSpc>
                          <a:spcPct val="115000"/>
                        </a:lnSpc>
                        <a:spcAft>
                          <a:spcPts val="0"/>
                        </a:spcAft>
                      </a:pPr>
                      <a:r>
                        <a:rPr lang="fr-FR" sz="2000">
                          <a:effectLst/>
                        </a:rPr>
                        <a:t>14.07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6510" indent="-6350" algn="ctr">
                        <a:lnSpc>
                          <a:spcPct val="115000"/>
                        </a:lnSpc>
                        <a:spcAft>
                          <a:spcPts val="0"/>
                        </a:spcAft>
                      </a:pPr>
                      <a:r>
                        <a:rPr lang="fr-FR" sz="2000" dirty="0">
                          <a:effectLst/>
                        </a:rPr>
                        <a:t>12.02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6510" indent="-6350" algn="ctr">
                        <a:lnSpc>
                          <a:spcPct val="115000"/>
                        </a:lnSpc>
                        <a:spcAft>
                          <a:spcPts val="0"/>
                        </a:spcAft>
                      </a:pPr>
                      <a:r>
                        <a:rPr lang="fr-FR" sz="2000" dirty="0">
                          <a:effectLst/>
                        </a:rPr>
                        <a:t>10.75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50165" indent="-6350" algn="ctr">
                        <a:lnSpc>
                          <a:spcPct val="115000"/>
                        </a:lnSpc>
                        <a:spcAft>
                          <a:spcPts val="0"/>
                        </a:spcAft>
                      </a:pPr>
                      <a:r>
                        <a:rPr lang="fr-FR" sz="2000">
                          <a:effectLst/>
                        </a:rPr>
                        <a:t>9.80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extLst>
                  <a:ext uri="{0D108BD9-81ED-4DB2-BD59-A6C34878D82A}">
                    <a16:rowId xmlns:a16="http://schemas.microsoft.com/office/drawing/2014/main" val="10008"/>
                  </a:ext>
                </a:extLst>
              </a:tr>
              <a:tr h="316140">
                <a:tc>
                  <a:txBody>
                    <a:bodyPr/>
                    <a:lstStyle/>
                    <a:p>
                      <a:pPr marL="234950" indent="-6350" algn="ctr">
                        <a:lnSpc>
                          <a:spcPct val="115000"/>
                        </a:lnSpc>
                        <a:spcAft>
                          <a:spcPts val="0"/>
                        </a:spcAft>
                      </a:pPr>
                      <a:r>
                        <a:rPr lang="fr-FR" sz="2000">
                          <a:effectLst/>
                        </a:rPr>
                        <a:t>8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6510" indent="-6350" algn="ctr">
                        <a:lnSpc>
                          <a:spcPct val="115000"/>
                        </a:lnSpc>
                        <a:spcAft>
                          <a:spcPts val="0"/>
                        </a:spcAft>
                      </a:pPr>
                      <a:r>
                        <a:rPr lang="fr-FR" sz="2000">
                          <a:effectLst/>
                        </a:rPr>
                        <a:t>20.09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5240" indent="-6350" algn="ctr">
                        <a:lnSpc>
                          <a:spcPct val="115000"/>
                        </a:lnSpc>
                        <a:spcAft>
                          <a:spcPts val="0"/>
                        </a:spcAft>
                      </a:pPr>
                      <a:r>
                        <a:rPr lang="fr-FR" sz="2000" dirty="0">
                          <a:effectLst/>
                        </a:rPr>
                        <a:t>15.51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6510" indent="-6350" algn="ctr">
                        <a:lnSpc>
                          <a:spcPct val="115000"/>
                        </a:lnSpc>
                        <a:spcAft>
                          <a:spcPts val="0"/>
                        </a:spcAft>
                      </a:pPr>
                      <a:r>
                        <a:rPr lang="fr-FR" sz="2000" dirty="0">
                          <a:effectLst/>
                        </a:rPr>
                        <a:t>13.36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6510" indent="-6350" algn="ctr">
                        <a:lnSpc>
                          <a:spcPct val="115000"/>
                        </a:lnSpc>
                        <a:spcAft>
                          <a:spcPts val="0"/>
                        </a:spcAft>
                      </a:pPr>
                      <a:r>
                        <a:rPr lang="fr-FR" sz="2000" dirty="0">
                          <a:effectLst/>
                        </a:rPr>
                        <a:t>12.03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5240" indent="-6350" algn="ctr">
                        <a:lnSpc>
                          <a:spcPct val="115000"/>
                        </a:lnSpc>
                        <a:spcAft>
                          <a:spcPts val="0"/>
                        </a:spcAft>
                      </a:pPr>
                      <a:r>
                        <a:rPr lang="fr-FR" sz="2000" dirty="0">
                          <a:effectLst/>
                        </a:rPr>
                        <a:t>11.03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extLst>
                  <a:ext uri="{0D108BD9-81ED-4DB2-BD59-A6C34878D82A}">
                    <a16:rowId xmlns:a16="http://schemas.microsoft.com/office/drawing/2014/main" val="10009"/>
                  </a:ext>
                </a:extLst>
              </a:tr>
              <a:tr h="316140">
                <a:tc>
                  <a:txBody>
                    <a:bodyPr/>
                    <a:lstStyle/>
                    <a:p>
                      <a:pPr marL="234950" indent="-6350" algn="ctr">
                        <a:lnSpc>
                          <a:spcPct val="115000"/>
                        </a:lnSpc>
                        <a:spcAft>
                          <a:spcPts val="0"/>
                        </a:spcAft>
                      </a:pPr>
                      <a:r>
                        <a:rPr lang="fr-FR" sz="2000">
                          <a:effectLst/>
                        </a:rPr>
                        <a:t>9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6510" indent="-6350" algn="ctr">
                        <a:lnSpc>
                          <a:spcPct val="115000"/>
                        </a:lnSpc>
                        <a:spcAft>
                          <a:spcPts val="0"/>
                        </a:spcAft>
                      </a:pPr>
                      <a:r>
                        <a:rPr lang="fr-FR" sz="2000">
                          <a:effectLst/>
                        </a:rPr>
                        <a:t>21.67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5240" indent="-6350" algn="ctr">
                        <a:lnSpc>
                          <a:spcPct val="115000"/>
                        </a:lnSpc>
                        <a:spcAft>
                          <a:spcPts val="0"/>
                        </a:spcAft>
                      </a:pPr>
                      <a:r>
                        <a:rPr lang="fr-FR" sz="2000">
                          <a:effectLst/>
                        </a:rPr>
                        <a:t>16.92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6510" indent="-6350" algn="ctr">
                        <a:lnSpc>
                          <a:spcPct val="115000"/>
                        </a:lnSpc>
                        <a:spcAft>
                          <a:spcPts val="0"/>
                        </a:spcAft>
                      </a:pPr>
                      <a:r>
                        <a:rPr lang="fr-FR" sz="2000">
                          <a:effectLst/>
                        </a:rPr>
                        <a:t>14.68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6510" indent="-6350" algn="ctr">
                        <a:lnSpc>
                          <a:spcPct val="115000"/>
                        </a:lnSpc>
                        <a:spcAft>
                          <a:spcPts val="0"/>
                        </a:spcAft>
                      </a:pPr>
                      <a:r>
                        <a:rPr lang="fr-FR" sz="2000" dirty="0">
                          <a:effectLst/>
                        </a:rPr>
                        <a:t>13.29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5240" indent="-6350" algn="ctr">
                        <a:lnSpc>
                          <a:spcPct val="115000"/>
                        </a:lnSpc>
                        <a:spcAft>
                          <a:spcPts val="0"/>
                        </a:spcAft>
                      </a:pPr>
                      <a:r>
                        <a:rPr lang="fr-FR" sz="2000" dirty="0">
                          <a:effectLst/>
                        </a:rPr>
                        <a:t>12.24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extLst>
                  <a:ext uri="{0D108BD9-81ED-4DB2-BD59-A6C34878D82A}">
                    <a16:rowId xmlns:a16="http://schemas.microsoft.com/office/drawing/2014/main" val="10010"/>
                  </a:ext>
                </a:extLst>
              </a:tr>
              <a:tr h="316140">
                <a:tc>
                  <a:txBody>
                    <a:bodyPr/>
                    <a:lstStyle/>
                    <a:p>
                      <a:pPr marL="234950" indent="-6350" algn="ctr">
                        <a:lnSpc>
                          <a:spcPct val="115000"/>
                        </a:lnSpc>
                        <a:spcAft>
                          <a:spcPts val="0"/>
                        </a:spcAft>
                      </a:pPr>
                      <a:r>
                        <a:rPr lang="fr-FR" sz="2000">
                          <a:effectLst/>
                        </a:rPr>
                        <a:t>10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6510" indent="-6350" algn="ctr">
                        <a:lnSpc>
                          <a:spcPct val="115000"/>
                        </a:lnSpc>
                        <a:spcAft>
                          <a:spcPts val="0"/>
                        </a:spcAft>
                      </a:pPr>
                      <a:r>
                        <a:rPr lang="fr-FR" sz="2000">
                          <a:effectLst/>
                        </a:rPr>
                        <a:t>23.21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5240" indent="-6350" algn="ctr">
                        <a:lnSpc>
                          <a:spcPct val="115000"/>
                        </a:lnSpc>
                        <a:spcAft>
                          <a:spcPts val="0"/>
                        </a:spcAft>
                      </a:pPr>
                      <a:r>
                        <a:rPr lang="fr-FR" sz="2000" dirty="0">
                          <a:effectLst/>
                        </a:rPr>
                        <a:t>18.31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6510" indent="-6350" algn="ctr">
                        <a:lnSpc>
                          <a:spcPct val="115000"/>
                        </a:lnSpc>
                        <a:spcAft>
                          <a:spcPts val="0"/>
                        </a:spcAft>
                      </a:pPr>
                      <a:r>
                        <a:rPr lang="fr-FR" sz="2000" dirty="0">
                          <a:effectLst/>
                        </a:rPr>
                        <a:t>15.99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6510" indent="-6350" algn="ctr">
                        <a:lnSpc>
                          <a:spcPct val="115000"/>
                        </a:lnSpc>
                        <a:spcAft>
                          <a:spcPts val="0"/>
                        </a:spcAft>
                      </a:pPr>
                      <a:r>
                        <a:rPr lang="fr-FR" sz="2000" dirty="0">
                          <a:effectLst/>
                        </a:rPr>
                        <a:t>14.53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tc>
                  <a:txBody>
                    <a:bodyPr/>
                    <a:lstStyle/>
                    <a:p>
                      <a:pPr marL="15240" indent="-6350" algn="ctr">
                        <a:lnSpc>
                          <a:spcPct val="115000"/>
                        </a:lnSpc>
                        <a:spcAft>
                          <a:spcPts val="0"/>
                        </a:spcAft>
                      </a:pPr>
                      <a:r>
                        <a:rPr lang="fr-FR" sz="2000" dirty="0">
                          <a:effectLst/>
                        </a:rPr>
                        <a:t>13.44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26035" marT="0" marB="0"/>
                </a:tc>
                <a:extLst>
                  <a:ext uri="{0D108BD9-81ED-4DB2-BD59-A6C34878D82A}">
                    <a16:rowId xmlns:a16="http://schemas.microsoft.com/office/drawing/2014/main" val="10011"/>
                  </a:ext>
                </a:extLst>
              </a:tr>
            </a:tbl>
          </a:graphicData>
        </a:graphic>
      </p:graphicFrame>
      <p:cxnSp>
        <p:nvCxnSpPr>
          <p:cNvPr id="15" name="Connecteur droit 14"/>
          <p:cNvCxnSpPr/>
          <p:nvPr/>
        </p:nvCxnSpPr>
        <p:spPr>
          <a:xfrm>
            <a:off x="742950" y="2246778"/>
            <a:ext cx="1451610" cy="9601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52" name="Group 74933"/>
          <p:cNvGrpSpPr>
            <a:grpSpLocks/>
          </p:cNvGrpSpPr>
          <p:nvPr/>
        </p:nvGrpSpPr>
        <p:grpSpPr bwMode="auto">
          <a:xfrm>
            <a:off x="-42863" y="-1588"/>
            <a:ext cx="517526" cy="320676"/>
            <a:chOff x="0" y="0"/>
            <a:chExt cx="518160" cy="321564"/>
          </a:xfrm>
        </p:grpSpPr>
      </p:grpSp>
      <p:sp>
        <p:nvSpPr>
          <p:cNvPr id="9" name="Title 1">
            <a:extLst>
              <a:ext uri="{FF2B5EF4-FFF2-40B4-BE49-F238E27FC236}">
                <a16:creationId xmlns:a16="http://schemas.microsoft.com/office/drawing/2014/main" id="{595F57F6-84C4-4161-9DFD-F8EE545EAE22}"/>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174208051"/>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179512" y="1196752"/>
                <a:ext cx="8343900" cy="5324535"/>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pPr marL="571500" indent="-571500">
                  <a:buNone/>
                  <a:defRPr/>
                </a:pPr>
                <a:endParaRPr lang="fr-FR" sz="2400" b="1" dirty="0">
                  <a:latin typeface="Comic Sans MS" panose="030F0702030302020204" pitchFamily="66" charset="0"/>
                </a:endParaRPr>
              </a:p>
              <a:p>
                <a:r>
                  <a:rPr lang="fr-FR" sz="2800" b="1" dirty="0">
                    <a:solidFill>
                      <a:schemeClr val="tx1"/>
                    </a:solidFill>
                    <a:latin typeface="Comic Sans MS" panose="030F0702030302020204" pitchFamily="66" charset="0"/>
                    <a:ea typeface="MS PGothic" pitchFamily="34" charset="-128"/>
                  </a:rPr>
                  <a:t>Mise en œuvre du test de Chi-deux </a:t>
                </a:r>
              </a:p>
              <a:p>
                <a:pPr marL="514350" lvl="0" indent="-514350" fontAlgn="base">
                  <a:buFont typeface="+mj-lt"/>
                  <a:buAutoNum type="arabicPeriod"/>
                </a:pPr>
                <a:r>
                  <a:rPr lang="fr-FR" sz="2800" b="1" dirty="0">
                    <a:solidFill>
                      <a:schemeClr val="tx1"/>
                    </a:solidFill>
                    <a:latin typeface="Comic Sans MS" panose="030F0702030302020204" pitchFamily="66" charset="0"/>
                    <a:ea typeface="MS PGothic" pitchFamily="34" charset="-128"/>
                  </a:rPr>
                  <a:t>Ranger les valeurs sous forme de tableau (tableau croisé) </a:t>
                </a:r>
              </a:p>
              <a:p>
                <a:pPr marL="514350" lvl="0" indent="-514350" fontAlgn="base">
                  <a:buFont typeface="+mj-lt"/>
                  <a:buAutoNum type="arabicPeriod"/>
                </a:pPr>
                <a:r>
                  <a:rPr lang="fr-FR" sz="2800" b="1" dirty="0">
                    <a:solidFill>
                      <a:schemeClr val="tx1"/>
                    </a:solidFill>
                    <a:latin typeface="Comic Sans MS" panose="030F0702030302020204" pitchFamily="66" charset="0"/>
                    <a:ea typeface="MS PGothic" pitchFamily="34" charset="-128"/>
                  </a:rPr>
                  <a:t>Calculer les fréquences ou effectifs théoriques  </a:t>
                </a:r>
              </a:p>
              <a:p>
                <a:pPr marL="514350" lvl="0" indent="-514350" fontAlgn="base">
                  <a:buFont typeface="+mj-lt"/>
                  <a:buAutoNum type="arabicPeriod"/>
                </a:pPr>
                <a:r>
                  <a:rPr lang="fr-FR" sz="2800" b="1" dirty="0">
                    <a:solidFill>
                      <a:schemeClr val="tx1"/>
                    </a:solidFill>
                    <a:latin typeface="Comic Sans MS" panose="030F0702030302020204" pitchFamily="66" charset="0"/>
                    <a:ea typeface="MS PGothic" pitchFamily="34" charset="-128"/>
                  </a:rPr>
                  <a:t>Appliquer la formule </a:t>
                </a:r>
              </a:p>
              <a:p>
                <a:pPr marL="514350" lvl="0" indent="-514350" fontAlgn="base">
                  <a:buFont typeface="+mj-lt"/>
                  <a:buAutoNum type="arabicPeriod"/>
                </a:pPr>
                <a:r>
                  <a:rPr lang="fr-FR" sz="2800" b="1" dirty="0">
                    <a:solidFill>
                      <a:schemeClr val="tx1"/>
                    </a:solidFill>
                    <a:latin typeface="Comic Sans MS" panose="030F0702030302020204" pitchFamily="66" charset="0"/>
                    <a:ea typeface="MS PGothic" pitchFamily="34" charset="-128"/>
                  </a:rPr>
                  <a:t>Calculer le degré de liberté </a:t>
                </a:r>
              </a:p>
              <a:p>
                <a:pPr marL="514350" lvl="0" indent="-514350" fontAlgn="base">
                  <a:buFont typeface="+mj-lt"/>
                  <a:buAutoNum type="arabicPeriod"/>
                </a:pPr>
                <a:r>
                  <a:rPr lang="fr-FR" sz="2800" b="1" dirty="0">
                    <a:solidFill>
                      <a:schemeClr val="tx1"/>
                    </a:solidFill>
                    <a:latin typeface="Comic Sans MS" panose="030F0702030302020204" pitchFamily="66" charset="0"/>
                    <a:ea typeface="MS PGothic" pitchFamily="34" charset="-128"/>
                  </a:rPr>
                  <a:t>Comparer le </a:t>
                </a:r>
                <a14:m>
                  <m:oMath xmlns:m="http://schemas.openxmlformats.org/officeDocument/2006/math">
                    <m:sSup>
                      <m:sSupPr>
                        <m:ctrlPr>
                          <a:rPr lang="fr-FR" sz="2800" b="1" i="1">
                            <a:solidFill>
                              <a:schemeClr val="tx1"/>
                            </a:solidFill>
                            <a:latin typeface="Cambria Math" panose="02040503050406030204" pitchFamily="18" charset="0"/>
                            <a:ea typeface="MS PGothic" pitchFamily="34" charset="-128"/>
                          </a:rPr>
                        </m:ctrlPr>
                      </m:sSupPr>
                      <m:e>
                        <m:r>
                          <a:rPr lang="fr-FR" sz="2800" b="1" i="1">
                            <a:solidFill>
                              <a:schemeClr val="tx1"/>
                            </a:solidFill>
                            <a:latin typeface="Cambria Math" panose="02040503050406030204" pitchFamily="18" charset="0"/>
                            <a:ea typeface="Cambria Math" panose="02040503050406030204" pitchFamily="18" charset="0"/>
                          </a:rPr>
                          <m:t>𝝌</m:t>
                        </m:r>
                      </m:e>
                      <m:sup>
                        <m:r>
                          <a:rPr lang="fr-FR" sz="2800" b="1" i="1">
                            <a:solidFill>
                              <a:schemeClr val="tx1"/>
                            </a:solidFill>
                            <a:latin typeface="Cambria Math" panose="02040503050406030204" pitchFamily="18" charset="0"/>
                            <a:ea typeface="MS PGothic" pitchFamily="34" charset="-128"/>
                          </a:rPr>
                          <m:t>𝟐</m:t>
                        </m:r>
                      </m:sup>
                    </m:sSup>
                  </m:oMath>
                </a14:m>
                <a:r>
                  <a:rPr lang="fr-FR" sz="2800" b="1" dirty="0">
                    <a:solidFill>
                      <a:schemeClr val="tx1"/>
                    </a:solidFill>
                    <a:latin typeface="Comic Sans MS" panose="030F0702030302020204" pitchFamily="66" charset="0"/>
                    <a:ea typeface="MS PGothic" pitchFamily="34" charset="-128"/>
                  </a:rPr>
                  <a:t> calculé au </a:t>
                </a:r>
                <a14:m>
                  <m:oMath xmlns:m="http://schemas.openxmlformats.org/officeDocument/2006/math">
                    <m:sSup>
                      <m:sSupPr>
                        <m:ctrlPr>
                          <a:rPr lang="fr-FR" sz="2800" b="1" i="1">
                            <a:solidFill>
                              <a:schemeClr val="tx1"/>
                            </a:solidFill>
                            <a:latin typeface="Cambria Math" panose="02040503050406030204" pitchFamily="18" charset="0"/>
                            <a:ea typeface="MS PGothic" pitchFamily="34" charset="-128"/>
                          </a:rPr>
                        </m:ctrlPr>
                      </m:sSupPr>
                      <m:e>
                        <m:r>
                          <a:rPr lang="fr-FR" sz="2800" b="1" i="1">
                            <a:solidFill>
                              <a:schemeClr val="tx1"/>
                            </a:solidFill>
                            <a:latin typeface="Cambria Math" panose="02040503050406030204" pitchFamily="18" charset="0"/>
                            <a:ea typeface="Cambria Math" panose="02040503050406030204" pitchFamily="18" charset="0"/>
                          </a:rPr>
                          <m:t>𝝌</m:t>
                        </m:r>
                      </m:e>
                      <m:sup>
                        <m:r>
                          <a:rPr lang="fr-FR" sz="2800" b="1" i="1">
                            <a:solidFill>
                              <a:schemeClr val="tx1"/>
                            </a:solidFill>
                            <a:latin typeface="Cambria Math" panose="02040503050406030204" pitchFamily="18" charset="0"/>
                            <a:ea typeface="MS PGothic" pitchFamily="34" charset="-128"/>
                          </a:rPr>
                          <m:t>𝟐</m:t>
                        </m:r>
                      </m:sup>
                    </m:sSup>
                  </m:oMath>
                </a14:m>
                <a:r>
                  <a:rPr lang="fr-FR" sz="2800" b="1" dirty="0">
                    <a:solidFill>
                      <a:schemeClr val="tx1"/>
                    </a:solidFill>
                    <a:latin typeface="Comic Sans MS" panose="030F0702030302020204" pitchFamily="66" charset="0"/>
                    <a:ea typeface="MS PGothic" pitchFamily="34" charset="-128"/>
                  </a:rPr>
                  <a:t> de la table et conclure </a:t>
                </a:r>
              </a:p>
              <a:p>
                <a:pPr>
                  <a:defRPr/>
                </a:pPr>
                <a:endParaRPr lang="fr-FR" sz="2000" b="1" dirty="0">
                  <a:solidFill>
                    <a:srgbClr val="C00000"/>
                  </a:solidFill>
                  <a:latin typeface="Comic Sans MS" panose="030F0702030302020204" pitchFamily="66" charset="0"/>
                  <a:ea typeface="MS PGothic" pitchFamily="34" charset="-128"/>
                </a:endParaRPr>
              </a:p>
              <a:p>
                <a:pPr>
                  <a:defRPr/>
                </a:pPr>
                <a:endParaRPr lang="fr-FR" sz="2000" b="1" dirty="0">
                  <a:solidFill>
                    <a:srgbClr val="C00000"/>
                  </a:solidFill>
                  <a:latin typeface="Comic Sans MS" panose="030F0702030302020204" pitchFamily="66" charset="0"/>
                  <a:ea typeface="MS PGothic" pitchFamily="34" charset="-128"/>
                </a:endParaRPr>
              </a:p>
            </p:txBody>
          </p:sp>
        </mc:Choice>
        <mc:Fallback xmlns="">
          <p:sp>
            <p:nvSpPr>
              <p:cNvPr id="4" name="Rectangle 3"/>
              <p:cNvSpPr>
                <a:spLocks noRot="1" noChangeAspect="1" noMove="1" noResize="1" noEditPoints="1" noAdjustHandles="1" noChangeArrowheads="1" noChangeShapeType="1" noTextEdit="1"/>
              </p:cNvSpPr>
              <p:nvPr/>
            </p:nvSpPr>
            <p:spPr>
              <a:xfrm>
                <a:off x="179512" y="1196752"/>
                <a:ext cx="8343900" cy="5324535"/>
              </a:xfrm>
              <a:prstGeom prst="rect">
                <a:avLst/>
              </a:prstGeom>
              <a:blipFill>
                <a:blip r:embed="rId2"/>
                <a:stretch>
                  <a:fillRect l="-1899" t="-915" r="-2264"/>
                </a:stretch>
              </a:blipFill>
            </p:spPr>
            <p:txBody>
              <a:bodyPr/>
              <a:lstStyle/>
              <a:p>
                <a:r>
                  <a:rPr lang="fr-FR">
                    <a:noFill/>
                  </a:rPr>
                  <a:t> </a:t>
                </a:r>
              </a:p>
            </p:txBody>
          </p:sp>
        </mc:Fallback>
      </mc:AlternateContent>
      <p:grpSp>
        <p:nvGrpSpPr>
          <p:cNvPr id="3074" name="Group 74933"/>
          <p:cNvGrpSpPr>
            <a:grpSpLocks/>
          </p:cNvGrpSpPr>
          <p:nvPr/>
        </p:nvGrpSpPr>
        <p:grpSpPr bwMode="auto">
          <a:xfrm>
            <a:off x="-42863" y="-1588"/>
            <a:ext cx="517526" cy="320676"/>
            <a:chOff x="0" y="0"/>
            <a:chExt cx="518160" cy="321564"/>
          </a:xfrm>
        </p:grpSpPr>
      </p:grpSp>
      <p:sp>
        <p:nvSpPr>
          <p:cNvPr id="7" name="Title 1">
            <a:extLst>
              <a:ext uri="{FF2B5EF4-FFF2-40B4-BE49-F238E27FC236}">
                <a16:creationId xmlns:a16="http://schemas.microsoft.com/office/drawing/2014/main" id="{238A7D9D-056C-402B-8603-5B17A3AB35A0}"/>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1681227173"/>
      </p:ext>
    </p:ext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923025"/>
            <a:ext cx="8801100" cy="3231654"/>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r>
              <a:rPr lang="fr-FR" sz="2800" b="1" dirty="0">
                <a:latin typeface="Comic Sans MS" panose="030F0702030302020204" pitchFamily="66" charset="0"/>
                <a:ea typeface="MS PGothic" pitchFamily="34" charset="-128"/>
              </a:rPr>
              <a:t>Exemple : Dans une étude, un chercheur souhaite savoir à l’aide du test du khi deux s’il existe une relation entre la pauvreté et le milieu de résidence.</a:t>
            </a:r>
          </a:p>
          <a:p>
            <a:r>
              <a:rPr lang="fr-FR" sz="2800" b="1" dirty="0">
                <a:solidFill>
                  <a:srgbClr val="002060"/>
                </a:solidFill>
                <a:latin typeface="Comic Sans MS" panose="030F0702030302020204" pitchFamily="66" charset="0"/>
                <a:ea typeface="MS PGothic" pitchFamily="34" charset="-128"/>
              </a:rPr>
              <a:t>         </a:t>
            </a:r>
            <a:r>
              <a:rPr lang="fr-FR" sz="2800" b="1" dirty="0">
                <a:solidFill>
                  <a:srgbClr val="FF0000"/>
                </a:solidFill>
                <a:latin typeface="Comic Sans MS" panose="030F0702030302020204" pitchFamily="66" charset="0"/>
                <a:ea typeface="MS PGothic" pitchFamily="34" charset="-128"/>
              </a:rPr>
              <a:t>Tableau de contingence:</a:t>
            </a:r>
          </a:p>
          <a:p>
            <a:endParaRPr lang="fr-FR" sz="2000" b="1" dirty="0">
              <a:solidFill>
                <a:srgbClr val="C00000"/>
              </a:solidFill>
              <a:latin typeface="Comic Sans MS" panose="030F0702030302020204" pitchFamily="66" charset="0"/>
              <a:ea typeface="MS PGothic" pitchFamily="34" charset="-128"/>
            </a:endParaRPr>
          </a:p>
          <a:p>
            <a:pPr>
              <a:defRPr/>
            </a:pPr>
            <a:endParaRPr lang="fr-FR" sz="2000" b="1" dirty="0">
              <a:solidFill>
                <a:srgbClr val="C00000"/>
              </a:solidFill>
              <a:latin typeface="Comic Sans MS" panose="030F0702030302020204" pitchFamily="66" charset="0"/>
              <a:ea typeface="MS PGothic" pitchFamily="34" charset="-128"/>
            </a:endParaRPr>
          </a:p>
        </p:txBody>
      </p:sp>
      <p:grpSp>
        <p:nvGrpSpPr>
          <p:cNvPr id="4098" name="Group 74933"/>
          <p:cNvGrpSpPr>
            <a:grpSpLocks/>
          </p:cNvGrpSpPr>
          <p:nvPr/>
        </p:nvGrpSpPr>
        <p:grpSpPr bwMode="auto">
          <a:xfrm>
            <a:off x="-42863" y="-1588"/>
            <a:ext cx="517526" cy="320676"/>
            <a:chOff x="0" y="0"/>
            <a:chExt cx="518160" cy="321564"/>
          </a:xfrm>
        </p:grpSpPr>
      </p:grpSp>
      <p:graphicFrame>
        <p:nvGraphicFramePr>
          <p:cNvPr id="2" name="Tableau 1"/>
          <p:cNvGraphicFramePr>
            <a:graphicFrameLocks noGrp="1"/>
          </p:cNvGraphicFramePr>
          <p:nvPr>
            <p:extLst>
              <p:ext uri="{D42A27DB-BD31-4B8C-83A1-F6EECF244321}">
                <p14:modId xmlns:p14="http://schemas.microsoft.com/office/powerpoint/2010/main" val="3437348668"/>
              </p:ext>
            </p:extLst>
          </p:nvPr>
        </p:nvGraphicFramePr>
        <p:xfrm>
          <a:off x="1763688" y="3717032"/>
          <a:ext cx="5184475" cy="1431984"/>
        </p:xfrm>
        <a:graphic>
          <a:graphicData uri="http://schemas.openxmlformats.org/drawingml/2006/table">
            <a:tbl>
              <a:tblPr firstRow="1" firstCol="1" bandRow="1">
                <a:tableStyleId>{0660B408-B3CF-4A94-85FC-2B1E0A45F4A2}</a:tableStyleId>
              </a:tblPr>
              <a:tblGrid>
                <a:gridCol w="1497784">
                  <a:extLst>
                    <a:ext uri="{9D8B030D-6E8A-4147-A177-3AD203B41FA5}">
                      <a16:colId xmlns:a16="http://schemas.microsoft.com/office/drawing/2014/main" val="20000"/>
                    </a:ext>
                  </a:extLst>
                </a:gridCol>
                <a:gridCol w="1237837">
                  <a:extLst>
                    <a:ext uri="{9D8B030D-6E8A-4147-A177-3AD203B41FA5}">
                      <a16:colId xmlns:a16="http://schemas.microsoft.com/office/drawing/2014/main" val="20001"/>
                    </a:ext>
                  </a:extLst>
                </a:gridCol>
                <a:gridCol w="1539605">
                  <a:extLst>
                    <a:ext uri="{9D8B030D-6E8A-4147-A177-3AD203B41FA5}">
                      <a16:colId xmlns:a16="http://schemas.microsoft.com/office/drawing/2014/main" val="20002"/>
                    </a:ext>
                  </a:extLst>
                </a:gridCol>
                <a:gridCol w="909249">
                  <a:extLst>
                    <a:ext uri="{9D8B030D-6E8A-4147-A177-3AD203B41FA5}">
                      <a16:colId xmlns:a16="http://schemas.microsoft.com/office/drawing/2014/main" val="20003"/>
                    </a:ext>
                  </a:extLst>
                </a:gridCol>
              </a:tblGrid>
              <a:tr h="346830">
                <a:tc>
                  <a:txBody>
                    <a:bodyPr/>
                    <a:lstStyle/>
                    <a:p>
                      <a:pPr marL="234950" indent="-6350" algn="l">
                        <a:lnSpc>
                          <a:spcPct val="115000"/>
                        </a:lnSpc>
                        <a:spcAft>
                          <a:spcPts val="0"/>
                        </a:spcAft>
                      </a:pPr>
                      <a:r>
                        <a:rPr lang="fr-FR" sz="2000" dirty="0">
                          <a:effectLst/>
                        </a:rPr>
                        <a:t>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4450" marR="73025" marT="0" marB="0"/>
                </a:tc>
                <a:tc>
                  <a:txBody>
                    <a:bodyPr/>
                    <a:lstStyle/>
                    <a:p>
                      <a:pPr marL="1270" indent="-6350" algn="l">
                        <a:lnSpc>
                          <a:spcPct val="115000"/>
                        </a:lnSpc>
                        <a:spcAft>
                          <a:spcPts val="0"/>
                        </a:spcAft>
                      </a:pPr>
                      <a:r>
                        <a:rPr lang="fr-FR" sz="2000" dirty="0">
                          <a:effectLst/>
                        </a:rPr>
                        <a:t>Pauvre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4450" marR="73025" marT="0" marB="0"/>
                </a:tc>
                <a:tc>
                  <a:txBody>
                    <a:bodyPr/>
                    <a:lstStyle/>
                    <a:p>
                      <a:pPr marL="1270" indent="-6350" algn="l">
                        <a:lnSpc>
                          <a:spcPct val="115000"/>
                        </a:lnSpc>
                        <a:spcAft>
                          <a:spcPts val="0"/>
                        </a:spcAft>
                      </a:pPr>
                      <a:r>
                        <a:rPr lang="fr-FR" sz="2000" dirty="0">
                          <a:effectLst/>
                        </a:rPr>
                        <a:t>Non pauvre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4450" marR="73025" marT="0" marB="0"/>
                </a:tc>
                <a:tc>
                  <a:txBody>
                    <a:bodyPr/>
                    <a:lstStyle/>
                    <a:p>
                      <a:pPr marL="1270" indent="-6350" algn="l">
                        <a:lnSpc>
                          <a:spcPct val="115000"/>
                        </a:lnSpc>
                        <a:spcAft>
                          <a:spcPts val="0"/>
                        </a:spcAft>
                      </a:pPr>
                      <a:r>
                        <a:rPr lang="fr-FR" sz="2000" dirty="0">
                          <a:effectLst/>
                        </a:rPr>
                        <a:t>Total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4450" marR="73025" marT="0" marB="0"/>
                </a:tc>
                <a:extLst>
                  <a:ext uri="{0D108BD9-81ED-4DB2-BD59-A6C34878D82A}">
                    <a16:rowId xmlns:a16="http://schemas.microsoft.com/office/drawing/2014/main" val="10000"/>
                  </a:ext>
                </a:extLst>
              </a:tr>
              <a:tr h="346830">
                <a:tc>
                  <a:txBody>
                    <a:bodyPr/>
                    <a:lstStyle/>
                    <a:p>
                      <a:pPr marL="234950" indent="-6350" algn="l">
                        <a:lnSpc>
                          <a:spcPct val="115000"/>
                        </a:lnSpc>
                        <a:spcAft>
                          <a:spcPts val="0"/>
                        </a:spcAft>
                      </a:pPr>
                      <a:r>
                        <a:rPr lang="fr-FR" sz="2000" dirty="0">
                          <a:effectLst/>
                        </a:rPr>
                        <a:t>Urbain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4450" marR="73025" marT="0" marB="0"/>
                </a:tc>
                <a:tc>
                  <a:txBody>
                    <a:bodyPr/>
                    <a:lstStyle/>
                    <a:p>
                      <a:pPr marL="234950" indent="-6350" algn="ctr">
                        <a:lnSpc>
                          <a:spcPct val="115000"/>
                        </a:lnSpc>
                        <a:spcAft>
                          <a:spcPts val="0"/>
                        </a:spcAft>
                      </a:pPr>
                      <a:r>
                        <a:rPr lang="fr-FR" sz="2000" dirty="0">
                          <a:effectLst/>
                        </a:rPr>
                        <a:t>343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4450" marR="73025" marT="0" marB="0"/>
                </a:tc>
                <a:tc>
                  <a:txBody>
                    <a:bodyPr/>
                    <a:lstStyle/>
                    <a:p>
                      <a:pPr marL="234950" indent="-6350" algn="ctr">
                        <a:lnSpc>
                          <a:spcPct val="115000"/>
                        </a:lnSpc>
                        <a:spcAft>
                          <a:spcPts val="0"/>
                        </a:spcAft>
                      </a:pPr>
                      <a:r>
                        <a:rPr lang="fr-FR" sz="2000" dirty="0">
                          <a:effectLst/>
                        </a:rPr>
                        <a:t>122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4450" marR="73025" marT="0" marB="0"/>
                </a:tc>
                <a:tc>
                  <a:txBody>
                    <a:bodyPr/>
                    <a:lstStyle/>
                    <a:p>
                      <a:pPr marL="234950" indent="-6350" algn="ctr">
                        <a:lnSpc>
                          <a:spcPct val="115000"/>
                        </a:lnSpc>
                        <a:spcAft>
                          <a:spcPts val="0"/>
                        </a:spcAft>
                      </a:pPr>
                      <a:r>
                        <a:rPr lang="fr-FR" sz="2000" dirty="0">
                          <a:effectLst/>
                        </a:rPr>
                        <a:t>465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4450" marR="73025" marT="0" marB="0"/>
                </a:tc>
                <a:extLst>
                  <a:ext uri="{0D108BD9-81ED-4DB2-BD59-A6C34878D82A}">
                    <a16:rowId xmlns:a16="http://schemas.microsoft.com/office/drawing/2014/main" val="10001"/>
                  </a:ext>
                </a:extLst>
              </a:tr>
              <a:tr h="346830">
                <a:tc>
                  <a:txBody>
                    <a:bodyPr/>
                    <a:lstStyle/>
                    <a:p>
                      <a:pPr marL="234950" indent="-6350" algn="l">
                        <a:lnSpc>
                          <a:spcPct val="115000"/>
                        </a:lnSpc>
                        <a:spcAft>
                          <a:spcPts val="0"/>
                        </a:spcAft>
                      </a:pPr>
                      <a:r>
                        <a:rPr lang="fr-FR" sz="2000">
                          <a:effectLst/>
                        </a:rPr>
                        <a:t>Rural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4450" marR="73025" marT="0" marB="0"/>
                </a:tc>
                <a:tc>
                  <a:txBody>
                    <a:bodyPr/>
                    <a:lstStyle/>
                    <a:p>
                      <a:pPr marL="234950" indent="-6350" algn="ctr">
                        <a:lnSpc>
                          <a:spcPct val="115000"/>
                        </a:lnSpc>
                        <a:spcAft>
                          <a:spcPts val="0"/>
                        </a:spcAft>
                      </a:pPr>
                      <a:r>
                        <a:rPr lang="fr-FR" sz="2000" dirty="0">
                          <a:effectLst/>
                        </a:rPr>
                        <a:t>621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4450" marR="73025" marT="0" marB="0"/>
                </a:tc>
                <a:tc>
                  <a:txBody>
                    <a:bodyPr/>
                    <a:lstStyle/>
                    <a:p>
                      <a:pPr marL="234950" indent="-6350" algn="ctr">
                        <a:lnSpc>
                          <a:spcPct val="115000"/>
                        </a:lnSpc>
                        <a:spcAft>
                          <a:spcPts val="0"/>
                        </a:spcAft>
                      </a:pPr>
                      <a:r>
                        <a:rPr lang="fr-FR" sz="2000" dirty="0">
                          <a:effectLst/>
                        </a:rPr>
                        <a:t>114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4450" marR="73025" marT="0" marB="0"/>
                </a:tc>
                <a:tc>
                  <a:txBody>
                    <a:bodyPr/>
                    <a:lstStyle/>
                    <a:p>
                      <a:pPr marL="234950" indent="-6350" algn="ctr">
                        <a:lnSpc>
                          <a:spcPct val="115000"/>
                        </a:lnSpc>
                        <a:spcAft>
                          <a:spcPts val="0"/>
                        </a:spcAft>
                      </a:pPr>
                      <a:r>
                        <a:rPr lang="fr-FR" sz="2000" dirty="0">
                          <a:effectLst/>
                        </a:rPr>
                        <a:t>735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4450" marR="73025" marT="0" marB="0"/>
                </a:tc>
                <a:extLst>
                  <a:ext uri="{0D108BD9-81ED-4DB2-BD59-A6C34878D82A}">
                    <a16:rowId xmlns:a16="http://schemas.microsoft.com/office/drawing/2014/main" val="10002"/>
                  </a:ext>
                </a:extLst>
              </a:tr>
              <a:tr h="391494">
                <a:tc>
                  <a:txBody>
                    <a:bodyPr/>
                    <a:lstStyle/>
                    <a:p>
                      <a:pPr marL="234950" indent="-6350" algn="l">
                        <a:lnSpc>
                          <a:spcPct val="115000"/>
                        </a:lnSpc>
                        <a:spcAft>
                          <a:spcPts val="0"/>
                        </a:spcAft>
                      </a:pPr>
                      <a:r>
                        <a:rPr lang="fr-FR" sz="2000" dirty="0">
                          <a:effectLst/>
                        </a:rPr>
                        <a:t>Total</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4450" marR="73025" marT="0" marB="0"/>
                </a:tc>
                <a:tc>
                  <a:txBody>
                    <a:bodyPr/>
                    <a:lstStyle/>
                    <a:p>
                      <a:pPr marL="234950" indent="-6350" algn="ctr">
                        <a:lnSpc>
                          <a:spcPct val="115000"/>
                        </a:lnSpc>
                        <a:spcAft>
                          <a:spcPts val="0"/>
                        </a:spcAft>
                      </a:pPr>
                      <a:r>
                        <a:rPr lang="fr-FR" sz="2000" dirty="0">
                          <a:effectLst/>
                        </a:rPr>
                        <a:t>964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4450" marR="73025" marT="0" marB="0"/>
                </a:tc>
                <a:tc>
                  <a:txBody>
                    <a:bodyPr/>
                    <a:lstStyle/>
                    <a:p>
                      <a:pPr marL="234950" indent="-6350" algn="ctr">
                        <a:lnSpc>
                          <a:spcPct val="115000"/>
                        </a:lnSpc>
                        <a:spcAft>
                          <a:spcPts val="0"/>
                        </a:spcAft>
                      </a:pPr>
                      <a:r>
                        <a:rPr lang="fr-FR" sz="2000" dirty="0">
                          <a:effectLst/>
                        </a:rPr>
                        <a:t>236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4450" marR="73025" marT="0" marB="0"/>
                </a:tc>
                <a:tc>
                  <a:txBody>
                    <a:bodyPr/>
                    <a:lstStyle/>
                    <a:p>
                      <a:pPr marL="234950" indent="-6350" algn="ctr">
                        <a:lnSpc>
                          <a:spcPct val="115000"/>
                        </a:lnSpc>
                        <a:spcAft>
                          <a:spcPts val="0"/>
                        </a:spcAft>
                      </a:pPr>
                      <a:r>
                        <a:rPr lang="fr-FR" sz="2000" dirty="0">
                          <a:effectLst/>
                        </a:rPr>
                        <a:t>1200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4450" marR="73025" marT="0" marB="0"/>
                </a:tc>
                <a:extLst>
                  <a:ext uri="{0D108BD9-81ED-4DB2-BD59-A6C34878D82A}">
                    <a16:rowId xmlns:a16="http://schemas.microsoft.com/office/drawing/2014/main" val="10003"/>
                  </a:ext>
                </a:extLst>
              </a:tr>
            </a:tbl>
          </a:graphicData>
        </a:graphic>
      </p:graphicFrame>
      <p:sp>
        <p:nvSpPr>
          <p:cNvPr id="10" name="Title 1">
            <a:extLst>
              <a:ext uri="{FF2B5EF4-FFF2-40B4-BE49-F238E27FC236}">
                <a16:creationId xmlns:a16="http://schemas.microsoft.com/office/drawing/2014/main" id="{5D981C93-09E6-405F-88AD-BF22F2563028}"/>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800490600"/>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336454" y="1196752"/>
                <a:ext cx="8801100" cy="4793107"/>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endParaRPr lang="fr-FR" sz="1600" b="1" dirty="0">
                  <a:solidFill>
                    <a:srgbClr val="FF0000"/>
                  </a:solidFill>
                  <a:latin typeface="Comic Sans MS" panose="030F0702030302020204" pitchFamily="66" charset="0"/>
                  <a:ea typeface="MS PGothic" pitchFamily="34" charset="-128"/>
                </a:endParaRPr>
              </a:p>
              <a:p>
                <a:pPr/>
                <a14:m>
                  <m:oMathPara xmlns:m="http://schemas.openxmlformats.org/officeDocument/2006/math">
                    <m:oMathParaPr>
                      <m:jc m:val="centerGroup"/>
                    </m:oMathParaPr>
                    <m:oMath xmlns:m="http://schemas.openxmlformats.org/officeDocument/2006/math">
                      <m:sSub>
                        <m:sSubPr>
                          <m:ctrlPr>
                            <a:rPr lang="fr-FR" sz="3200" b="1" i="1" smtClean="0">
                              <a:solidFill>
                                <a:srgbClr val="0070C0"/>
                              </a:solidFill>
                              <a:latin typeface="Cambria Math" panose="02040503050406030204" pitchFamily="18" charset="0"/>
                              <a:ea typeface="MS PGothic" pitchFamily="34" charset="-128"/>
                            </a:rPr>
                          </m:ctrlPr>
                        </m:sSubPr>
                        <m:e>
                          <m:sSup>
                            <m:sSupPr>
                              <m:ctrlPr>
                                <a:rPr lang="fr-FR" sz="3200" b="1" i="1">
                                  <a:solidFill>
                                    <a:srgbClr val="0070C0"/>
                                  </a:solidFill>
                                  <a:latin typeface="Cambria Math" panose="02040503050406030204" pitchFamily="18" charset="0"/>
                                  <a:ea typeface="MS PGothic" pitchFamily="34" charset="-128"/>
                                </a:rPr>
                              </m:ctrlPr>
                            </m:sSupPr>
                            <m:e>
                              <m:r>
                                <a:rPr lang="fr-FR" sz="3200" b="1" i="1">
                                  <a:solidFill>
                                    <a:srgbClr val="0070C0"/>
                                  </a:solidFill>
                                  <a:latin typeface="Cambria Math" panose="02040503050406030204" pitchFamily="18" charset="0"/>
                                  <a:ea typeface="Cambria Math" panose="02040503050406030204" pitchFamily="18" charset="0"/>
                                </a:rPr>
                                <m:t>𝝌</m:t>
                              </m:r>
                            </m:e>
                            <m:sup>
                              <m:r>
                                <a:rPr lang="fr-FR" sz="3200" b="1" i="1">
                                  <a:solidFill>
                                    <a:srgbClr val="0070C0"/>
                                  </a:solidFill>
                                  <a:latin typeface="Cambria Math" panose="02040503050406030204" pitchFamily="18" charset="0"/>
                                  <a:ea typeface="MS PGothic" pitchFamily="34" charset="-128"/>
                                </a:rPr>
                                <m:t>𝟐</m:t>
                              </m:r>
                            </m:sup>
                          </m:sSup>
                        </m:e>
                        <m:sub>
                          <m:r>
                            <a:rPr lang="fr-FR" sz="3200" b="1" i="1" smtClean="0">
                              <a:solidFill>
                                <a:srgbClr val="0070C0"/>
                              </a:solidFill>
                              <a:latin typeface="Cambria Math" panose="02040503050406030204" pitchFamily="18" charset="0"/>
                              <a:ea typeface="MS PGothic" pitchFamily="34" charset="-128"/>
                            </a:rPr>
                            <m:t>𝟓</m:t>
                          </m:r>
                          <m:r>
                            <a:rPr lang="fr-FR" sz="3200" b="1" i="1" smtClean="0">
                              <a:solidFill>
                                <a:srgbClr val="0070C0"/>
                              </a:solidFill>
                              <a:latin typeface="Cambria Math" panose="02040503050406030204" pitchFamily="18" charset="0"/>
                              <a:ea typeface="MS PGothic" pitchFamily="34" charset="-128"/>
                            </a:rPr>
                            <m:t>%</m:t>
                          </m:r>
                        </m:sub>
                      </m:sSub>
                      <m:r>
                        <a:rPr lang="fr-FR" sz="3200" b="1" i="0" smtClean="0">
                          <a:solidFill>
                            <a:srgbClr val="0070C0"/>
                          </a:solidFill>
                          <a:latin typeface="Cambria Math" panose="02040503050406030204" pitchFamily="18" charset="0"/>
                          <a:ea typeface="MS PGothic" pitchFamily="34" charset="-128"/>
                        </a:rPr>
                        <m:t>=</m:t>
                      </m:r>
                      <m:r>
                        <a:rPr lang="fr-FR" sz="3200" b="1" i="0" smtClean="0">
                          <a:solidFill>
                            <a:srgbClr val="0070C0"/>
                          </a:solidFill>
                          <a:latin typeface="Cambria Math" panose="02040503050406030204" pitchFamily="18" charset="0"/>
                          <a:ea typeface="MS PGothic" pitchFamily="34" charset="-128"/>
                        </a:rPr>
                        <m:t>𝟑</m:t>
                      </m:r>
                      <m:r>
                        <a:rPr lang="fr-FR" sz="3200" b="1" i="0" smtClean="0">
                          <a:solidFill>
                            <a:srgbClr val="0070C0"/>
                          </a:solidFill>
                          <a:latin typeface="Cambria Math" panose="02040503050406030204" pitchFamily="18" charset="0"/>
                          <a:ea typeface="MS PGothic" pitchFamily="34" charset="-128"/>
                        </a:rPr>
                        <m:t>,</m:t>
                      </m:r>
                      <m:r>
                        <a:rPr lang="fr-FR" sz="3200" b="1" i="0" smtClean="0">
                          <a:solidFill>
                            <a:srgbClr val="0070C0"/>
                          </a:solidFill>
                          <a:latin typeface="Cambria Math" panose="02040503050406030204" pitchFamily="18" charset="0"/>
                          <a:ea typeface="MS PGothic" pitchFamily="34" charset="-128"/>
                        </a:rPr>
                        <m:t>𝟖𝟒</m:t>
                      </m:r>
                    </m:oMath>
                  </m:oMathPara>
                </a14:m>
                <a:endParaRPr lang="fr-FR" sz="3200" b="1" dirty="0">
                  <a:solidFill>
                    <a:srgbClr val="0070C0"/>
                  </a:solidFill>
                  <a:latin typeface="Comic Sans MS" panose="030F0702030302020204" pitchFamily="66" charset="0"/>
                  <a:ea typeface="MS PGothic" pitchFamily="34" charset="-128"/>
                </a:endParaRPr>
              </a:p>
              <a:p>
                <a14:m>
                  <m:oMath xmlns:m="http://schemas.openxmlformats.org/officeDocument/2006/math">
                    <m:sSub>
                      <m:sSubPr>
                        <m:ctrlPr>
                          <a:rPr lang="fr-FR" sz="3200" b="1" i="1">
                            <a:solidFill>
                              <a:srgbClr val="0070C0"/>
                            </a:solidFill>
                            <a:latin typeface="Cambria Math" panose="02040503050406030204" pitchFamily="18" charset="0"/>
                            <a:ea typeface="MS PGothic" pitchFamily="34" charset="-128"/>
                          </a:rPr>
                        </m:ctrlPr>
                      </m:sSubPr>
                      <m:e>
                        <m:sSup>
                          <m:sSupPr>
                            <m:ctrlPr>
                              <a:rPr lang="fr-FR" sz="3200" b="1" i="1">
                                <a:solidFill>
                                  <a:srgbClr val="0070C0"/>
                                </a:solidFill>
                                <a:latin typeface="Cambria Math" panose="02040503050406030204" pitchFamily="18" charset="0"/>
                                <a:ea typeface="MS PGothic" pitchFamily="34" charset="-128"/>
                              </a:rPr>
                            </m:ctrlPr>
                          </m:sSupPr>
                          <m:e>
                            <m:r>
                              <a:rPr lang="fr-FR" sz="3200" b="1" i="1">
                                <a:solidFill>
                                  <a:srgbClr val="0070C0"/>
                                </a:solidFill>
                                <a:latin typeface="Cambria Math" panose="02040503050406030204" pitchFamily="18" charset="0"/>
                                <a:ea typeface="Cambria Math" panose="02040503050406030204" pitchFamily="18" charset="0"/>
                              </a:rPr>
                              <m:t>𝝌</m:t>
                            </m:r>
                          </m:e>
                          <m:sup>
                            <m:r>
                              <a:rPr lang="fr-FR" sz="3200" b="1" i="1">
                                <a:solidFill>
                                  <a:srgbClr val="0070C0"/>
                                </a:solidFill>
                                <a:latin typeface="Cambria Math" panose="02040503050406030204" pitchFamily="18" charset="0"/>
                                <a:ea typeface="MS PGothic" pitchFamily="34" charset="-128"/>
                              </a:rPr>
                              <m:t>𝟐</m:t>
                            </m:r>
                          </m:sup>
                        </m:sSup>
                      </m:e>
                      <m:sub>
                        <m:r>
                          <a:rPr lang="fr-FR" sz="3200" b="1" i="1">
                            <a:solidFill>
                              <a:srgbClr val="0070C0"/>
                            </a:solidFill>
                            <a:latin typeface="Cambria Math" panose="02040503050406030204" pitchFamily="18" charset="0"/>
                            <a:ea typeface="MS PGothic" pitchFamily="34" charset="-128"/>
                          </a:rPr>
                          <m:t>𝟓</m:t>
                        </m:r>
                        <m:r>
                          <a:rPr lang="fr-FR" sz="3200" b="1" i="1">
                            <a:solidFill>
                              <a:srgbClr val="0070C0"/>
                            </a:solidFill>
                            <a:latin typeface="Cambria Math" panose="02040503050406030204" pitchFamily="18" charset="0"/>
                            <a:ea typeface="MS PGothic" pitchFamily="34" charset="-128"/>
                          </a:rPr>
                          <m:t>%</m:t>
                        </m:r>
                      </m:sub>
                    </m:sSub>
                  </m:oMath>
                </a14:m>
                <a:r>
                  <a:rPr lang="fr-FR" sz="3200" b="1" dirty="0">
                    <a:solidFill>
                      <a:srgbClr val="0070C0"/>
                    </a:solidFill>
                    <a:latin typeface="Comic Sans MS" panose="030F0702030302020204" pitchFamily="66" charset="0"/>
                    <a:ea typeface="MS PGothic" pitchFamily="34" charset="-128"/>
                  </a:rPr>
                  <a:t>&lt;</a:t>
                </a:r>
                <a14:m>
                  <m:oMath xmlns:m="http://schemas.openxmlformats.org/officeDocument/2006/math">
                    <m:sSup>
                      <m:sSupPr>
                        <m:ctrlPr>
                          <a:rPr lang="fr-FR" sz="3200" b="1" i="1">
                            <a:solidFill>
                              <a:srgbClr val="0070C0"/>
                            </a:solidFill>
                            <a:latin typeface="Cambria Math" panose="02040503050406030204" pitchFamily="18" charset="0"/>
                            <a:ea typeface="MS PGothic" pitchFamily="34" charset="-128"/>
                          </a:rPr>
                        </m:ctrlPr>
                      </m:sSupPr>
                      <m:e>
                        <m:r>
                          <a:rPr lang="fr-FR" sz="3200" b="1" i="1">
                            <a:solidFill>
                              <a:srgbClr val="0070C0"/>
                            </a:solidFill>
                            <a:latin typeface="Cambria Math" panose="02040503050406030204" pitchFamily="18" charset="0"/>
                            <a:ea typeface="Cambria Math" panose="02040503050406030204" pitchFamily="18" charset="0"/>
                          </a:rPr>
                          <m:t>𝝌</m:t>
                        </m:r>
                      </m:e>
                      <m:sup>
                        <m:r>
                          <a:rPr lang="fr-FR" sz="3200" b="1" i="1">
                            <a:solidFill>
                              <a:srgbClr val="0070C0"/>
                            </a:solidFill>
                            <a:latin typeface="Cambria Math" panose="02040503050406030204" pitchFamily="18" charset="0"/>
                            <a:ea typeface="MS PGothic" pitchFamily="34" charset="-128"/>
                          </a:rPr>
                          <m:t>𝟐</m:t>
                        </m:r>
                      </m:sup>
                    </m:sSup>
                  </m:oMath>
                </a14:m>
                <a:r>
                  <a:rPr lang="fr-FR" sz="2800" b="1" dirty="0">
                    <a:solidFill>
                      <a:srgbClr val="0070C0"/>
                    </a:solidFill>
                    <a:latin typeface="Comic Sans MS" panose="030F0702030302020204" pitchFamily="66" charset="0"/>
                    <a:ea typeface="MS PGothic" pitchFamily="34" charset="-128"/>
                  </a:rPr>
                  <a:t>  donc les deux variables ne sont pas indépendantes</a:t>
                </a:r>
              </a:p>
              <a:p>
                <a:endParaRPr lang="fr-FR" sz="2800" b="1" dirty="0">
                  <a:solidFill>
                    <a:srgbClr val="FF0000"/>
                  </a:solidFill>
                  <a:latin typeface="Comic Sans MS" panose="030F0702030302020204" pitchFamily="66" charset="0"/>
                  <a:ea typeface="MS PGothic" pitchFamily="34" charset="-128"/>
                </a:endParaRPr>
              </a:p>
              <a:p>
                <a:pPr marL="457200" indent="-457200">
                  <a:buFont typeface="Wingdings" panose="05000000000000000000" pitchFamily="2" charset="2"/>
                  <a:buChar char="v"/>
                </a:pPr>
                <a:r>
                  <a:rPr lang="fr-FR" sz="2800" b="1" dirty="0">
                    <a:solidFill>
                      <a:srgbClr val="FF0000"/>
                    </a:solidFill>
                    <a:latin typeface="Comic Sans MS" panose="030F0702030302020204" pitchFamily="66" charset="0"/>
                    <a:ea typeface="MS PGothic" pitchFamily="34" charset="-128"/>
                  </a:rPr>
                  <a:t>Force de la liaison</a:t>
                </a:r>
              </a:p>
              <a:p>
                <a:pPr/>
                <a14:m>
                  <m:oMathPara xmlns:m="http://schemas.openxmlformats.org/officeDocument/2006/math">
                    <m:oMathParaPr>
                      <m:jc m:val="centerGroup"/>
                    </m:oMathParaPr>
                    <m:oMath xmlns:m="http://schemas.openxmlformats.org/officeDocument/2006/math">
                      <m:sSub>
                        <m:sSubPr>
                          <m:ctrlPr>
                            <a:rPr lang="fr-FR" sz="2400" b="1" i="1">
                              <a:solidFill>
                                <a:srgbClr val="0070C0"/>
                              </a:solidFill>
                              <a:latin typeface="Cambria Math" panose="02040503050406030204" pitchFamily="18" charset="0"/>
                              <a:ea typeface="MS PGothic" pitchFamily="34" charset="-128"/>
                            </a:rPr>
                          </m:ctrlPr>
                        </m:sSubPr>
                        <m:e>
                          <m:sSup>
                            <m:sSupPr>
                              <m:ctrlPr>
                                <a:rPr lang="fr-FR" sz="2400" b="1" i="1">
                                  <a:solidFill>
                                    <a:srgbClr val="0070C0"/>
                                  </a:solidFill>
                                  <a:latin typeface="Cambria Math" panose="02040503050406030204" pitchFamily="18" charset="0"/>
                                  <a:ea typeface="MS PGothic" pitchFamily="34" charset="-128"/>
                                </a:rPr>
                              </m:ctrlPr>
                            </m:sSupPr>
                            <m:e>
                              <m:r>
                                <a:rPr lang="fr-FR" sz="2400" b="1" i="1">
                                  <a:solidFill>
                                    <a:srgbClr val="0070C0"/>
                                  </a:solidFill>
                                  <a:latin typeface="Cambria Math" panose="02040503050406030204" pitchFamily="18" charset="0"/>
                                  <a:ea typeface="Cambria Math" panose="02040503050406030204" pitchFamily="18" charset="0"/>
                                </a:rPr>
                                <m:t>𝝌</m:t>
                              </m:r>
                            </m:e>
                            <m:sup>
                              <m:r>
                                <a:rPr lang="fr-FR" sz="2400" b="1" i="1">
                                  <a:solidFill>
                                    <a:srgbClr val="0070C0"/>
                                  </a:solidFill>
                                  <a:latin typeface="Cambria Math" panose="02040503050406030204" pitchFamily="18" charset="0"/>
                                  <a:ea typeface="MS PGothic" pitchFamily="34" charset="-128"/>
                                </a:rPr>
                                <m:t>𝟐</m:t>
                              </m:r>
                            </m:sup>
                          </m:sSup>
                        </m:e>
                        <m:sub>
                          <m:r>
                            <a:rPr lang="fr-FR" sz="2400" b="1" i="1" smtClean="0">
                              <a:solidFill>
                                <a:srgbClr val="0070C0"/>
                              </a:solidFill>
                              <a:latin typeface="Cambria Math" panose="02040503050406030204" pitchFamily="18" charset="0"/>
                              <a:ea typeface="MS PGothic" pitchFamily="34" charset="-128"/>
                            </a:rPr>
                            <m:t>𝒎𝒂𝒙</m:t>
                          </m:r>
                        </m:sub>
                      </m:sSub>
                      <m:r>
                        <a:rPr lang="fr-FR" sz="2400" b="1" i="0" smtClean="0">
                          <a:solidFill>
                            <a:srgbClr val="0070C0"/>
                          </a:solidFill>
                          <a:latin typeface="Cambria Math" panose="02040503050406030204" pitchFamily="18" charset="0"/>
                          <a:ea typeface="MS PGothic" pitchFamily="34" charset="-128"/>
                        </a:rPr>
                        <m:t>=</m:t>
                      </m:r>
                      <m:r>
                        <a:rPr lang="fr-FR" sz="2400" b="1" i="0" smtClean="0">
                          <a:solidFill>
                            <a:srgbClr val="0070C0"/>
                          </a:solidFill>
                          <a:latin typeface="Cambria Math" panose="02040503050406030204" pitchFamily="18" charset="0"/>
                          <a:ea typeface="MS PGothic" pitchFamily="34" charset="-128"/>
                        </a:rPr>
                        <m:t>𝐧</m:t>
                      </m:r>
                      <m:r>
                        <a:rPr lang="fr-FR" sz="2400" b="1" i="1" smtClean="0">
                          <a:solidFill>
                            <a:srgbClr val="0070C0"/>
                          </a:solidFill>
                          <a:latin typeface="Cambria Math" panose="02040503050406030204" pitchFamily="18" charset="0"/>
                          <a:ea typeface="Cambria Math" panose="02040503050406030204" pitchFamily="18" charset="0"/>
                        </a:rPr>
                        <m:t>×</m:t>
                      </m:r>
                      <m:d>
                        <m:dPr>
                          <m:begChr m:val="["/>
                          <m:endChr m:val="]"/>
                          <m:ctrlPr>
                            <a:rPr lang="fr-FR" sz="2400" b="1" i="1" smtClean="0">
                              <a:solidFill>
                                <a:srgbClr val="0070C0"/>
                              </a:solidFill>
                              <a:latin typeface="Cambria Math" panose="02040503050406030204" pitchFamily="18" charset="0"/>
                              <a:ea typeface="Cambria Math" panose="02040503050406030204" pitchFamily="18" charset="0"/>
                            </a:rPr>
                          </m:ctrlPr>
                        </m:dPr>
                        <m:e>
                          <m:r>
                            <a:rPr lang="fr-FR" sz="2400" b="1" i="1" smtClean="0">
                              <a:solidFill>
                                <a:srgbClr val="0070C0"/>
                              </a:solidFill>
                              <a:latin typeface="Cambria Math" panose="02040503050406030204" pitchFamily="18" charset="0"/>
                              <a:ea typeface="Cambria Math" panose="02040503050406030204" pitchFamily="18" charset="0"/>
                            </a:rPr>
                            <m:t>𝒎𝒊𝒏</m:t>
                          </m:r>
                          <m:d>
                            <m:dPr>
                              <m:ctrlPr>
                                <a:rPr lang="fr-FR" sz="2400" b="1" i="1" smtClean="0">
                                  <a:solidFill>
                                    <a:srgbClr val="0070C0"/>
                                  </a:solidFill>
                                  <a:latin typeface="Cambria Math" panose="02040503050406030204" pitchFamily="18" charset="0"/>
                                  <a:ea typeface="Cambria Math" panose="02040503050406030204" pitchFamily="18" charset="0"/>
                                </a:rPr>
                              </m:ctrlPr>
                            </m:dPr>
                            <m:e>
                              <m:r>
                                <a:rPr lang="fr-FR" sz="2400" b="1" i="1" smtClean="0">
                                  <a:solidFill>
                                    <a:srgbClr val="0070C0"/>
                                  </a:solidFill>
                                  <a:latin typeface="Cambria Math" panose="02040503050406030204" pitchFamily="18" charset="0"/>
                                  <a:ea typeface="Cambria Math" panose="02040503050406030204" pitchFamily="18" charset="0"/>
                                </a:rPr>
                                <m:t>𝒑</m:t>
                              </m:r>
                              <m:r>
                                <a:rPr lang="fr-FR" sz="2400" b="1" i="1" smtClean="0">
                                  <a:solidFill>
                                    <a:srgbClr val="0070C0"/>
                                  </a:solidFill>
                                  <a:latin typeface="Cambria Math" panose="02040503050406030204" pitchFamily="18" charset="0"/>
                                  <a:ea typeface="Cambria Math" panose="02040503050406030204" pitchFamily="18" charset="0"/>
                                </a:rPr>
                                <m:t>,</m:t>
                              </m:r>
                              <m:r>
                                <a:rPr lang="fr-FR" sz="2400" b="1" i="1" smtClean="0">
                                  <a:solidFill>
                                    <a:srgbClr val="0070C0"/>
                                  </a:solidFill>
                                  <a:latin typeface="Cambria Math" panose="02040503050406030204" pitchFamily="18" charset="0"/>
                                  <a:ea typeface="Cambria Math" panose="02040503050406030204" pitchFamily="18" charset="0"/>
                                </a:rPr>
                                <m:t>𝒒</m:t>
                              </m:r>
                            </m:e>
                          </m:d>
                          <m:r>
                            <a:rPr lang="fr-FR" sz="2400" b="1" i="1" smtClean="0">
                              <a:solidFill>
                                <a:srgbClr val="0070C0"/>
                              </a:solidFill>
                              <a:latin typeface="Cambria Math" panose="02040503050406030204" pitchFamily="18" charset="0"/>
                              <a:ea typeface="Cambria Math" panose="02040503050406030204" pitchFamily="18" charset="0"/>
                            </a:rPr>
                            <m:t>−</m:t>
                          </m:r>
                          <m:r>
                            <a:rPr lang="fr-FR" sz="2400" b="1" i="1" smtClean="0">
                              <a:solidFill>
                                <a:srgbClr val="0070C0"/>
                              </a:solidFill>
                              <a:latin typeface="Cambria Math" panose="02040503050406030204" pitchFamily="18" charset="0"/>
                              <a:ea typeface="Cambria Math" panose="02040503050406030204" pitchFamily="18" charset="0"/>
                            </a:rPr>
                            <m:t>𝟏</m:t>
                          </m:r>
                        </m:e>
                      </m:d>
                      <m:r>
                        <a:rPr lang="fr-FR" sz="2400" b="1" i="1" smtClean="0">
                          <a:solidFill>
                            <a:srgbClr val="0070C0"/>
                          </a:solidFill>
                          <a:latin typeface="Cambria Math" panose="02040503050406030204" pitchFamily="18" charset="0"/>
                          <a:ea typeface="Cambria Math" panose="02040503050406030204" pitchFamily="18" charset="0"/>
                        </a:rPr>
                        <m:t>=</m:t>
                      </m:r>
                      <m:r>
                        <a:rPr lang="fr-FR" sz="2400" b="1" i="1" smtClean="0">
                          <a:solidFill>
                            <a:srgbClr val="0070C0"/>
                          </a:solidFill>
                          <a:latin typeface="Cambria Math" panose="02040503050406030204" pitchFamily="18" charset="0"/>
                          <a:ea typeface="Cambria Math" panose="02040503050406030204" pitchFamily="18" charset="0"/>
                        </a:rPr>
                        <m:t>𝒏</m:t>
                      </m:r>
                      <m:r>
                        <a:rPr lang="fr-FR" sz="2400" b="1" i="1" smtClean="0">
                          <a:solidFill>
                            <a:srgbClr val="0070C0"/>
                          </a:solidFill>
                          <a:latin typeface="Cambria Math" panose="02040503050406030204" pitchFamily="18" charset="0"/>
                          <a:ea typeface="Cambria Math" panose="02040503050406030204" pitchFamily="18" charset="0"/>
                        </a:rPr>
                        <m:t>×[</m:t>
                      </m:r>
                      <m:r>
                        <a:rPr lang="fr-FR" sz="2400" b="1" i="1" smtClean="0">
                          <a:solidFill>
                            <a:srgbClr val="0070C0"/>
                          </a:solidFill>
                          <a:latin typeface="Cambria Math" panose="02040503050406030204" pitchFamily="18" charset="0"/>
                          <a:ea typeface="Cambria Math" panose="02040503050406030204" pitchFamily="18" charset="0"/>
                        </a:rPr>
                        <m:t>𝒎𝒊𝒏</m:t>
                      </m:r>
                      <m:d>
                        <m:dPr>
                          <m:ctrlPr>
                            <a:rPr lang="fr-FR" sz="2400" b="1" i="1" smtClean="0">
                              <a:solidFill>
                                <a:srgbClr val="0070C0"/>
                              </a:solidFill>
                              <a:latin typeface="Cambria Math" panose="02040503050406030204" pitchFamily="18" charset="0"/>
                              <a:ea typeface="Cambria Math" panose="02040503050406030204" pitchFamily="18" charset="0"/>
                            </a:rPr>
                          </m:ctrlPr>
                        </m:dPr>
                        <m:e>
                          <m:r>
                            <a:rPr lang="fr-FR" sz="2400" b="1" i="1" smtClean="0">
                              <a:solidFill>
                                <a:srgbClr val="0070C0"/>
                              </a:solidFill>
                              <a:latin typeface="Cambria Math" panose="02040503050406030204" pitchFamily="18" charset="0"/>
                              <a:ea typeface="Cambria Math" panose="02040503050406030204" pitchFamily="18" charset="0"/>
                            </a:rPr>
                            <m:t>𝒑</m:t>
                          </m:r>
                          <m:r>
                            <a:rPr lang="fr-FR" sz="2400" b="1" i="1" smtClean="0">
                              <a:solidFill>
                                <a:srgbClr val="0070C0"/>
                              </a:solidFill>
                              <a:latin typeface="Cambria Math" panose="02040503050406030204" pitchFamily="18" charset="0"/>
                              <a:ea typeface="Cambria Math" panose="02040503050406030204" pitchFamily="18" charset="0"/>
                            </a:rPr>
                            <m:t>−</m:t>
                          </m:r>
                          <m:r>
                            <a:rPr lang="fr-FR" sz="2400" b="1" i="1" smtClean="0">
                              <a:solidFill>
                                <a:srgbClr val="0070C0"/>
                              </a:solidFill>
                              <a:latin typeface="Cambria Math" panose="02040503050406030204" pitchFamily="18" charset="0"/>
                              <a:ea typeface="Cambria Math" panose="02040503050406030204" pitchFamily="18" charset="0"/>
                            </a:rPr>
                            <m:t>𝟏</m:t>
                          </m:r>
                          <m:r>
                            <a:rPr lang="fr-FR" sz="2400" b="1" i="1" smtClean="0">
                              <a:solidFill>
                                <a:srgbClr val="0070C0"/>
                              </a:solidFill>
                              <a:latin typeface="Cambria Math" panose="02040503050406030204" pitchFamily="18" charset="0"/>
                              <a:ea typeface="Cambria Math" panose="02040503050406030204" pitchFamily="18" charset="0"/>
                            </a:rPr>
                            <m:t>,</m:t>
                          </m:r>
                          <m:r>
                            <a:rPr lang="fr-FR" sz="2400" b="1" i="1" smtClean="0">
                              <a:solidFill>
                                <a:srgbClr val="0070C0"/>
                              </a:solidFill>
                              <a:latin typeface="Cambria Math" panose="02040503050406030204" pitchFamily="18" charset="0"/>
                              <a:ea typeface="Cambria Math" panose="02040503050406030204" pitchFamily="18" charset="0"/>
                            </a:rPr>
                            <m:t>𝒒</m:t>
                          </m:r>
                          <m:r>
                            <a:rPr lang="fr-FR" sz="2400" b="1" i="1" smtClean="0">
                              <a:solidFill>
                                <a:srgbClr val="0070C0"/>
                              </a:solidFill>
                              <a:latin typeface="Cambria Math" panose="02040503050406030204" pitchFamily="18" charset="0"/>
                              <a:ea typeface="Cambria Math" panose="02040503050406030204" pitchFamily="18" charset="0"/>
                            </a:rPr>
                            <m:t>−</m:t>
                          </m:r>
                          <m:r>
                            <a:rPr lang="fr-FR" sz="2400" b="1" i="1" smtClean="0">
                              <a:solidFill>
                                <a:srgbClr val="0070C0"/>
                              </a:solidFill>
                              <a:latin typeface="Cambria Math" panose="02040503050406030204" pitchFamily="18" charset="0"/>
                              <a:ea typeface="Cambria Math" panose="02040503050406030204" pitchFamily="18" charset="0"/>
                            </a:rPr>
                            <m:t>𝟏</m:t>
                          </m:r>
                        </m:e>
                      </m:d>
                      <m:r>
                        <a:rPr lang="fr-FR" sz="2400" b="1" i="1" smtClean="0">
                          <a:solidFill>
                            <a:srgbClr val="0070C0"/>
                          </a:solidFill>
                          <a:latin typeface="Cambria Math" panose="02040503050406030204" pitchFamily="18" charset="0"/>
                          <a:ea typeface="Cambria Math" panose="02040503050406030204" pitchFamily="18" charset="0"/>
                        </a:rPr>
                        <m:t>]</m:t>
                      </m:r>
                    </m:oMath>
                  </m:oMathPara>
                </a14:m>
                <a:endParaRPr lang="fr-FR" sz="2400" b="1" dirty="0">
                  <a:solidFill>
                    <a:srgbClr val="FF0000"/>
                  </a:solidFill>
                  <a:latin typeface="Comic Sans MS" panose="030F0702030302020204" pitchFamily="66" charset="0"/>
                  <a:ea typeface="MS PGothic" pitchFamily="34" charset="-128"/>
                </a:endParaRPr>
              </a:p>
              <a:p>
                <a:endParaRPr lang="fr-FR" sz="2000" b="1" dirty="0">
                  <a:solidFill>
                    <a:srgbClr val="C00000"/>
                  </a:solidFill>
                  <a:latin typeface="Comic Sans MS" panose="030F0702030302020204" pitchFamily="66" charset="0"/>
                  <a:ea typeface="MS PGothic" pitchFamily="34" charset="-128"/>
                </a:endParaRPr>
              </a:p>
              <a:p>
                <a:pPr>
                  <a:defRPr/>
                </a:pPr>
                <a:r>
                  <a:rPr lang="fr-FR" sz="2000" b="1" dirty="0">
                    <a:solidFill>
                      <a:srgbClr val="0070C0"/>
                    </a:solidFill>
                    <a:latin typeface="Comic Sans MS" panose="030F0702030302020204" pitchFamily="66" charset="0"/>
                    <a:ea typeface="MS PGothic" pitchFamily="34" charset="-128"/>
                  </a:rPr>
                  <a:t>-Si </a:t>
                </a:r>
                <a14:m>
                  <m:oMath xmlns:m="http://schemas.openxmlformats.org/officeDocument/2006/math">
                    <m:sSup>
                      <m:sSupPr>
                        <m:ctrlPr>
                          <a:rPr lang="fr-FR" sz="2800" b="1" i="1" smtClean="0">
                            <a:solidFill>
                              <a:srgbClr val="0070C0"/>
                            </a:solidFill>
                            <a:latin typeface="Cambria Math" panose="02040503050406030204" pitchFamily="18" charset="0"/>
                            <a:ea typeface="MS PGothic" pitchFamily="34" charset="-128"/>
                          </a:rPr>
                        </m:ctrlPr>
                      </m:sSupPr>
                      <m:e>
                        <m:r>
                          <a:rPr lang="fr-FR" sz="2800" b="1" i="1">
                            <a:solidFill>
                              <a:srgbClr val="0070C0"/>
                            </a:solidFill>
                            <a:latin typeface="Cambria Math" panose="02040503050406030204" pitchFamily="18" charset="0"/>
                            <a:ea typeface="Cambria Math" panose="02040503050406030204" pitchFamily="18" charset="0"/>
                          </a:rPr>
                          <m:t>𝝌</m:t>
                        </m:r>
                      </m:e>
                      <m:sup>
                        <m:r>
                          <a:rPr lang="fr-FR" sz="2800" b="1" i="1">
                            <a:solidFill>
                              <a:srgbClr val="0070C0"/>
                            </a:solidFill>
                            <a:latin typeface="Cambria Math" panose="02040503050406030204" pitchFamily="18" charset="0"/>
                            <a:ea typeface="MS PGothic" pitchFamily="34" charset="-128"/>
                          </a:rPr>
                          <m:t>𝟐</m:t>
                        </m:r>
                      </m:sup>
                    </m:sSup>
                  </m:oMath>
                </a14:m>
                <a:r>
                  <a:rPr lang="fr-FR" sz="2800" b="1" dirty="0">
                    <a:solidFill>
                      <a:srgbClr val="0070C0"/>
                    </a:solidFill>
                    <a:latin typeface="Comic Sans MS" panose="030F0702030302020204" pitchFamily="66" charset="0"/>
                    <a:ea typeface="MS PGothic" pitchFamily="34" charset="-128"/>
                  </a:rPr>
                  <a:t>=</a:t>
                </a:r>
                <a14:m>
                  <m:oMath xmlns:m="http://schemas.openxmlformats.org/officeDocument/2006/math">
                    <m:sSub>
                      <m:sSubPr>
                        <m:ctrlPr>
                          <a:rPr lang="fr-FR" sz="2800" b="1" i="1">
                            <a:solidFill>
                              <a:srgbClr val="0070C0"/>
                            </a:solidFill>
                            <a:latin typeface="Cambria Math" panose="02040503050406030204" pitchFamily="18" charset="0"/>
                            <a:ea typeface="MS PGothic" pitchFamily="34" charset="-128"/>
                          </a:rPr>
                        </m:ctrlPr>
                      </m:sSubPr>
                      <m:e>
                        <m:sSup>
                          <m:sSupPr>
                            <m:ctrlPr>
                              <a:rPr lang="fr-FR" sz="2800" b="1" i="1">
                                <a:solidFill>
                                  <a:srgbClr val="0070C0"/>
                                </a:solidFill>
                                <a:latin typeface="Cambria Math" panose="02040503050406030204" pitchFamily="18" charset="0"/>
                                <a:ea typeface="MS PGothic" pitchFamily="34" charset="-128"/>
                              </a:rPr>
                            </m:ctrlPr>
                          </m:sSupPr>
                          <m:e>
                            <m:r>
                              <a:rPr lang="fr-FR" sz="2800" b="1" i="1">
                                <a:solidFill>
                                  <a:srgbClr val="0070C0"/>
                                </a:solidFill>
                                <a:latin typeface="Cambria Math" panose="02040503050406030204" pitchFamily="18" charset="0"/>
                                <a:ea typeface="Cambria Math" panose="02040503050406030204" pitchFamily="18" charset="0"/>
                              </a:rPr>
                              <m:t>𝝌</m:t>
                            </m:r>
                          </m:e>
                          <m:sup>
                            <m:r>
                              <a:rPr lang="fr-FR" sz="2800" b="1" i="1">
                                <a:solidFill>
                                  <a:srgbClr val="0070C0"/>
                                </a:solidFill>
                                <a:latin typeface="Cambria Math" panose="02040503050406030204" pitchFamily="18" charset="0"/>
                                <a:ea typeface="MS PGothic" pitchFamily="34" charset="-128"/>
                              </a:rPr>
                              <m:t>𝟐</m:t>
                            </m:r>
                          </m:sup>
                        </m:sSup>
                      </m:e>
                      <m:sub>
                        <m:r>
                          <a:rPr lang="fr-FR" sz="2800" b="1" i="1">
                            <a:solidFill>
                              <a:srgbClr val="0070C0"/>
                            </a:solidFill>
                            <a:latin typeface="Cambria Math" panose="02040503050406030204" pitchFamily="18" charset="0"/>
                            <a:ea typeface="MS PGothic" pitchFamily="34" charset="-128"/>
                          </a:rPr>
                          <m:t>𝒎𝒂𝒙</m:t>
                        </m:r>
                      </m:sub>
                    </m:sSub>
                  </m:oMath>
                </a14:m>
                <a:r>
                  <a:rPr lang="fr-FR" sz="2800" b="1" dirty="0">
                    <a:solidFill>
                      <a:srgbClr val="0070C0"/>
                    </a:solidFill>
                    <a:latin typeface="Comic Sans MS" panose="030F0702030302020204" pitchFamily="66" charset="0"/>
                    <a:ea typeface="MS PGothic" pitchFamily="34" charset="-128"/>
                  </a:rPr>
                  <a:t> alors la liaison entre X  et Y est parfaite</a:t>
                </a:r>
              </a:p>
            </p:txBody>
          </p:sp>
        </mc:Choice>
        <mc:Fallback xmlns="">
          <p:sp>
            <p:nvSpPr>
              <p:cNvPr id="4" name="Rectangle 3"/>
              <p:cNvSpPr>
                <a:spLocks noRot="1" noChangeAspect="1" noMove="1" noResize="1" noEditPoints="1" noAdjustHandles="1" noChangeArrowheads="1" noChangeShapeType="1" noTextEdit="1"/>
              </p:cNvSpPr>
              <p:nvPr/>
            </p:nvSpPr>
            <p:spPr>
              <a:xfrm>
                <a:off x="336454" y="1196752"/>
                <a:ext cx="8801100" cy="4793107"/>
              </a:xfrm>
              <a:prstGeom prst="rect">
                <a:avLst/>
              </a:prstGeom>
              <a:blipFill>
                <a:blip r:embed="rId2"/>
                <a:stretch>
                  <a:fillRect l="-1385" t="-1017" b="-2541"/>
                </a:stretch>
              </a:blipFill>
            </p:spPr>
            <p:txBody>
              <a:bodyPr/>
              <a:lstStyle/>
              <a:p>
                <a:r>
                  <a:rPr lang="fr-FR">
                    <a:noFill/>
                  </a:rPr>
                  <a:t> </a:t>
                </a:r>
              </a:p>
            </p:txBody>
          </p:sp>
        </mc:Fallback>
      </mc:AlternateContent>
      <p:grpSp>
        <p:nvGrpSpPr>
          <p:cNvPr id="4098" name="Group 74933"/>
          <p:cNvGrpSpPr>
            <a:grpSpLocks/>
          </p:cNvGrpSpPr>
          <p:nvPr/>
        </p:nvGrpSpPr>
        <p:grpSpPr bwMode="auto">
          <a:xfrm>
            <a:off x="-42863" y="-1588"/>
            <a:ext cx="517526" cy="320676"/>
            <a:chOff x="0" y="0"/>
            <a:chExt cx="518160" cy="321564"/>
          </a:xfrm>
        </p:grpSpPr>
      </p:grpSp>
      <p:sp>
        <p:nvSpPr>
          <p:cNvPr id="7" name="Title 1">
            <a:extLst>
              <a:ext uri="{FF2B5EF4-FFF2-40B4-BE49-F238E27FC236}">
                <a16:creationId xmlns:a16="http://schemas.microsoft.com/office/drawing/2014/main" id="{06B6D139-19EF-458E-98BF-ACB1D1993061}"/>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137016867"/>
      </p:ext>
    </p:extLst>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342900" y="1062205"/>
                <a:ext cx="8801100" cy="4322850"/>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endParaRPr lang="fr-FR" sz="1600" b="1" dirty="0">
                  <a:solidFill>
                    <a:srgbClr val="FF0000"/>
                  </a:solidFill>
                  <a:latin typeface="Comic Sans MS" panose="030F0702030302020204" pitchFamily="66" charset="0"/>
                  <a:ea typeface="MS PGothic" pitchFamily="34" charset="-128"/>
                </a:endParaRPr>
              </a:p>
              <a:p>
                <a:pPr marL="457200" indent="-457200">
                  <a:buFont typeface="Wingdings" panose="05000000000000000000" pitchFamily="2" charset="2"/>
                  <a:buChar char="v"/>
                </a:pPr>
                <a:r>
                  <a:rPr lang="fr-FR" sz="2800" b="1" dirty="0">
                    <a:solidFill>
                      <a:srgbClr val="FF0000"/>
                    </a:solidFill>
                    <a:latin typeface="Comic Sans MS" panose="030F0702030302020204" pitchFamily="66" charset="0"/>
                    <a:ea typeface="MS PGothic" pitchFamily="34" charset="-128"/>
                  </a:rPr>
                  <a:t>Puissance de la liaison</a:t>
                </a:r>
              </a:p>
              <a:p>
                <a:endParaRPr lang="fr-FR" sz="2800" b="1" dirty="0">
                  <a:solidFill>
                    <a:srgbClr val="FF0000"/>
                  </a:solidFill>
                  <a:latin typeface="Comic Sans MS" panose="030F0702030302020204" pitchFamily="66" charset="0"/>
                  <a:ea typeface="MS PGothic" pitchFamily="34" charset="-128"/>
                </a:endParaRPr>
              </a:p>
              <a:p>
                <a:r>
                  <a:rPr lang="fr-FR" sz="2000" b="1" dirty="0">
                    <a:solidFill>
                      <a:srgbClr val="002060"/>
                    </a:solidFill>
                    <a:latin typeface="Comic Sans MS" panose="030F0702030302020204" pitchFamily="66" charset="0"/>
                    <a:ea typeface="MS PGothic" pitchFamily="34" charset="-128"/>
                  </a:rPr>
                  <a:t>Coefficient de Cramer (ou V de Cramer)</a:t>
                </a:r>
              </a:p>
              <a:p>
                <a:pPr/>
                <a14:m>
                  <m:oMathPara xmlns:m="http://schemas.openxmlformats.org/officeDocument/2006/math">
                    <m:oMathParaPr>
                      <m:jc m:val="centerGroup"/>
                    </m:oMathParaPr>
                    <m:oMath xmlns:m="http://schemas.openxmlformats.org/officeDocument/2006/math">
                      <m:r>
                        <a:rPr lang="fr-FR" sz="2400" b="1" i="1" smtClean="0">
                          <a:solidFill>
                            <a:srgbClr val="002060"/>
                          </a:solidFill>
                          <a:latin typeface="Cambria Math" panose="02040503050406030204" pitchFamily="18" charset="0"/>
                          <a:ea typeface="MS PGothic" pitchFamily="34" charset="-128"/>
                        </a:rPr>
                        <m:t>𝑽</m:t>
                      </m:r>
                      <m:r>
                        <a:rPr lang="fr-FR" sz="2400" b="1" i="1" smtClean="0">
                          <a:solidFill>
                            <a:srgbClr val="002060"/>
                          </a:solidFill>
                          <a:latin typeface="Cambria Math" panose="02040503050406030204" pitchFamily="18" charset="0"/>
                          <a:ea typeface="MS PGothic" pitchFamily="34" charset="-128"/>
                        </a:rPr>
                        <m:t>=</m:t>
                      </m:r>
                      <m:r>
                        <a:rPr lang="fr-FR" sz="2400" b="1" i="1" smtClean="0">
                          <a:solidFill>
                            <a:srgbClr val="002060"/>
                          </a:solidFill>
                          <a:latin typeface="Cambria Math" panose="02040503050406030204" pitchFamily="18" charset="0"/>
                          <a:ea typeface="MS PGothic" pitchFamily="34" charset="-128"/>
                        </a:rPr>
                        <m:t>𝑪</m:t>
                      </m:r>
                      <m:r>
                        <a:rPr lang="fr-FR" sz="2400" b="1" i="1" smtClean="0">
                          <a:solidFill>
                            <a:srgbClr val="002060"/>
                          </a:solidFill>
                          <a:latin typeface="Cambria Math" panose="02040503050406030204" pitchFamily="18" charset="0"/>
                          <a:ea typeface="MS PGothic" pitchFamily="34" charset="-128"/>
                        </a:rPr>
                        <m:t>=</m:t>
                      </m:r>
                      <m:rad>
                        <m:radPr>
                          <m:degHide m:val="on"/>
                          <m:ctrlPr>
                            <a:rPr lang="fr-FR" sz="2400" b="1" i="1" smtClean="0">
                              <a:solidFill>
                                <a:srgbClr val="002060"/>
                              </a:solidFill>
                              <a:latin typeface="Cambria Math" panose="02040503050406030204" pitchFamily="18" charset="0"/>
                              <a:ea typeface="MS PGothic" pitchFamily="34" charset="-128"/>
                            </a:rPr>
                          </m:ctrlPr>
                        </m:radPr>
                        <m:deg/>
                        <m:e>
                          <m:f>
                            <m:fPr>
                              <m:type m:val="skw"/>
                              <m:ctrlPr>
                                <a:rPr lang="fr-FR" sz="2400" b="1" i="1" smtClean="0">
                                  <a:solidFill>
                                    <a:srgbClr val="002060"/>
                                  </a:solidFill>
                                  <a:latin typeface="Cambria Math" panose="02040503050406030204" pitchFamily="18" charset="0"/>
                                  <a:ea typeface="Cambria Math" panose="02040503050406030204" pitchFamily="18" charset="0"/>
                                </a:rPr>
                              </m:ctrlPr>
                            </m:fPr>
                            <m:num>
                              <m:sSup>
                                <m:sSupPr>
                                  <m:ctrlPr>
                                    <a:rPr lang="fr-FR" sz="2400" b="1" i="1">
                                      <a:solidFill>
                                        <a:srgbClr val="002060"/>
                                      </a:solidFill>
                                      <a:latin typeface="Cambria Math" panose="02040503050406030204" pitchFamily="18" charset="0"/>
                                      <a:ea typeface="MS PGothic" pitchFamily="34" charset="-128"/>
                                    </a:rPr>
                                  </m:ctrlPr>
                                </m:sSupPr>
                                <m:e>
                                  <m:r>
                                    <a:rPr lang="fr-FR" sz="2400" b="1" i="1">
                                      <a:solidFill>
                                        <a:srgbClr val="002060"/>
                                      </a:solidFill>
                                      <a:latin typeface="Cambria Math" panose="02040503050406030204" pitchFamily="18" charset="0"/>
                                      <a:ea typeface="Cambria Math" panose="02040503050406030204" pitchFamily="18" charset="0"/>
                                    </a:rPr>
                                    <m:t>𝝌</m:t>
                                  </m:r>
                                </m:e>
                                <m:sup>
                                  <m:r>
                                    <a:rPr lang="fr-FR" sz="2400" b="1" i="1">
                                      <a:solidFill>
                                        <a:srgbClr val="002060"/>
                                      </a:solidFill>
                                      <a:latin typeface="Cambria Math" panose="02040503050406030204" pitchFamily="18" charset="0"/>
                                      <a:ea typeface="MS PGothic" pitchFamily="34" charset="-128"/>
                                    </a:rPr>
                                    <m:t>𝟐</m:t>
                                  </m:r>
                                </m:sup>
                              </m:sSup>
                            </m:num>
                            <m:den>
                              <m:sSub>
                                <m:sSubPr>
                                  <m:ctrlPr>
                                    <a:rPr lang="fr-FR" sz="2400" b="1" i="1">
                                      <a:solidFill>
                                        <a:srgbClr val="002060"/>
                                      </a:solidFill>
                                      <a:latin typeface="Cambria Math" panose="02040503050406030204" pitchFamily="18" charset="0"/>
                                      <a:ea typeface="MS PGothic" pitchFamily="34" charset="-128"/>
                                    </a:rPr>
                                  </m:ctrlPr>
                                </m:sSubPr>
                                <m:e>
                                  <m:sSup>
                                    <m:sSupPr>
                                      <m:ctrlPr>
                                        <a:rPr lang="fr-FR" sz="2400" b="1" i="1">
                                          <a:solidFill>
                                            <a:srgbClr val="002060"/>
                                          </a:solidFill>
                                          <a:latin typeface="Cambria Math" panose="02040503050406030204" pitchFamily="18" charset="0"/>
                                          <a:ea typeface="MS PGothic" pitchFamily="34" charset="-128"/>
                                        </a:rPr>
                                      </m:ctrlPr>
                                    </m:sSupPr>
                                    <m:e>
                                      <m:r>
                                        <a:rPr lang="fr-FR" sz="2400" b="1" i="1">
                                          <a:solidFill>
                                            <a:srgbClr val="002060"/>
                                          </a:solidFill>
                                          <a:latin typeface="Cambria Math" panose="02040503050406030204" pitchFamily="18" charset="0"/>
                                          <a:ea typeface="Cambria Math" panose="02040503050406030204" pitchFamily="18" charset="0"/>
                                        </a:rPr>
                                        <m:t>𝝌</m:t>
                                      </m:r>
                                    </m:e>
                                    <m:sup>
                                      <m:r>
                                        <a:rPr lang="fr-FR" sz="2400" b="1" i="1">
                                          <a:solidFill>
                                            <a:srgbClr val="002060"/>
                                          </a:solidFill>
                                          <a:latin typeface="Cambria Math" panose="02040503050406030204" pitchFamily="18" charset="0"/>
                                          <a:ea typeface="MS PGothic" pitchFamily="34" charset="-128"/>
                                        </a:rPr>
                                        <m:t>𝟐</m:t>
                                      </m:r>
                                    </m:sup>
                                  </m:sSup>
                                </m:e>
                                <m:sub>
                                  <m:r>
                                    <a:rPr lang="fr-FR" sz="2400" b="1" i="1">
                                      <a:solidFill>
                                        <a:srgbClr val="002060"/>
                                      </a:solidFill>
                                      <a:latin typeface="Cambria Math" panose="02040503050406030204" pitchFamily="18" charset="0"/>
                                      <a:ea typeface="MS PGothic" pitchFamily="34" charset="-128"/>
                                    </a:rPr>
                                    <m:t>𝒎𝒂𝒙</m:t>
                                  </m:r>
                                </m:sub>
                              </m:sSub>
                            </m:den>
                          </m:f>
                        </m:e>
                      </m:rad>
                    </m:oMath>
                  </m:oMathPara>
                </a14:m>
                <a:endParaRPr lang="fr-FR" sz="2400" b="1" dirty="0">
                  <a:solidFill>
                    <a:srgbClr val="002060"/>
                  </a:solidFill>
                  <a:latin typeface="Comic Sans MS" panose="030F0702030302020204" pitchFamily="66" charset="0"/>
                  <a:ea typeface="MS PGothic" pitchFamily="34" charset="-128"/>
                </a:endParaRPr>
              </a:p>
              <a:p>
                <a:endParaRPr lang="fr-FR" sz="2400" b="1" dirty="0">
                  <a:solidFill>
                    <a:srgbClr val="002060"/>
                  </a:solidFill>
                  <a:latin typeface="Comic Sans MS" panose="030F0702030302020204" pitchFamily="66" charset="0"/>
                  <a:ea typeface="MS PGothic" pitchFamily="34" charset="-128"/>
                </a:endParaRPr>
              </a:p>
              <a:p>
                <a:endParaRPr lang="fr-FR" sz="2400" b="1" dirty="0">
                  <a:solidFill>
                    <a:srgbClr val="002060"/>
                  </a:solidFill>
                  <a:latin typeface="Comic Sans MS" panose="030F0702030302020204" pitchFamily="66" charset="0"/>
                  <a:ea typeface="MS PGothic" pitchFamily="34" charset="-128"/>
                </a:endParaRPr>
              </a:p>
              <a:p>
                <a:endParaRPr lang="fr-FR" sz="2000" b="1" dirty="0">
                  <a:solidFill>
                    <a:srgbClr val="C00000"/>
                  </a:solidFill>
                  <a:latin typeface="Comic Sans MS" panose="030F0702030302020204" pitchFamily="66" charset="0"/>
                  <a:ea typeface="MS PGothic" pitchFamily="34" charset="-128"/>
                </a:endParaRPr>
              </a:p>
              <a:p>
                <a:pPr>
                  <a:defRPr/>
                </a:pPr>
                <a:endParaRPr lang="fr-FR" sz="2000" b="1" dirty="0">
                  <a:solidFill>
                    <a:srgbClr val="C00000"/>
                  </a:solidFill>
                  <a:latin typeface="Comic Sans MS" panose="030F0702030302020204" pitchFamily="66" charset="0"/>
                  <a:ea typeface="MS PGothic" pitchFamily="34" charset="-128"/>
                </a:endParaRPr>
              </a:p>
            </p:txBody>
          </p:sp>
        </mc:Choice>
        <mc:Fallback xmlns="">
          <p:sp>
            <p:nvSpPr>
              <p:cNvPr id="4" name="Rectangle 3"/>
              <p:cNvSpPr>
                <a:spLocks noRot="1" noChangeAspect="1" noMove="1" noResize="1" noEditPoints="1" noAdjustHandles="1" noChangeArrowheads="1" noChangeShapeType="1" noTextEdit="1"/>
              </p:cNvSpPr>
              <p:nvPr/>
            </p:nvSpPr>
            <p:spPr>
              <a:xfrm>
                <a:off x="342900" y="1062205"/>
                <a:ext cx="8801100" cy="4322850"/>
              </a:xfrm>
              <a:prstGeom prst="rect">
                <a:avLst/>
              </a:prstGeom>
              <a:blipFill>
                <a:blip r:embed="rId2"/>
                <a:stretch>
                  <a:fillRect l="-1177" t="-1128"/>
                </a:stretch>
              </a:blipFill>
            </p:spPr>
            <p:txBody>
              <a:bodyPr/>
              <a:lstStyle/>
              <a:p>
                <a:r>
                  <a:rPr lang="fr-FR">
                    <a:noFill/>
                  </a:rPr>
                  <a:t> </a:t>
                </a:r>
              </a:p>
            </p:txBody>
          </p:sp>
        </mc:Fallback>
      </mc:AlternateContent>
      <p:grpSp>
        <p:nvGrpSpPr>
          <p:cNvPr id="4098" name="Group 74933"/>
          <p:cNvGrpSpPr>
            <a:grpSpLocks/>
          </p:cNvGrpSpPr>
          <p:nvPr/>
        </p:nvGrpSpPr>
        <p:grpSpPr bwMode="auto">
          <a:xfrm>
            <a:off x="-42863" y="-1588"/>
            <a:ext cx="517526" cy="320676"/>
            <a:chOff x="0" y="0"/>
            <a:chExt cx="518160" cy="321564"/>
          </a:xfrm>
        </p:grpSpPr>
      </p:grpSp>
      <p:graphicFrame>
        <p:nvGraphicFramePr>
          <p:cNvPr id="2" name="Tableau 1"/>
          <p:cNvGraphicFramePr>
            <a:graphicFrameLocks noGrp="1"/>
          </p:cNvGraphicFramePr>
          <p:nvPr>
            <p:extLst>
              <p:ext uri="{D42A27DB-BD31-4B8C-83A1-F6EECF244321}">
                <p14:modId xmlns:p14="http://schemas.microsoft.com/office/powerpoint/2010/main" val="4019984033"/>
              </p:ext>
            </p:extLst>
          </p:nvPr>
        </p:nvGraphicFramePr>
        <p:xfrm>
          <a:off x="245853" y="4323082"/>
          <a:ext cx="8652293" cy="1097280"/>
        </p:xfrm>
        <a:graphic>
          <a:graphicData uri="http://schemas.openxmlformats.org/drawingml/2006/table">
            <a:tbl>
              <a:tblPr firstRow="1" bandRow="1">
                <a:tableStyleId>{0660B408-B3CF-4A94-85FC-2B1E0A45F4A2}</a:tableStyleId>
              </a:tblPr>
              <a:tblGrid>
                <a:gridCol w="1017915">
                  <a:extLst>
                    <a:ext uri="{9D8B030D-6E8A-4147-A177-3AD203B41FA5}">
                      <a16:colId xmlns:a16="http://schemas.microsoft.com/office/drawing/2014/main" val="20000"/>
                    </a:ext>
                  </a:extLst>
                </a:gridCol>
                <a:gridCol w="819510">
                  <a:extLst>
                    <a:ext uri="{9D8B030D-6E8A-4147-A177-3AD203B41FA5}">
                      <a16:colId xmlns:a16="http://schemas.microsoft.com/office/drawing/2014/main" val="20001"/>
                    </a:ext>
                  </a:extLst>
                </a:gridCol>
                <a:gridCol w="1268083">
                  <a:extLst>
                    <a:ext uri="{9D8B030D-6E8A-4147-A177-3AD203B41FA5}">
                      <a16:colId xmlns:a16="http://schemas.microsoft.com/office/drawing/2014/main" val="20002"/>
                    </a:ext>
                  </a:extLst>
                </a:gridCol>
                <a:gridCol w="1587260">
                  <a:extLst>
                    <a:ext uri="{9D8B030D-6E8A-4147-A177-3AD203B41FA5}">
                      <a16:colId xmlns:a16="http://schemas.microsoft.com/office/drawing/2014/main" val="20003"/>
                    </a:ext>
                  </a:extLst>
                </a:gridCol>
                <a:gridCol w="1492370">
                  <a:extLst>
                    <a:ext uri="{9D8B030D-6E8A-4147-A177-3AD203B41FA5}">
                      <a16:colId xmlns:a16="http://schemas.microsoft.com/office/drawing/2014/main" val="20004"/>
                    </a:ext>
                  </a:extLst>
                </a:gridCol>
                <a:gridCol w="1250830">
                  <a:extLst>
                    <a:ext uri="{9D8B030D-6E8A-4147-A177-3AD203B41FA5}">
                      <a16:colId xmlns:a16="http://schemas.microsoft.com/office/drawing/2014/main" val="20005"/>
                    </a:ext>
                  </a:extLst>
                </a:gridCol>
                <a:gridCol w="1216325">
                  <a:extLst>
                    <a:ext uri="{9D8B030D-6E8A-4147-A177-3AD203B41FA5}">
                      <a16:colId xmlns:a16="http://schemas.microsoft.com/office/drawing/2014/main" val="20006"/>
                    </a:ext>
                  </a:extLst>
                </a:gridCol>
              </a:tblGrid>
              <a:tr h="370840">
                <a:tc>
                  <a:txBody>
                    <a:bodyPr/>
                    <a:lstStyle/>
                    <a:p>
                      <a:pPr algn="ctr"/>
                      <a:r>
                        <a:rPr lang="fr-FR" sz="2000" dirty="0">
                          <a:solidFill>
                            <a:schemeClr val="bg1"/>
                          </a:solidFill>
                        </a:rPr>
                        <a:t>C</a:t>
                      </a:r>
                      <a:endParaRPr lang="fr-FR" sz="2000" dirty="0">
                        <a:solidFill>
                          <a:schemeClr val="bg1"/>
                        </a:solidFill>
                        <a:latin typeface="Comic Sans MS" panose="030F0702030302020204" pitchFamily="66" charset="0"/>
                      </a:endParaRPr>
                    </a:p>
                  </a:txBody>
                  <a:tcPr/>
                </a:tc>
                <a:tc>
                  <a:txBody>
                    <a:bodyPr/>
                    <a:lstStyle/>
                    <a:p>
                      <a:pPr algn="ctr"/>
                      <a:r>
                        <a:rPr lang="fr-FR" sz="2000" dirty="0">
                          <a:solidFill>
                            <a:schemeClr val="bg1"/>
                          </a:solidFill>
                        </a:rPr>
                        <a:t>0</a:t>
                      </a:r>
                      <a:endParaRPr lang="fr-FR" sz="2000" dirty="0">
                        <a:solidFill>
                          <a:schemeClr val="bg1"/>
                        </a:solidFill>
                        <a:latin typeface="Comic Sans MS" panose="030F0702030302020204" pitchFamily="66" charset="0"/>
                      </a:endParaRPr>
                    </a:p>
                  </a:txBody>
                  <a:tcPr/>
                </a:tc>
                <a:tc>
                  <a:txBody>
                    <a:bodyPr/>
                    <a:lstStyle/>
                    <a:p>
                      <a:pPr algn="ctr"/>
                      <a:r>
                        <a:rPr lang="fr-FR" sz="2000" dirty="0">
                          <a:solidFill>
                            <a:schemeClr val="bg1"/>
                          </a:solidFill>
                        </a:rPr>
                        <a:t>]0, 0,2]</a:t>
                      </a:r>
                      <a:endParaRPr lang="fr-FR" sz="2000" dirty="0">
                        <a:solidFill>
                          <a:schemeClr val="bg1"/>
                        </a:solidFill>
                        <a:latin typeface="Comic Sans MS" panose="030F0702030302020204" pitchFamily="66"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2000" dirty="0">
                          <a:solidFill>
                            <a:schemeClr val="bg1"/>
                          </a:solidFill>
                        </a:rPr>
                        <a:t>]0,2, 0,4]</a:t>
                      </a:r>
                      <a:endParaRPr lang="fr-FR" sz="2000" dirty="0">
                        <a:solidFill>
                          <a:schemeClr val="bg1"/>
                        </a:solidFill>
                        <a:latin typeface="Comic Sans MS" panose="030F0702030302020204" pitchFamily="66"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2000" dirty="0">
                          <a:solidFill>
                            <a:schemeClr val="bg1"/>
                          </a:solidFill>
                        </a:rPr>
                        <a:t>]0,4, 0,7]</a:t>
                      </a:r>
                    </a:p>
                    <a:p>
                      <a:pPr algn="ctr"/>
                      <a:endParaRPr lang="fr-FR" sz="2000" dirty="0">
                        <a:solidFill>
                          <a:schemeClr val="bg1"/>
                        </a:solidFill>
                        <a:latin typeface="Comic Sans MS" panose="030F0702030302020204" pitchFamily="66"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2000" dirty="0">
                          <a:solidFill>
                            <a:schemeClr val="bg1"/>
                          </a:solidFill>
                        </a:rPr>
                        <a:t>]0,7, 1]</a:t>
                      </a:r>
                    </a:p>
                    <a:p>
                      <a:pPr algn="ctr"/>
                      <a:endParaRPr lang="fr-FR" sz="2000" dirty="0">
                        <a:solidFill>
                          <a:schemeClr val="bg1"/>
                        </a:solidFill>
                        <a:latin typeface="Comic Sans MS" panose="030F0702030302020204" pitchFamily="66" charset="0"/>
                      </a:endParaRPr>
                    </a:p>
                  </a:txBody>
                  <a:tcPr/>
                </a:tc>
                <a:tc>
                  <a:txBody>
                    <a:bodyPr/>
                    <a:lstStyle/>
                    <a:p>
                      <a:pPr algn="ctr"/>
                      <a:r>
                        <a:rPr lang="fr-FR" sz="2000" dirty="0">
                          <a:solidFill>
                            <a:schemeClr val="bg1"/>
                          </a:solidFill>
                        </a:rPr>
                        <a:t>1</a:t>
                      </a:r>
                      <a:endParaRPr lang="fr-FR" sz="2000" dirty="0">
                        <a:solidFill>
                          <a:schemeClr val="bg1"/>
                        </a:solidFill>
                        <a:latin typeface="Comic Sans MS" panose="030F0702030302020204" pitchFamily="66" charset="0"/>
                      </a:endParaRPr>
                    </a:p>
                  </a:txBody>
                  <a:tcPr/>
                </a:tc>
                <a:extLst>
                  <a:ext uri="{0D108BD9-81ED-4DB2-BD59-A6C34878D82A}">
                    <a16:rowId xmlns:a16="http://schemas.microsoft.com/office/drawing/2014/main" val="10000"/>
                  </a:ext>
                </a:extLst>
              </a:tr>
              <a:tr h="370840">
                <a:tc>
                  <a:txBody>
                    <a:bodyPr/>
                    <a:lstStyle/>
                    <a:p>
                      <a:pPr algn="ctr"/>
                      <a:r>
                        <a:rPr lang="fr-FR" sz="2000" dirty="0">
                          <a:solidFill>
                            <a:srgbClr val="002060"/>
                          </a:solidFill>
                        </a:rPr>
                        <a:t>Liaison</a:t>
                      </a:r>
                      <a:endParaRPr lang="fr-FR" sz="2000" dirty="0">
                        <a:solidFill>
                          <a:srgbClr val="002060"/>
                        </a:solidFill>
                        <a:latin typeface="Comic Sans MS" panose="030F0702030302020204" pitchFamily="66" charset="0"/>
                      </a:endParaRPr>
                    </a:p>
                  </a:txBody>
                  <a:tcPr/>
                </a:tc>
                <a:tc>
                  <a:txBody>
                    <a:bodyPr/>
                    <a:lstStyle/>
                    <a:p>
                      <a:pPr algn="ctr"/>
                      <a:r>
                        <a:rPr lang="fr-FR" sz="2000" dirty="0">
                          <a:solidFill>
                            <a:srgbClr val="002060"/>
                          </a:solidFill>
                        </a:rPr>
                        <a:t>Nulle</a:t>
                      </a:r>
                      <a:endParaRPr lang="fr-FR" sz="2000" dirty="0">
                        <a:solidFill>
                          <a:srgbClr val="002060"/>
                        </a:solidFill>
                        <a:latin typeface="Comic Sans MS" panose="030F0702030302020204" pitchFamily="66" charset="0"/>
                      </a:endParaRPr>
                    </a:p>
                  </a:txBody>
                  <a:tcPr/>
                </a:tc>
                <a:tc>
                  <a:txBody>
                    <a:bodyPr/>
                    <a:lstStyle/>
                    <a:p>
                      <a:pPr algn="ctr"/>
                      <a:r>
                        <a:rPr lang="fr-FR" sz="2000" dirty="0">
                          <a:solidFill>
                            <a:srgbClr val="002060"/>
                          </a:solidFill>
                        </a:rPr>
                        <a:t>Faible</a:t>
                      </a:r>
                      <a:endParaRPr lang="fr-FR" sz="2000" dirty="0">
                        <a:solidFill>
                          <a:srgbClr val="002060"/>
                        </a:solidFill>
                        <a:latin typeface="Comic Sans MS" panose="030F0702030302020204" pitchFamily="66" charset="0"/>
                      </a:endParaRPr>
                    </a:p>
                  </a:txBody>
                  <a:tcPr/>
                </a:tc>
                <a:tc>
                  <a:txBody>
                    <a:bodyPr/>
                    <a:lstStyle/>
                    <a:p>
                      <a:pPr algn="ctr"/>
                      <a:r>
                        <a:rPr lang="fr-FR" sz="2000" dirty="0">
                          <a:solidFill>
                            <a:srgbClr val="002060"/>
                          </a:solidFill>
                        </a:rPr>
                        <a:t>Moyenne</a:t>
                      </a:r>
                      <a:endParaRPr lang="fr-FR" sz="2000" dirty="0">
                        <a:solidFill>
                          <a:srgbClr val="002060"/>
                        </a:solidFill>
                        <a:latin typeface="Comic Sans MS" panose="030F0702030302020204" pitchFamily="66" charset="0"/>
                      </a:endParaRPr>
                    </a:p>
                  </a:txBody>
                  <a:tcPr/>
                </a:tc>
                <a:tc>
                  <a:txBody>
                    <a:bodyPr/>
                    <a:lstStyle/>
                    <a:p>
                      <a:pPr algn="ctr"/>
                      <a:r>
                        <a:rPr lang="fr-FR" sz="2000" dirty="0">
                          <a:solidFill>
                            <a:srgbClr val="002060"/>
                          </a:solidFill>
                        </a:rPr>
                        <a:t>Forte</a:t>
                      </a:r>
                      <a:endParaRPr lang="fr-FR" sz="2000" dirty="0">
                        <a:solidFill>
                          <a:srgbClr val="002060"/>
                        </a:solidFill>
                        <a:latin typeface="Comic Sans MS" panose="030F0702030302020204" pitchFamily="66" charset="0"/>
                      </a:endParaRPr>
                    </a:p>
                  </a:txBody>
                  <a:tcPr/>
                </a:tc>
                <a:tc>
                  <a:txBody>
                    <a:bodyPr/>
                    <a:lstStyle/>
                    <a:p>
                      <a:pPr algn="ctr"/>
                      <a:r>
                        <a:rPr lang="fr-FR" sz="2000" dirty="0">
                          <a:solidFill>
                            <a:srgbClr val="002060"/>
                          </a:solidFill>
                        </a:rPr>
                        <a:t>Très forte</a:t>
                      </a:r>
                      <a:endParaRPr lang="fr-FR" sz="2000" dirty="0">
                        <a:solidFill>
                          <a:srgbClr val="002060"/>
                        </a:solidFill>
                        <a:latin typeface="Comic Sans MS" panose="030F0702030302020204" pitchFamily="66" charset="0"/>
                      </a:endParaRPr>
                    </a:p>
                  </a:txBody>
                  <a:tcPr/>
                </a:tc>
                <a:tc>
                  <a:txBody>
                    <a:bodyPr/>
                    <a:lstStyle/>
                    <a:p>
                      <a:pPr algn="ctr"/>
                      <a:r>
                        <a:rPr lang="fr-FR" sz="2000" dirty="0">
                          <a:solidFill>
                            <a:srgbClr val="002060"/>
                          </a:solidFill>
                        </a:rPr>
                        <a:t>Parfaite</a:t>
                      </a:r>
                      <a:endParaRPr lang="fr-FR" sz="2000" dirty="0">
                        <a:solidFill>
                          <a:srgbClr val="002060"/>
                        </a:solidFill>
                        <a:latin typeface="Comic Sans MS" panose="030F0702030302020204" pitchFamily="66" charset="0"/>
                      </a:endParaRPr>
                    </a:p>
                  </a:txBody>
                  <a:tcPr/>
                </a:tc>
                <a:extLst>
                  <a:ext uri="{0D108BD9-81ED-4DB2-BD59-A6C34878D82A}">
                    <a16:rowId xmlns:a16="http://schemas.microsoft.com/office/drawing/2014/main" val="10001"/>
                  </a:ext>
                </a:extLst>
              </a:tr>
            </a:tbl>
          </a:graphicData>
        </a:graphic>
      </p:graphicFrame>
      <p:sp>
        <p:nvSpPr>
          <p:cNvPr id="8" name="Title 1">
            <a:extLst>
              <a:ext uri="{FF2B5EF4-FFF2-40B4-BE49-F238E27FC236}">
                <a16:creationId xmlns:a16="http://schemas.microsoft.com/office/drawing/2014/main" id="{EE731959-5215-4D1B-939D-31495F6E0D29}"/>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3149413875"/>
      </p:ext>
    </p:ext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1450" y="1759860"/>
            <a:ext cx="8801100" cy="4893647"/>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endParaRPr lang="fr-FR" sz="2000" b="1" dirty="0">
              <a:solidFill>
                <a:srgbClr val="FF0000"/>
              </a:solidFill>
              <a:latin typeface="Comic Sans MS" panose="030F0702030302020204" pitchFamily="66" charset="0"/>
              <a:ea typeface="MS PGothic" pitchFamily="34" charset="-128"/>
            </a:endParaRPr>
          </a:p>
          <a:p>
            <a:pPr marL="285750" indent="-285750">
              <a:buFont typeface="Wingdings" panose="05000000000000000000" pitchFamily="2" charset="2"/>
              <a:buChar char="v"/>
            </a:pPr>
            <a:r>
              <a:rPr lang="fr-FR" sz="2000" b="1" dirty="0">
                <a:solidFill>
                  <a:srgbClr val="C00000"/>
                </a:solidFill>
                <a:latin typeface="Comic Sans MS" panose="030F0702030302020204" pitchFamily="66" charset="0"/>
              </a:rPr>
              <a:t>Mise en œuvre du test du Khi-deux sous SPSS</a:t>
            </a:r>
          </a:p>
          <a:p>
            <a:endParaRPr lang="fr-FR" sz="2000" b="1" dirty="0">
              <a:solidFill>
                <a:srgbClr val="C00000"/>
              </a:solidFill>
              <a:latin typeface="Comic Sans MS" panose="030F0702030302020204" pitchFamily="66" charset="0"/>
            </a:endParaRPr>
          </a:p>
          <a:p>
            <a:pPr algn="just"/>
            <a:r>
              <a:rPr lang="fr-FR" sz="2800" b="1" dirty="0">
                <a:solidFill>
                  <a:srgbClr val="0070C0"/>
                </a:solidFill>
                <a:latin typeface="Comic Sans MS" panose="030F0702030302020204" pitchFamily="66" charset="0"/>
              </a:rPr>
              <a:t>Il suffit juste de cocher l’option lors de l’élaboration du tableau croisé entre les deux variables</a:t>
            </a: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p:txBody>
      </p:sp>
      <p:grpSp>
        <p:nvGrpSpPr>
          <p:cNvPr id="4098" name="Group 74933"/>
          <p:cNvGrpSpPr>
            <a:grpSpLocks/>
          </p:cNvGrpSpPr>
          <p:nvPr/>
        </p:nvGrpSpPr>
        <p:grpSpPr bwMode="auto">
          <a:xfrm>
            <a:off x="-42863" y="-1588"/>
            <a:ext cx="517526" cy="320676"/>
            <a:chOff x="0" y="0"/>
            <a:chExt cx="518160" cy="321564"/>
          </a:xfrm>
        </p:grpSpPr>
      </p:grpSp>
      <p:sp>
        <p:nvSpPr>
          <p:cNvPr id="7" name="Title 1">
            <a:extLst>
              <a:ext uri="{FF2B5EF4-FFF2-40B4-BE49-F238E27FC236}">
                <a16:creationId xmlns:a16="http://schemas.microsoft.com/office/drawing/2014/main" id="{4CCE91CB-575D-4372-8857-1206A31CBAAB}"/>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4053674594"/>
      </p:ext>
    </p:extLst>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1450" y="1759860"/>
            <a:ext cx="8801100" cy="5816977"/>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endParaRPr lang="fr-FR" sz="2000" b="1" dirty="0">
              <a:solidFill>
                <a:srgbClr val="FF0000"/>
              </a:solidFill>
              <a:latin typeface="Comic Sans MS" panose="030F0702030302020204" pitchFamily="66" charset="0"/>
              <a:ea typeface="MS PGothic" pitchFamily="34" charset="-128"/>
            </a:endParaRPr>
          </a:p>
          <a:p>
            <a:pPr marL="571500" indent="-571500" algn="ctr">
              <a:buFont typeface="Wingdings" panose="05000000000000000000" pitchFamily="2" charset="2"/>
              <a:buChar char="ü"/>
              <a:defRPr/>
            </a:pPr>
            <a:r>
              <a:rPr lang="fr-FR" sz="2800" b="1" dirty="0">
                <a:solidFill>
                  <a:srgbClr val="0070C0"/>
                </a:solidFill>
                <a:latin typeface="Comic Sans MS" panose="030F0702030302020204" pitchFamily="66" charset="0"/>
              </a:rPr>
              <a:t>Test ANOVA pour une variable qualitative et une variable quantitative</a:t>
            </a:r>
          </a:p>
          <a:p>
            <a:pPr algn="ctr">
              <a:defRPr/>
            </a:pPr>
            <a:endParaRPr lang="fr-FR" sz="2800" b="1" dirty="0">
              <a:solidFill>
                <a:srgbClr val="0070C0"/>
              </a:solidFill>
              <a:latin typeface="Comic Sans MS" panose="030F0702030302020204" pitchFamily="66" charset="0"/>
            </a:endParaRPr>
          </a:p>
          <a:p>
            <a:pPr algn="just"/>
            <a:r>
              <a:rPr lang="fr-FR" sz="2800" b="1" dirty="0">
                <a:latin typeface="Comic Sans MS" panose="030F0702030302020204" pitchFamily="66" charset="0"/>
                <a:ea typeface="MS PGothic" pitchFamily="34" charset="-128"/>
              </a:rPr>
              <a:t>L’analyse de la variance en abrégée ANOVA (Analysis of variance) est la méthode permettant de mesurer la corrélation entre une variable qualitative et une variable quantitative. </a:t>
            </a:r>
          </a:p>
          <a:p>
            <a:endParaRPr lang="fr-FR" sz="2000" b="1" dirty="0">
              <a:solidFill>
                <a:srgbClr val="00206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p:txBody>
      </p:sp>
      <p:grpSp>
        <p:nvGrpSpPr>
          <p:cNvPr id="4098" name="Group 74933"/>
          <p:cNvGrpSpPr>
            <a:grpSpLocks/>
          </p:cNvGrpSpPr>
          <p:nvPr/>
        </p:nvGrpSpPr>
        <p:grpSpPr bwMode="auto">
          <a:xfrm>
            <a:off x="-42863" y="-1588"/>
            <a:ext cx="517526" cy="320676"/>
            <a:chOff x="0" y="0"/>
            <a:chExt cx="518160" cy="321564"/>
          </a:xfrm>
        </p:grpSpPr>
      </p:grpSp>
      <p:sp>
        <p:nvSpPr>
          <p:cNvPr id="7" name="Title 1">
            <a:extLst>
              <a:ext uri="{FF2B5EF4-FFF2-40B4-BE49-F238E27FC236}">
                <a16:creationId xmlns:a16="http://schemas.microsoft.com/office/drawing/2014/main" id="{7C60B35D-681B-48C4-B0D1-64346BC18035}"/>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567820801"/>
      </p:ext>
    </p:extLst>
  </p:cSld>
  <p:clrMapOvr>
    <a:masterClrMapping/>
  </p:clrMapOvr>
  <p:transition spd="slow">
    <p:push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1520" y="1268760"/>
            <a:ext cx="8801100" cy="5878532"/>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endParaRPr lang="fr-FR" sz="2000" b="1" dirty="0">
              <a:solidFill>
                <a:srgbClr val="FF0000"/>
              </a:solidFill>
              <a:latin typeface="Comic Sans MS" panose="030F0702030302020204" pitchFamily="66" charset="0"/>
              <a:ea typeface="MS PGothic" pitchFamily="34" charset="-128"/>
            </a:endParaRPr>
          </a:p>
          <a:p>
            <a:pPr marL="457200" indent="-457200">
              <a:buFont typeface="Wingdings" panose="05000000000000000000" pitchFamily="2" charset="2"/>
              <a:buChar char="v"/>
            </a:pPr>
            <a:r>
              <a:rPr lang="fr-FR" sz="2800" b="1" dirty="0">
                <a:solidFill>
                  <a:srgbClr val="0070C0"/>
                </a:solidFill>
                <a:latin typeface="Comic Sans MS" panose="030F0702030302020204" pitchFamily="66" charset="0"/>
              </a:rPr>
              <a:t>Rappel de la théorie de l’ANOVA </a:t>
            </a:r>
          </a:p>
          <a:p>
            <a:pPr algn="just"/>
            <a:r>
              <a:rPr lang="fr-FR" sz="2800" b="1" dirty="0">
                <a:latin typeface="Comic Sans MS" panose="030F0702030302020204" pitchFamily="66" charset="0"/>
                <a:ea typeface="MS PGothic" pitchFamily="34" charset="-128"/>
              </a:rPr>
              <a:t>Les tests d'Analyse de Variance peuvent être considérés : </a:t>
            </a:r>
          </a:p>
          <a:p>
            <a:pPr marL="457200" lvl="0" indent="-457200" algn="just" fontAlgn="base">
              <a:buFont typeface="Wingdings" panose="05000000000000000000" pitchFamily="2" charset="2"/>
              <a:buChar char="ü"/>
            </a:pPr>
            <a:r>
              <a:rPr lang="fr-FR" sz="2800" b="1" dirty="0">
                <a:latin typeface="Comic Sans MS" panose="030F0702030302020204" pitchFamily="66" charset="0"/>
                <a:ea typeface="MS PGothic" pitchFamily="34" charset="-128"/>
              </a:rPr>
              <a:t>soit comme un ensemble de méthodes de tests de comparaison des moyennes de plusieurs échantillons </a:t>
            </a:r>
          </a:p>
          <a:p>
            <a:pPr marL="457200" lvl="0" indent="-457200" algn="just" fontAlgn="base">
              <a:buFont typeface="Wingdings" panose="05000000000000000000" pitchFamily="2" charset="2"/>
              <a:buChar char="ü"/>
            </a:pPr>
            <a:r>
              <a:rPr lang="fr-FR" sz="2800" b="1" dirty="0">
                <a:latin typeface="Comic Sans MS" panose="030F0702030302020204" pitchFamily="66" charset="0"/>
                <a:ea typeface="MS PGothic" pitchFamily="34" charset="-128"/>
              </a:rPr>
              <a:t>soit comme l'application d'un modèle linéaire à k variables explicatives pour expliquer une variable quantitative. </a:t>
            </a: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p:txBody>
      </p:sp>
      <p:grpSp>
        <p:nvGrpSpPr>
          <p:cNvPr id="4098" name="Group 74933"/>
          <p:cNvGrpSpPr>
            <a:grpSpLocks/>
          </p:cNvGrpSpPr>
          <p:nvPr/>
        </p:nvGrpSpPr>
        <p:grpSpPr bwMode="auto">
          <a:xfrm>
            <a:off x="-42863" y="-1588"/>
            <a:ext cx="517526" cy="320676"/>
            <a:chOff x="0" y="0"/>
            <a:chExt cx="518160" cy="321564"/>
          </a:xfrm>
        </p:grpSpPr>
      </p:grpSp>
      <p:sp>
        <p:nvSpPr>
          <p:cNvPr id="7" name="Title 1">
            <a:extLst>
              <a:ext uri="{FF2B5EF4-FFF2-40B4-BE49-F238E27FC236}">
                <a16:creationId xmlns:a16="http://schemas.microsoft.com/office/drawing/2014/main" id="{911B11AA-A1CB-4BD3-86A3-EF32D6781613}"/>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327800395"/>
      </p:ext>
    </p:extLst>
  </p:cSld>
  <p:clrMapOvr>
    <a:masterClrMapping/>
  </p:clrMapOvr>
  <p:transition spd="slow">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1450" y="1268760"/>
            <a:ext cx="8801100" cy="5816977"/>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endParaRPr lang="fr-FR" sz="2000" b="1" dirty="0">
              <a:solidFill>
                <a:srgbClr val="FF0000"/>
              </a:solidFill>
              <a:latin typeface="Comic Sans MS" panose="030F0702030302020204" pitchFamily="66" charset="0"/>
              <a:ea typeface="MS PGothic" pitchFamily="34" charset="-128"/>
            </a:endParaRPr>
          </a:p>
          <a:p>
            <a:pPr marL="457200" indent="-457200">
              <a:buFont typeface="Wingdings" panose="05000000000000000000" pitchFamily="2" charset="2"/>
              <a:buChar char="v"/>
            </a:pPr>
            <a:r>
              <a:rPr lang="fr-FR" sz="2800" b="1" dirty="0">
                <a:solidFill>
                  <a:srgbClr val="0070C0"/>
                </a:solidFill>
                <a:latin typeface="Comic Sans MS" panose="030F0702030302020204" pitchFamily="66" charset="0"/>
              </a:rPr>
              <a:t>Rappel de la théorie de l’ANOVA </a:t>
            </a:r>
          </a:p>
          <a:p>
            <a:endParaRPr lang="fr-FR" sz="2800" b="1" i="1" dirty="0"/>
          </a:p>
          <a:p>
            <a:pPr algn="just"/>
            <a:r>
              <a:rPr lang="fr-FR" sz="2800" b="1" dirty="0">
                <a:latin typeface="Comic Sans MS" panose="030F0702030302020204" pitchFamily="66" charset="0"/>
                <a:ea typeface="MS PGothic" pitchFamily="34" charset="-128"/>
              </a:rPr>
              <a:t>Le but est  d’étudier la dépendance entre  une variable quantitative et une ou plusieurs variable(s) qualitative(s). Le principe consiste à vérifier s’il existe une différence significative entre les moyennes des différents groupes. </a:t>
            </a:r>
          </a:p>
          <a:p>
            <a:endParaRPr lang="fr-FR" sz="2000" b="1" dirty="0">
              <a:solidFill>
                <a:srgbClr val="00206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p:txBody>
      </p:sp>
      <p:grpSp>
        <p:nvGrpSpPr>
          <p:cNvPr id="4098" name="Group 74933"/>
          <p:cNvGrpSpPr>
            <a:grpSpLocks/>
          </p:cNvGrpSpPr>
          <p:nvPr/>
        </p:nvGrpSpPr>
        <p:grpSpPr bwMode="auto">
          <a:xfrm>
            <a:off x="-42863" y="-1588"/>
            <a:ext cx="517526" cy="320676"/>
            <a:chOff x="0" y="0"/>
            <a:chExt cx="518160" cy="321564"/>
          </a:xfrm>
        </p:grpSpPr>
      </p:grpSp>
      <p:sp>
        <p:nvSpPr>
          <p:cNvPr id="7" name="Title 1">
            <a:extLst>
              <a:ext uri="{FF2B5EF4-FFF2-40B4-BE49-F238E27FC236}">
                <a16:creationId xmlns:a16="http://schemas.microsoft.com/office/drawing/2014/main" id="{655D48FA-7654-469F-A620-8EB7309C87AE}"/>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2584976345"/>
      </p:ext>
    </p:extLst>
  </p:cSld>
  <p:clrMapOvr>
    <a:masterClrMapping/>
  </p:clrMapOvr>
  <p:transition spd="slow">
    <p:push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1450" y="1759860"/>
            <a:ext cx="8801100" cy="5386090"/>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endParaRPr lang="fr-FR" sz="2000" b="1" dirty="0">
              <a:solidFill>
                <a:srgbClr val="FF0000"/>
              </a:solidFill>
              <a:latin typeface="Comic Sans MS" panose="030F0702030302020204" pitchFamily="66" charset="0"/>
              <a:ea typeface="MS PGothic" pitchFamily="34" charset="-128"/>
            </a:endParaRPr>
          </a:p>
          <a:p>
            <a:pPr marL="457200" indent="-457200">
              <a:buFont typeface="Wingdings" panose="05000000000000000000" pitchFamily="2" charset="2"/>
              <a:buChar char="v"/>
            </a:pPr>
            <a:r>
              <a:rPr lang="fr-FR" sz="2800" b="1" dirty="0">
                <a:solidFill>
                  <a:srgbClr val="0070C0"/>
                </a:solidFill>
                <a:latin typeface="Comic Sans MS" panose="030F0702030302020204" pitchFamily="66" charset="0"/>
              </a:rPr>
              <a:t>Rappel de la théorie de l’ANOVA </a:t>
            </a:r>
          </a:p>
          <a:p>
            <a:pPr algn="just"/>
            <a:endParaRPr lang="fr-FR" sz="2800" b="1" dirty="0">
              <a:solidFill>
                <a:schemeClr val="accent6">
                  <a:lumMod val="75000"/>
                </a:schemeClr>
              </a:solidFill>
              <a:latin typeface="Comic Sans MS" panose="030F0702030302020204" pitchFamily="66" charset="0"/>
              <a:ea typeface="MS PGothic" pitchFamily="34" charset="-128"/>
            </a:endParaRPr>
          </a:p>
          <a:p>
            <a:pPr algn="just"/>
            <a:r>
              <a:rPr lang="fr-FR" sz="2800" b="1" dirty="0">
                <a:latin typeface="Comic Sans MS" panose="030F0702030302020204" pitchFamily="66" charset="0"/>
                <a:ea typeface="MS PGothic" pitchFamily="34" charset="-128"/>
              </a:rPr>
              <a:t>Cas de l’ANOVA à un facteur </a:t>
            </a:r>
          </a:p>
          <a:p>
            <a:pPr algn="just"/>
            <a:r>
              <a:rPr lang="fr-FR" sz="2800" b="1" dirty="0">
                <a:latin typeface="Comic Sans MS" panose="030F0702030302020204" pitchFamily="66" charset="0"/>
                <a:ea typeface="MS PGothic" pitchFamily="34" charset="-128"/>
              </a:rPr>
              <a:t>Le principe revient à partitionner l’échantillon en k groupes ; k étant le nombre de modalités de la variable discriminante. </a:t>
            </a:r>
          </a:p>
          <a:p>
            <a:endParaRPr lang="fr-FR" sz="2000" b="1" dirty="0">
              <a:solidFill>
                <a:srgbClr val="00206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p:txBody>
      </p:sp>
      <p:grpSp>
        <p:nvGrpSpPr>
          <p:cNvPr id="4098" name="Group 74933"/>
          <p:cNvGrpSpPr>
            <a:grpSpLocks/>
          </p:cNvGrpSpPr>
          <p:nvPr/>
        </p:nvGrpSpPr>
        <p:grpSpPr bwMode="auto">
          <a:xfrm>
            <a:off x="-42863" y="-1588"/>
            <a:ext cx="517526" cy="320676"/>
            <a:chOff x="0" y="0"/>
            <a:chExt cx="518160" cy="321564"/>
          </a:xfrm>
        </p:grpSpPr>
      </p:grpSp>
      <p:sp>
        <p:nvSpPr>
          <p:cNvPr id="7" name="Title 1">
            <a:extLst>
              <a:ext uri="{FF2B5EF4-FFF2-40B4-BE49-F238E27FC236}">
                <a16:creationId xmlns:a16="http://schemas.microsoft.com/office/drawing/2014/main" id="{EEB224CC-D07F-41B7-8784-402BF558EEC7}"/>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2172987429"/>
      </p:ext>
    </p:extLst>
  </p:cSld>
  <p:clrMapOvr>
    <a:masterClrMapping/>
  </p:clrMapOvr>
  <p:transition spd="slow">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1450" y="1268760"/>
            <a:ext cx="8801100" cy="6247864"/>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endParaRPr lang="fr-FR" sz="2000" b="1" dirty="0">
              <a:solidFill>
                <a:srgbClr val="FF0000"/>
              </a:solidFill>
              <a:latin typeface="Comic Sans MS" panose="030F0702030302020204" pitchFamily="66" charset="0"/>
              <a:ea typeface="MS PGothic" pitchFamily="34" charset="-128"/>
            </a:endParaRPr>
          </a:p>
          <a:p>
            <a:pPr marL="457200" indent="-457200">
              <a:buFont typeface="Wingdings" panose="05000000000000000000" pitchFamily="2" charset="2"/>
              <a:buChar char="v"/>
            </a:pPr>
            <a:r>
              <a:rPr lang="fr-FR" sz="2800" b="1" dirty="0">
                <a:solidFill>
                  <a:srgbClr val="0070C0"/>
                </a:solidFill>
                <a:latin typeface="Comic Sans MS" panose="030F0702030302020204" pitchFamily="66" charset="0"/>
              </a:rPr>
              <a:t>Rappel de la théorie de l’ANOVA </a:t>
            </a:r>
          </a:p>
          <a:p>
            <a:endParaRPr lang="fr-FR" sz="2800" b="1" i="1" dirty="0"/>
          </a:p>
          <a:p>
            <a:pPr algn="just"/>
            <a:r>
              <a:rPr lang="fr-FR" sz="2800" b="1" dirty="0">
                <a:latin typeface="Comic Sans MS" panose="030F0702030302020204" pitchFamily="66" charset="0"/>
                <a:ea typeface="MS PGothic" pitchFamily="34" charset="-128"/>
              </a:rPr>
              <a:t>Exemple : Existe-t-il un lien entre le revenu d’un ménage et la zone habitée?  </a:t>
            </a:r>
          </a:p>
          <a:p>
            <a:pPr algn="just"/>
            <a:r>
              <a:rPr lang="fr-FR" sz="2800" b="1" dirty="0">
                <a:latin typeface="Comic Sans MS" panose="030F0702030302020204" pitchFamily="66" charset="0"/>
                <a:ea typeface="MS PGothic" pitchFamily="34" charset="-128"/>
              </a:rPr>
              <a:t>Pour répondre à cette question, un étudiant collecte des informations sur le revenu de 20 ménages dans trois zones différentes (zone 1, zone 2, zone 3). </a:t>
            </a:r>
          </a:p>
          <a:p>
            <a:endParaRPr lang="fr-FR" sz="2000" b="1" dirty="0">
              <a:solidFill>
                <a:srgbClr val="00206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p:txBody>
      </p:sp>
      <p:grpSp>
        <p:nvGrpSpPr>
          <p:cNvPr id="4098" name="Group 74933"/>
          <p:cNvGrpSpPr>
            <a:grpSpLocks/>
          </p:cNvGrpSpPr>
          <p:nvPr/>
        </p:nvGrpSpPr>
        <p:grpSpPr bwMode="auto">
          <a:xfrm>
            <a:off x="-42863" y="-1588"/>
            <a:ext cx="517526" cy="320676"/>
            <a:chOff x="0" y="0"/>
            <a:chExt cx="518160" cy="321564"/>
          </a:xfrm>
        </p:grpSpPr>
      </p:grpSp>
      <p:sp>
        <p:nvSpPr>
          <p:cNvPr id="7" name="Title 1">
            <a:extLst>
              <a:ext uri="{FF2B5EF4-FFF2-40B4-BE49-F238E27FC236}">
                <a16:creationId xmlns:a16="http://schemas.microsoft.com/office/drawing/2014/main" id="{F701A708-5451-428E-A812-184B3A820459}"/>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3495692464"/>
      </p:ext>
    </p:extLst>
  </p:cSld>
  <p:clrMapOvr>
    <a:masterClrMapping/>
  </p:clrMapOvr>
  <p:transition spd="slow">
    <p:push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1450" y="1412776"/>
            <a:ext cx="8972550" cy="6247864"/>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endParaRPr lang="fr-FR" sz="2000" b="1" dirty="0">
              <a:solidFill>
                <a:srgbClr val="FF0000"/>
              </a:solidFill>
              <a:latin typeface="Comic Sans MS" panose="030F0702030302020204" pitchFamily="66" charset="0"/>
              <a:ea typeface="MS PGothic" pitchFamily="34" charset="-128"/>
            </a:endParaRPr>
          </a:p>
          <a:p>
            <a:pPr marL="457200" indent="-457200">
              <a:buFont typeface="Wingdings" panose="05000000000000000000" pitchFamily="2" charset="2"/>
              <a:buChar char="v"/>
            </a:pPr>
            <a:r>
              <a:rPr lang="fr-FR" sz="2800" b="1" dirty="0">
                <a:solidFill>
                  <a:srgbClr val="0070C0"/>
                </a:solidFill>
                <a:latin typeface="Comic Sans MS" panose="030F0702030302020204" pitchFamily="66" charset="0"/>
              </a:rPr>
              <a:t>Rappel de la théorie de l’ANOVA </a:t>
            </a:r>
          </a:p>
          <a:p>
            <a:endParaRPr lang="fr-FR" sz="2800" b="1" i="1" dirty="0"/>
          </a:p>
          <a:p>
            <a:pPr algn="just"/>
            <a:r>
              <a:rPr lang="fr-FR" sz="2800" b="1" dirty="0">
                <a:latin typeface="Comic Sans MS" panose="030F0702030302020204" pitchFamily="66" charset="0"/>
                <a:ea typeface="MS PGothic" pitchFamily="34" charset="-128"/>
              </a:rPr>
              <a:t>Dans cet exemple, la variable discriminante est la zone.  </a:t>
            </a:r>
          </a:p>
          <a:p>
            <a:pPr algn="just"/>
            <a:r>
              <a:rPr lang="fr-FR" sz="2800" b="1" dirty="0">
                <a:latin typeface="Comic Sans MS" panose="030F0702030302020204" pitchFamily="66" charset="0"/>
                <a:ea typeface="MS PGothic" pitchFamily="34" charset="-128"/>
              </a:rPr>
              <a:t>Nous allons donc séparer l’échantillon en trois sous groupes : la zone1, la zone 2 et la zone 3. Pour chaque groupe, nous pouvons calculer la moyenne, la variance et l’écart-type. </a:t>
            </a:r>
          </a:p>
          <a:p>
            <a:endParaRPr lang="fr-FR" sz="2000" b="1" dirty="0">
              <a:solidFill>
                <a:srgbClr val="00206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p:txBody>
      </p:sp>
      <p:grpSp>
        <p:nvGrpSpPr>
          <p:cNvPr id="4098" name="Group 74933"/>
          <p:cNvGrpSpPr>
            <a:grpSpLocks/>
          </p:cNvGrpSpPr>
          <p:nvPr/>
        </p:nvGrpSpPr>
        <p:grpSpPr bwMode="auto">
          <a:xfrm>
            <a:off x="-42863" y="-1588"/>
            <a:ext cx="517526" cy="320676"/>
            <a:chOff x="0" y="0"/>
            <a:chExt cx="518160" cy="321564"/>
          </a:xfrm>
        </p:grpSpPr>
      </p:grpSp>
      <p:sp>
        <p:nvSpPr>
          <p:cNvPr id="7" name="Title 1">
            <a:extLst>
              <a:ext uri="{FF2B5EF4-FFF2-40B4-BE49-F238E27FC236}">
                <a16:creationId xmlns:a16="http://schemas.microsoft.com/office/drawing/2014/main" id="{0F78FB12-C2EC-434D-AE68-51C48737A675}"/>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1864245926"/>
      </p:ext>
    </p:extLst>
  </p:cSld>
  <p:clrMapOvr>
    <a:masterClrMapping/>
  </p:clrMapOvr>
  <p:transition spd="slow">
    <p:push di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1450" y="1759860"/>
            <a:ext cx="8972550" cy="3662541"/>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endParaRPr lang="fr-FR" sz="2000" b="1" dirty="0">
              <a:solidFill>
                <a:srgbClr val="FF0000"/>
              </a:solidFill>
              <a:latin typeface="Comic Sans MS" panose="030F0702030302020204" pitchFamily="66" charset="0"/>
              <a:ea typeface="MS PGothic" pitchFamily="34" charset="-128"/>
            </a:endParaRPr>
          </a:p>
          <a:p>
            <a:pPr marL="457200" indent="-457200">
              <a:buFont typeface="Wingdings" panose="05000000000000000000" pitchFamily="2" charset="2"/>
              <a:buChar char="v"/>
            </a:pPr>
            <a:r>
              <a:rPr lang="fr-FR" sz="2800" b="1" dirty="0">
                <a:solidFill>
                  <a:srgbClr val="0070C0"/>
                </a:solidFill>
                <a:latin typeface="Comic Sans MS" panose="030F0702030302020204" pitchFamily="66" charset="0"/>
              </a:rPr>
              <a:t>Rappel de la théorie de l’ANOVA </a:t>
            </a:r>
          </a:p>
          <a:p>
            <a:endParaRPr lang="fr-FR" sz="2800" b="1" i="1" dirty="0"/>
          </a:p>
          <a:p>
            <a:endParaRPr lang="fr-FR" sz="2000" b="1" dirty="0">
              <a:solidFill>
                <a:srgbClr val="00206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p:txBody>
      </p:sp>
      <p:grpSp>
        <p:nvGrpSpPr>
          <p:cNvPr id="4098" name="Group 74933"/>
          <p:cNvGrpSpPr>
            <a:grpSpLocks/>
          </p:cNvGrpSpPr>
          <p:nvPr/>
        </p:nvGrpSpPr>
        <p:grpSpPr bwMode="auto">
          <a:xfrm>
            <a:off x="-42863" y="-1588"/>
            <a:ext cx="517526" cy="320676"/>
            <a:chOff x="0" y="0"/>
            <a:chExt cx="518160" cy="321564"/>
          </a:xfrm>
        </p:grpSpPr>
      </p:grpSp>
      <p:graphicFrame>
        <p:nvGraphicFramePr>
          <p:cNvPr id="2" name="Tableau 1"/>
          <p:cNvGraphicFramePr>
            <a:graphicFrameLocks noGrp="1"/>
          </p:cNvGraphicFramePr>
          <p:nvPr/>
        </p:nvGraphicFramePr>
        <p:xfrm>
          <a:off x="528319" y="3332480"/>
          <a:ext cx="7477761" cy="1818640"/>
        </p:xfrm>
        <a:graphic>
          <a:graphicData uri="http://schemas.openxmlformats.org/drawingml/2006/table">
            <a:tbl>
              <a:tblPr firstRow="1" firstCol="1" bandRow="1">
                <a:tableStyleId>{5202B0CA-FC54-4496-8BCA-5EF66A818D29}</a:tableStyleId>
              </a:tblPr>
              <a:tblGrid>
                <a:gridCol w="1193251">
                  <a:extLst>
                    <a:ext uri="{9D8B030D-6E8A-4147-A177-3AD203B41FA5}">
                      <a16:colId xmlns:a16="http://schemas.microsoft.com/office/drawing/2014/main" val="20000"/>
                    </a:ext>
                  </a:extLst>
                </a:gridCol>
                <a:gridCol w="1197241">
                  <a:extLst>
                    <a:ext uri="{9D8B030D-6E8A-4147-A177-3AD203B41FA5}">
                      <a16:colId xmlns:a16="http://schemas.microsoft.com/office/drawing/2014/main" val="20001"/>
                    </a:ext>
                  </a:extLst>
                </a:gridCol>
                <a:gridCol w="1536460">
                  <a:extLst>
                    <a:ext uri="{9D8B030D-6E8A-4147-A177-3AD203B41FA5}">
                      <a16:colId xmlns:a16="http://schemas.microsoft.com/office/drawing/2014/main" val="20002"/>
                    </a:ext>
                  </a:extLst>
                </a:gridCol>
                <a:gridCol w="1636231">
                  <a:extLst>
                    <a:ext uri="{9D8B030D-6E8A-4147-A177-3AD203B41FA5}">
                      <a16:colId xmlns:a16="http://schemas.microsoft.com/office/drawing/2014/main" val="20003"/>
                    </a:ext>
                  </a:extLst>
                </a:gridCol>
                <a:gridCol w="1914578">
                  <a:extLst>
                    <a:ext uri="{9D8B030D-6E8A-4147-A177-3AD203B41FA5}">
                      <a16:colId xmlns:a16="http://schemas.microsoft.com/office/drawing/2014/main" val="20004"/>
                    </a:ext>
                  </a:extLst>
                </a:gridCol>
              </a:tblGrid>
              <a:tr h="725692">
                <a:tc>
                  <a:txBody>
                    <a:bodyPr/>
                    <a:lstStyle/>
                    <a:p>
                      <a:pPr marL="234950" indent="-6350" algn="ctr" defTabSz="914400" rtl="0" eaLnBrk="1" latinLnBrk="0" hangingPunct="1">
                        <a:lnSpc>
                          <a:spcPct val="115000"/>
                        </a:lnSpc>
                        <a:spcAft>
                          <a:spcPts val="0"/>
                        </a:spcAft>
                      </a:pPr>
                      <a:r>
                        <a:rPr lang="fr-FR" sz="2000" kern="1200" dirty="0">
                          <a:effectLst/>
                        </a:rPr>
                        <a:t>Zone </a:t>
                      </a:r>
                      <a:endParaRPr lang="fr-FR" sz="2000" kern="1200" dirty="0">
                        <a:solidFill>
                          <a:schemeClr val="dk1"/>
                        </a:solidFill>
                        <a:effectLst/>
                        <a:latin typeface="+mn-lt"/>
                        <a:ea typeface="+mn-ea"/>
                        <a:cs typeface="+mn-cs"/>
                      </a:endParaRPr>
                    </a:p>
                  </a:txBody>
                  <a:tcPr marL="43180" marR="73025" marT="0" marB="0"/>
                </a:tc>
                <a:tc>
                  <a:txBody>
                    <a:bodyPr/>
                    <a:lstStyle/>
                    <a:p>
                      <a:pPr marL="234950" indent="-6350" algn="ctr" defTabSz="914400" rtl="0" eaLnBrk="1" latinLnBrk="0" hangingPunct="1">
                        <a:lnSpc>
                          <a:spcPct val="115000"/>
                        </a:lnSpc>
                        <a:spcAft>
                          <a:spcPts val="0"/>
                        </a:spcAft>
                      </a:pPr>
                      <a:r>
                        <a:rPr lang="fr-FR" sz="2000" kern="1200" dirty="0">
                          <a:effectLst/>
                        </a:rPr>
                        <a:t>Effectif </a:t>
                      </a:r>
                      <a:endParaRPr lang="fr-FR" sz="2000" kern="1200" dirty="0">
                        <a:solidFill>
                          <a:schemeClr val="dk1"/>
                        </a:solidFill>
                        <a:effectLst/>
                        <a:latin typeface="+mn-lt"/>
                        <a:ea typeface="+mn-ea"/>
                        <a:cs typeface="+mn-cs"/>
                      </a:endParaRPr>
                    </a:p>
                  </a:txBody>
                  <a:tcPr marL="43180" marR="73025" marT="0" marB="0"/>
                </a:tc>
                <a:tc>
                  <a:txBody>
                    <a:bodyPr/>
                    <a:lstStyle/>
                    <a:p>
                      <a:pPr marL="234950" indent="-6350" algn="ctr" defTabSz="914400" rtl="0" eaLnBrk="1" latinLnBrk="0" hangingPunct="1">
                        <a:lnSpc>
                          <a:spcPct val="115000"/>
                        </a:lnSpc>
                        <a:spcAft>
                          <a:spcPts val="0"/>
                        </a:spcAft>
                      </a:pPr>
                      <a:r>
                        <a:rPr lang="fr-FR" sz="2000" kern="1200">
                          <a:effectLst/>
                        </a:rPr>
                        <a:t>Moyenne </a:t>
                      </a:r>
                      <a:endParaRPr lang="fr-FR" sz="2000" kern="1200">
                        <a:solidFill>
                          <a:schemeClr val="dk1"/>
                        </a:solidFill>
                        <a:effectLst/>
                        <a:latin typeface="+mn-lt"/>
                        <a:ea typeface="+mn-ea"/>
                        <a:cs typeface="+mn-cs"/>
                      </a:endParaRPr>
                    </a:p>
                  </a:txBody>
                  <a:tcPr marL="43180" marR="73025" marT="0" marB="0"/>
                </a:tc>
                <a:tc>
                  <a:txBody>
                    <a:bodyPr/>
                    <a:lstStyle/>
                    <a:p>
                      <a:pPr marL="234950" indent="-6350" algn="ctr" defTabSz="914400" rtl="0" eaLnBrk="1" latinLnBrk="0" hangingPunct="1">
                        <a:lnSpc>
                          <a:spcPct val="115000"/>
                        </a:lnSpc>
                        <a:spcAft>
                          <a:spcPts val="0"/>
                        </a:spcAft>
                      </a:pPr>
                      <a:r>
                        <a:rPr lang="fr-FR" sz="2000" kern="1200">
                          <a:effectLst/>
                        </a:rPr>
                        <a:t>Variance </a:t>
                      </a:r>
                      <a:endParaRPr lang="fr-FR" sz="2000" kern="1200">
                        <a:solidFill>
                          <a:schemeClr val="dk1"/>
                        </a:solidFill>
                        <a:effectLst/>
                        <a:latin typeface="+mn-lt"/>
                        <a:ea typeface="+mn-ea"/>
                        <a:cs typeface="+mn-cs"/>
                      </a:endParaRPr>
                    </a:p>
                  </a:txBody>
                  <a:tcPr marL="43180" marR="73025" marT="0" marB="0"/>
                </a:tc>
                <a:tc>
                  <a:txBody>
                    <a:bodyPr/>
                    <a:lstStyle/>
                    <a:p>
                      <a:pPr marL="234950" indent="-6350" algn="ctr" defTabSz="914400" rtl="0" eaLnBrk="1" latinLnBrk="0" hangingPunct="1">
                        <a:lnSpc>
                          <a:spcPct val="115000"/>
                        </a:lnSpc>
                        <a:spcAft>
                          <a:spcPts val="0"/>
                        </a:spcAft>
                      </a:pPr>
                      <a:r>
                        <a:rPr lang="fr-FR" sz="2000" kern="1200">
                          <a:effectLst/>
                        </a:rPr>
                        <a:t>Ecart-type </a:t>
                      </a:r>
                      <a:endParaRPr lang="fr-FR" sz="2000" kern="1200">
                        <a:solidFill>
                          <a:schemeClr val="dk1"/>
                        </a:solidFill>
                        <a:effectLst/>
                        <a:latin typeface="+mn-lt"/>
                        <a:ea typeface="+mn-ea"/>
                        <a:cs typeface="+mn-cs"/>
                      </a:endParaRPr>
                    </a:p>
                  </a:txBody>
                  <a:tcPr marL="43180" marR="73025" marT="0" marB="0"/>
                </a:tc>
                <a:extLst>
                  <a:ext uri="{0D108BD9-81ED-4DB2-BD59-A6C34878D82A}">
                    <a16:rowId xmlns:a16="http://schemas.microsoft.com/office/drawing/2014/main" val="10000"/>
                  </a:ext>
                </a:extLst>
              </a:tr>
              <a:tr h="372009">
                <a:tc>
                  <a:txBody>
                    <a:bodyPr/>
                    <a:lstStyle/>
                    <a:p>
                      <a:pPr marL="234950" indent="-6350" algn="ctr" defTabSz="914400" rtl="0" eaLnBrk="1" latinLnBrk="0" hangingPunct="1">
                        <a:lnSpc>
                          <a:spcPct val="115000"/>
                        </a:lnSpc>
                        <a:spcAft>
                          <a:spcPts val="0"/>
                        </a:spcAft>
                      </a:pPr>
                      <a:r>
                        <a:rPr lang="fr-FR" sz="2000" kern="1200">
                          <a:effectLst/>
                        </a:rPr>
                        <a:t>Zone 1 </a:t>
                      </a:r>
                      <a:endParaRPr lang="fr-FR" sz="2000" kern="1200">
                        <a:solidFill>
                          <a:schemeClr val="dk1"/>
                        </a:solidFill>
                        <a:effectLst/>
                        <a:latin typeface="+mn-lt"/>
                        <a:ea typeface="+mn-ea"/>
                        <a:cs typeface="+mn-cs"/>
                      </a:endParaRPr>
                    </a:p>
                  </a:txBody>
                  <a:tcPr marL="43180" marR="73025" marT="0" marB="0"/>
                </a:tc>
                <a:tc>
                  <a:txBody>
                    <a:bodyPr/>
                    <a:lstStyle/>
                    <a:p>
                      <a:pPr marL="234950" indent="-6350" algn="ctr" defTabSz="914400" rtl="0" eaLnBrk="1" latinLnBrk="0" hangingPunct="1">
                        <a:lnSpc>
                          <a:spcPct val="115000"/>
                        </a:lnSpc>
                        <a:spcAft>
                          <a:spcPts val="0"/>
                        </a:spcAft>
                      </a:pPr>
                      <a:r>
                        <a:rPr lang="fr-FR" sz="2000" kern="1200" dirty="0">
                          <a:effectLst/>
                        </a:rPr>
                        <a:t>6 </a:t>
                      </a:r>
                      <a:endParaRPr lang="fr-FR" sz="2000" kern="1200" dirty="0">
                        <a:solidFill>
                          <a:schemeClr val="dk1"/>
                        </a:solidFill>
                        <a:effectLst/>
                        <a:latin typeface="+mn-lt"/>
                        <a:ea typeface="+mn-ea"/>
                        <a:cs typeface="+mn-cs"/>
                      </a:endParaRPr>
                    </a:p>
                  </a:txBody>
                  <a:tcPr marL="43180" marR="73025" marT="0" marB="0"/>
                </a:tc>
                <a:tc>
                  <a:txBody>
                    <a:bodyPr/>
                    <a:lstStyle/>
                    <a:p>
                      <a:pPr marL="234950" indent="-6350" algn="ctr" defTabSz="914400" rtl="0" eaLnBrk="1" latinLnBrk="0" hangingPunct="1">
                        <a:lnSpc>
                          <a:spcPct val="115000"/>
                        </a:lnSpc>
                        <a:spcAft>
                          <a:spcPts val="0"/>
                        </a:spcAft>
                      </a:pPr>
                      <a:r>
                        <a:rPr lang="fr-FR" sz="2000" kern="1200" dirty="0">
                          <a:effectLst/>
                        </a:rPr>
                        <a:t>3,28 </a:t>
                      </a:r>
                      <a:endParaRPr lang="fr-FR" sz="2000" kern="1200" dirty="0">
                        <a:solidFill>
                          <a:schemeClr val="dk1"/>
                        </a:solidFill>
                        <a:effectLst/>
                        <a:latin typeface="+mn-lt"/>
                        <a:ea typeface="+mn-ea"/>
                        <a:cs typeface="+mn-cs"/>
                      </a:endParaRPr>
                    </a:p>
                  </a:txBody>
                  <a:tcPr marL="43180" marR="73025" marT="0" marB="0"/>
                </a:tc>
                <a:tc>
                  <a:txBody>
                    <a:bodyPr/>
                    <a:lstStyle/>
                    <a:p>
                      <a:pPr marL="234950" indent="-6350" algn="ctr" defTabSz="914400" rtl="0" eaLnBrk="1" latinLnBrk="0" hangingPunct="1">
                        <a:lnSpc>
                          <a:spcPct val="115000"/>
                        </a:lnSpc>
                        <a:spcAft>
                          <a:spcPts val="0"/>
                        </a:spcAft>
                      </a:pPr>
                      <a:r>
                        <a:rPr lang="fr-FR" sz="2000" kern="1200">
                          <a:effectLst/>
                        </a:rPr>
                        <a:t>1,37 </a:t>
                      </a:r>
                      <a:endParaRPr lang="fr-FR" sz="2000" kern="1200">
                        <a:solidFill>
                          <a:schemeClr val="dk1"/>
                        </a:solidFill>
                        <a:effectLst/>
                        <a:latin typeface="+mn-lt"/>
                        <a:ea typeface="+mn-ea"/>
                        <a:cs typeface="+mn-cs"/>
                      </a:endParaRPr>
                    </a:p>
                  </a:txBody>
                  <a:tcPr marL="43180" marR="73025" marT="0" marB="0"/>
                </a:tc>
                <a:tc>
                  <a:txBody>
                    <a:bodyPr/>
                    <a:lstStyle/>
                    <a:p>
                      <a:pPr marL="234950" indent="-6350" algn="ctr" defTabSz="914400" rtl="0" eaLnBrk="1" latinLnBrk="0" hangingPunct="1">
                        <a:lnSpc>
                          <a:spcPct val="115000"/>
                        </a:lnSpc>
                        <a:spcAft>
                          <a:spcPts val="0"/>
                        </a:spcAft>
                      </a:pPr>
                      <a:r>
                        <a:rPr lang="fr-FR" sz="2000" kern="1200">
                          <a:effectLst/>
                        </a:rPr>
                        <a:t>1,17 </a:t>
                      </a:r>
                      <a:endParaRPr lang="fr-FR" sz="2000" kern="1200">
                        <a:solidFill>
                          <a:schemeClr val="dk1"/>
                        </a:solidFill>
                        <a:effectLst/>
                        <a:latin typeface="+mn-lt"/>
                        <a:ea typeface="+mn-ea"/>
                        <a:cs typeface="+mn-cs"/>
                      </a:endParaRPr>
                    </a:p>
                  </a:txBody>
                  <a:tcPr marL="43180" marR="73025" marT="0" marB="0"/>
                </a:tc>
                <a:extLst>
                  <a:ext uri="{0D108BD9-81ED-4DB2-BD59-A6C34878D82A}">
                    <a16:rowId xmlns:a16="http://schemas.microsoft.com/office/drawing/2014/main" val="10001"/>
                  </a:ext>
                </a:extLst>
              </a:tr>
              <a:tr h="358433">
                <a:tc>
                  <a:txBody>
                    <a:bodyPr/>
                    <a:lstStyle/>
                    <a:p>
                      <a:pPr marL="234950" indent="-6350" algn="ctr" defTabSz="914400" rtl="0" eaLnBrk="1" latinLnBrk="0" hangingPunct="1">
                        <a:lnSpc>
                          <a:spcPct val="115000"/>
                        </a:lnSpc>
                        <a:spcAft>
                          <a:spcPts val="0"/>
                        </a:spcAft>
                      </a:pPr>
                      <a:r>
                        <a:rPr lang="fr-FR" sz="2000" kern="1200">
                          <a:effectLst/>
                        </a:rPr>
                        <a:t>Zone 2 </a:t>
                      </a:r>
                      <a:endParaRPr lang="fr-FR" sz="2000" kern="1200">
                        <a:solidFill>
                          <a:schemeClr val="dk1"/>
                        </a:solidFill>
                        <a:effectLst/>
                        <a:latin typeface="+mn-lt"/>
                        <a:ea typeface="+mn-ea"/>
                        <a:cs typeface="+mn-cs"/>
                      </a:endParaRPr>
                    </a:p>
                  </a:txBody>
                  <a:tcPr marL="43180" marR="73025" marT="0" marB="0"/>
                </a:tc>
                <a:tc>
                  <a:txBody>
                    <a:bodyPr/>
                    <a:lstStyle/>
                    <a:p>
                      <a:pPr marL="234950" indent="-6350" algn="ctr" defTabSz="914400" rtl="0" eaLnBrk="1" latinLnBrk="0" hangingPunct="1">
                        <a:lnSpc>
                          <a:spcPct val="115000"/>
                        </a:lnSpc>
                        <a:spcAft>
                          <a:spcPts val="0"/>
                        </a:spcAft>
                      </a:pPr>
                      <a:r>
                        <a:rPr lang="fr-FR" sz="2000" kern="1200" dirty="0">
                          <a:effectLst/>
                        </a:rPr>
                        <a:t>9 </a:t>
                      </a:r>
                      <a:endParaRPr lang="fr-FR" sz="2000" kern="1200" dirty="0">
                        <a:solidFill>
                          <a:schemeClr val="dk1"/>
                        </a:solidFill>
                        <a:effectLst/>
                        <a:latin typeface="+mn-lt"/>
                        <a:ea typeface="+mn-ea"/>
                        <a:cs typeface="+mn-cs"/>
                      </a:endParaRPr>
                    </a:p>
                  </a:txBody>
                  <a:tcPr marL="43180" marR="73025" marT="0" marB="0"/>
                </a:tc>
                <a:tc>
                  <a:txBody>
                    <a:bodyPr/>
                    <a:lstStyle/>
                    <a:p>
                      <a:pPr marL="234950" indent="-6350" algn="ctr" defTabSz="914400" rtl="0" eaLnBrk="1" latinLnBrk="0" hangingPunct="1">
                        <a:lnSpc>
                          <a:spcPct val="115000"/>
                        </a:lnSpc>
                        <a:spcAft>
                          <a:spcPts val="0"/>
                        </a:spcAft>
                      </a:pPr>
                      <a:r>
                        <a:rPr lang="fr-FR" sz="2000" kern="1200" dirty="0">
                          <a:effectLst/>
                        </a:rPr>
                        <a:t>21,82 </a:t>
                      </a:r>
                      <a:endParaRPr lang="fr-FR" sz="2000" kern="1200" dirty="0">
                        <a:solidFill>
                          <a:schemeClr val="dk1"/>
                        </a:solidFill>
                        <a:effectLst/>
                        <a:latin typeface="+mn-lt"/>
                        <a:ea typeface="+mn-ea"/>
                        <a:cs typeface="+mn-cs"/>
                      </a:endParaRPr>
                    </a:p>
                  </a:txBody>
                  <a:tcPr marL="43180" marR="73025" marT="0" marB="0"/>
                </a:tc>
                <a:tc>
                  <a:txBody>
                    <a:bodyPr/>
                    <a:lstStyle/>
                    <a:p>
                      <a:pPr marL="234950" indent="-6350" algn="ctr" defTabSz="914400" rtl="0" eaLnBrk="1" latinLnBrk="0" hangingPunct="1">
                        <a:lnSpc>
                          <a:spcPct val="115000"/>
                        </a:lnSpc>
                        <a:spcAft>
                          <a:spcPts val="0"/>
                        </a:spcAft>
                      </a:pPr>
                      <a:r>
                        <a:rPr lang="fr-FR" sz="2000" kern="1200" dirty="0">
                          <a:effectLst/>
                        </a:rPr>
                        <a:t>108,92 </a:t>
                      </a:r>
                      <a:endParaRPr lang="fr-FR" sz="2000" kern="1200" dirty="0">
                        <a:solidFill>
                          <a:schemeClr val="dk1"/>
                        </a:solidFill>
                        <a:effectLst/>
                        <a:latin typeface="+mn-lt"/>
                        <a:ea typeface="+mn-ea"/>
                        <a:cs typeface="+mn-cs"/>
                      </a:endParaRPr>
                    </a:p>
                  </a:txBody>
                  <a:tcPr marL="43180" marR="73025" marT="0" marB="0"/>
                </a:tc>
                <a:tc>
                  <a:txBody>
                    <a:bodyPr/>
                    <a:lstStyle/>
                    <a:p>
                      <a:pPr marL="234950" indent="-6350" algn="ctr" defTabSz="914400" rtl="0" eaLnBrk="1" latinLnBrk="0" hangingPunct="1">
                        <a:lnSpc>
                          <a:spcPct val="115000"/>
                        </a:lnSpc>
                        <a:spcAft>
                          <a:spcPts val="0"/>
                        </a:spcAft>
                      </a:pPr>
                      <a:r>
                        <a:rPr lang="fr-FR" sz="2000" kern="1200" dirty="0">
                          <a:effectLst/>
                        </a:rPr>
                        <a:t>10,44 </a:t>
                      </a:r>
                      <a:endParaRPr lang="fr-FR" sz="2000" kern="1200" dirty="0">
                        <a:solidFill>
                          <a:schemeClr val="dk1"/>
                        </a:solidFill>
                        <a:effectLst/>
                        <a:latin typeface="+mn-lt"/>
                        <a:ea typeface="+mn-ea"/>
                        <a:cs typeface="+mn-cs"/>
                      </a:endParaRPr>
                    </a:p>
                  </a:txBody>
                  <a:tcPr marL="43180" marR="73025" marT="0" marB="0"/>
                </a:tc>
                <a:extLst>
                  <a:ext uri="{0D108BD9-81ED-4DB2-BD59-A6C34878D82A}">
                    <a16:rowId xmlns:a16="http://schemas.microsoft.com/office/drawing/2014/main" val="10002"/>
                  </a:ext>
                </a:extLst>
              </a:tr>
              <a:tr h="362506">
                <a:tc>
                  <a:txBody>
                    <a:bodyPr/>
                    <a:lstStyle/>
                    <a:p>
                      <a:pPr marL="234950" indent="-6350" algn="ctr" defTabSz="914400" rtl="0" eaLnBrk="1" latinLnBrk="0" hangingPunct="1">
                        <a:lnSpc>
                          <a:spcPct val="115000"/>
                        </a:lnSpc>
                        <a:spcAft>
                          <a:spcPts val="0"/>
                        </a:spcAft>
                      </a:pPr>
                      <a:r>
                        <a:rPr lang="fr-FR" sz="2000" kern="1200">
                          <a:effectLst/>
                        </a:rPr>
                        <a:t>Zone 3 </a:t>
                      </a:r>
                      <a:endParaRPr lang="fr-FR" sz="2000" kern="1200">
                        <a:solidFill>
                          <a:schemeClr val="dk1"/>
                        </a:solidFill>
                        <a:effectLst/>
                        <a:latin typeface="+mn-lt"/>
                        <a:ea typeface="+mn-ea"/>
                        <a:cs typeface="+mn-cs"/>
                      </a:endParaRPr>
                    </a:p>
                  </a:txBody>
                  <a:tcPr marL="43180" marR="73025" marT="0" marB="0"/>
                </a:tc>
                <a:tc>
                  <a:txBody>
                    <a:bodyPr/>
                    <a:lstStyle/>
                    <a:p>
                      <a:pPr marL="234950" indent="-6350" algn="ctr" defTabSz="914400" rtl="0" eaLnBrk="1" latinLnBrk="0" hangingPunct="1">
                        <a:lnSpc>
                          <a:spcPct val="115000"/>
                        </a:lnSpc>
                        <a:spcAft>
                          <a:spcPts val="0"/>
                        </a:spcAft>
                      </a:pPr>
                      <a:r>
                        <a:rPr lang="fr-FR" sz="2000" kern="1200">
                          <a:effectLst/>
                        </a:rPr>
                        <a:t>5 </a:t>
                      </a:r>
                      <a:endParaRPr lang="fr-FR" sz="2000" kern="1200">
                        <a:solidFill>
                          <a:schemeClr val="dk1"/>
                        </a:solidFill>
                        <a:effectLst/>
                        <a:latin typeface="+mn-lt"/>
                        <a:ea typeface="+mn-ea"/>
                        <a:cs typeface="+mn-cs"/>
                      </a:endParaRPr>
                    </a:p>
                  </a:txBody>
                  <a:tcPr marL="43180" marR="73025" marT="0" marB="0"/>
                </a:tc>
                <a:tc>
                  <a:txBody>
                    <a:bodyPr/>
                    <a:lstStyle/>
                    <a:p>
                      <a:pPr marL="234950" indent="-6350" algn="ctr" defTabSz="914400" rtl="0" eaLnBrk="1" latinLnBrk="0" hangingPunct="1">
                        <a:lnSpc>
                          <a:spcPct val="115000"/>
                        </a:lnSpc>
                        <a:spcAft>
                          <a:spcPts val="0"/>
                        </a:spcAft>
                      </a:pPr>
                      <a:r>
                        <a:rPr lang="fr-FR" sz="2000" kern="1200" dirty="0">
                          <a:effectLst/>
                        </a:rPr>
                        <a:t>132,33 </a:t>
                      </a:r>
                      <a:endParaRPr lang="fr-FR" sz="2000" kern="1200" dirty="0">
                        <a:solidFill>
                          <a:schemeClr val="dk1"/>
                        </a:solidFill>
                        <a:effectLst/>
                        <a:latin typeface="+mn-lt"/>
                        <a:ea typeface="+mn-ea"/>
                        <a:cs typeface="+mn-cs"/>
                      </a:endParaRPr>
                    </a:p>
                  </a:txBody>
                  <a:tcPr marL="43180" marR="73025" marT="0" marB="0"/>
                </a:tc>
                <a:tc>
                  <a:txBody>
                    <a:bodyPr/>
                    <a:lstStyle/>
                    <a:p>
                      <a:pPr marL="234950" indent="-6350" algn="ctr" defTabSz="914400" rtl="0" eaLnBrk="1" latinLnBrk="0" hangingPunct="1">
                        <a:lnSpc>
                          <a:spcPct val="115000"/>
                        </a:lnSpc>
                        <a:spcAft>
                          <a:spcPts val="0"/>
                        </a:spcAft>
                      </a:pPr>
                      <a:r>
                        <a:rPr lang="fr-FR" sz="2000" kern="1200" dirty="0">
                          <a:effectLst/>
                        </a:rPr>
                        <a:t>824,63 </a:t>
                      </a:r>
                      <a:endParaRPr lang="fr-FR" sz="2000" kern="1200" dirty="0">
                        <a:solidFill>
                          <a:schemeClr val="dk1"/>
                        </a:solidFill>
                        <a:effectLst/>
                        <a:latin typeface="+mn-lt"/>
                        <a:ea typeface="+mn-ea"/>
                        <a:cs typeface="+mn-cs"/>
                      </a:endParaRPr>
                    </a:p>
                  </a:txBody>
                  <a:tcPr marL="43180" marR="73025" marT="0" marB="0"/>
                </a:tc>
                <a:tc>
                  <a:txBody>
                    <a:bodyPr/>
                    <a:lstStyle/>
                    <a:p>
                      <a:pPr marL="234950" indent="-6350" algn="ctr" defTabSz="914400" rtl="0" eaLnBrk="1" latinLnBrk="0" hangingPunct="1">
                        <a:lnSpc>
                          <a:spcPct val="115000"/>
                        </a:lnSpc>
                        <a:spcAft>
                          <a:spcPts val="0"/>
                        </a:spcAft>
                      </a:pPr>
                      <a:r>
                        <a:rPr lang="fr-FR" sz="2000" kern="1200" dirty="0">
                          <a:effectLst/>
                        </a:rPr>
                        <a:t>28,72 </a:t>
                      </a:r>
                      <a:endParaRPr lang="fr-FR" sz="2000" kern="1200" dirty="0">
                        <a:solidFill>
                          <a:schemeClr val="dk1"/>
                        </a:solidFill>
                        <a:effectLst/>
                        <a:latin typeface="+mn-lt"/>
                        <a:ea typeface="+mn-ea"/>
                        <a:cs typeface="+mn-cs"/>
                      </a:endParaRPr>
                    </a:p>
                  </a:txBody>
                  <a:tcPr marL="43180" marR="73025" marT="0" marB="0"/>
                </a:tc>
                <a:extLst>
                  <a:ext uri="{0D108BD9-81ED-4DB2-BD59-A6C34878D82A}">
                    <a16:rowId xmlns:a16="http://schemas.microsoft.com/office/drawing/2014/main" val="10003"/>
                  </a:ext>
                </a:extLst>
              </a:tr>
            </a:tbl>
          </a:graphicData>
        </a:graphic>
      </p:graphicFrame>
      <p:sp>
        <p:nvSpPr>
          <p:cNvPr id="8" name="Title 1">
            <a:extLst>
              <a:ext uri="{FF2B5EF4-FFF2-40B4-BE49-F238E27FC236}">
                <a16:creationId xmlns:a16="http://schemas.microsoft.com/office/drawing/2014/main" id="{9E8280D2-7292-45C0-A830-40D853E9A083}"/>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1926040846"/>
      </p:ext>
    </p:extLst>
  </p:cSld>
  <p:clrMapOvr>
    <a:masterClrMapping/>
  </p:clrMapOvr>
  <p:transition spd="slow">
    <p:push di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187434" y="1035253"/>
                <a:ext cx="8972550" cy="7189276"/>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endParaRPr lang="fr-FR" sz="2000" b="1" dirty="0">
                  <a:solidFill>
                    <a:srgbClr val="FF0000"/>
                  </a:solidFill>
                  <a:latin typeface="Comic Sans MS" panose="030F0702030302020204" pitchFamily="66" charset="0"/>
                  <a:ea typeface="MS PGothic" pitchFamily="34" charset="-128"/>
                </a:endParaRPr>
              </a:p>
              <a:p>
                <a:pPr marL="457200" indent="-457200">
                  <a:buFont typeface="Wingdings" panose="05000000000000000000" pitchFamily="2" charset="2"/>
                  <a:buChar char="ü"/>
                </a:pPr>
                <a:r>
                  <a:rPr lang="fr-FR" sz="2800" b="1" dirty="0">
                    <a:solidFill>
                      <a:srgbClr val="C00000"/>
                    </a:solidFill>
                    <a:latin typeface="Comic Sans MS" panose="030F0702030302020204" pitchFamily="66" charset="0"/>
                  </a:rPr>
                  <a:t>La statistique de test </a:t>
                </a:r>
              </a:p>
              <a:p>
                <a:pPr/>
                <a14:m>
                  <m:oMathPara xmlns:m="http://schemas.openxmlformats.org/officeDocument/2006/math">
                    <m:oMathParaPr>
                      <m:jc m:val="centerGroup"/>
                    </m:oMathParaPr>
                    <m:oMath xmlns:m="http://schemas.openxmlformats.org/officeDocument/2006/math">
                      <m:r>
                        <a:rPr lang="fr-FR" sz="2600" b="1">
                          <a:solidFill>
                            <a:schemeClr val="tx2">
                              <a:lumMod val="50000"/>
                            </a:schemeClr>
                          </a:solidFill>
                          <a:latin typeface="Cambria Math" panose="02040503050406030204" pitchFamily="18" charset="0"/>
                          <a:ea typeface="MS PGothic" pitchFamily="34" charset="-128"/>
                        </a:rPr>
                        <m:t>𝐓</m:t>
                      </m:r>
                      <m:r>
                        <a:rPr lang="fr-FR" sz="2600" b="1">
                          <a:solidFill>
                            <a:schemeClr val="tx2">
                              <a:lumMod val="50000"/>
                            </a:schemeClr>
                          </a:solidFill>
                          <a:latin typeface="Cambria Math" panose="02040503050406030204" pitchFamily="18" charset="0"/>
                          <a:ea typeface="MS PGothic" pitchFamily="34" charset="-128"/>
                        </a:rPr>
                        <m:t>=</m:t>
                      </m:r>
                      <m:f>
                        <m:fPr>
                          <m:ctrlPr>
                            <a:rPr lang="fr-FR" sz="2600" b="1" i="1">
                              <a:solidFill>
                                <a:schemeClr val="tx2">
                                  <a:lumMod val="50000"/>
                                </a:schemeClr>
                              </a:solidFill>
                              <a:latin typeface="Cambria Math" panose="02040503050406030204" pitchFamily="18" charset="0"/>
                              <a:ea typeface="MS PGothic" pitchFamily="34" charset="-128"/>
                            </a:rPr>
                          </m:ctrlPr>
                        </m:fPr>
                        <m:num>
                          <m:f>
                            <m:fPr>
                              <m:type m:val="skw"/>
                              <m:ctrlPr>
                                <a:rPr lang="fr-FR" sz="2600" b="1" i="1">
                                  <a:solidFill>
                                    <a:schemeClr val="tx2">
                                      <a:lumMod val="50000"/>
                                    </a:schemeClr>
                                  </a:solidFill>
                                  <a:latin typeface="Cambria Math" panose="02040503050406030204" pitchFamily="18" charset="0"/>
                                  <a:ea typeface="MS PGothic" pitchFamily="34" charset="-128"/>
                                </a:rPr>
                              </m:ctrlPr>
                            </m:fPr>
                            <m:num>
                              <m:sSub>
                                <m:sSubPr>
                                  <m:ctrlPr>
                                    <a:rPr lang="fr-FR" sz="2600" b="1" i="1">
                                      <a:solidFill>
                                        <a:schemeClr val="tx2">
                                          <a:lumMod val="50000"/>
                                        </a:schemeClr>
                                      </a:solidFill>
                                      <a:latin typeface="Cambria Math" panose="02040503050406030204" pitchFamily="18" charset="0"/>
                                      <a:ea typeface="MS PGothic" pitchFamily="34" charset="-128"/>
                                    </a:rPr>
                                  </m:ctrlPr>
                                </m:sSubPr>
                                <m:e>
                                  <m:r>
                                    <a:rPr lang="fr-FR" sz="2600" b="1">
                                      <a:solidFill>
                                        <a:schemeClr val="tx2">
                                          <a:lumMod val="50000"/>
                                        </a:schemeClr>
                                      </a:solidFill>
                                      <a:latin typeface="Cambria Math" panose="02040503050406030204" pitchFamily="18" charset="0"/>
                                      <a:ea typeface="MS PGothic" pitchFamily="34" charset="-128"/>
                                    </a:rPr>
                                    <m:t>𝐕</m:t>
                                  </m:r>
                                </m:e>
                                <m:sub>
                                  <m:r>
                                    <a:rPr lang="fr-FR" sz="2600" b="1">
                                      <a:solidFill>
                                        <a:schemeClr val="tx2">
                                          <a:lumMod val="50000"/>
                                        </a:schemeClr>
                                      </a:solidFill>
                                      <a:latin typeface="Cambria Math" panose="02040503050406030204" pitchFamily="18" charset="0"/>
                                      <a:ea typeface="MS PGothic" pitchFamily="34" charset="-128"/>
                                    </a:rPr>
                                    <m:t>𝐢𝐧𝐭𝐞𝐫</m:t>
                                  </m:r>
                                </m:sub>
                              </m:sSub>
                            </m:num>
                            <m:den>
                              <m:r>
                                <a:rPr lang="fr-FR" sz="2600" b="1">
                                  <a:solidFill>
                                    <a:schemeClr val="tx2">
                                      <a:lumMod val="50000"/>
                                    </a:schemeClr>
                                  </a:solidFill>
                                  <a:latin typeface="Cambria Math" panose="02040503050406030204" pitchFamily="18" charset="0"/>
                                  <a:ea typeface="MS PGothic" pitchFamily="34" charset="-128"/>
                                </a:rPr>
                                <m:t>𝐤</m:t>
                              </m:r>
                              <m:r>
                                <a:rPr lang="fr-FR" sz="2600" b="1">
                                  <a:solidFill>
                                    <a:schemeClr val="tx2">
                                      <a:lumMod val="50000"/>
                                    </a:schemeClr>
                                  </a:solidFill>
                                  <a:latin typeface="Cambria Math" panose="02040503050406030204" pitchFamily="18" charset="0"/>
                                  <a:ea typeface="MS PGothic" pitchFamily="34" charset="-128"/>
                                </a:rPr>
                                <m:t>−</m:t>
                              </m:r>
                              <m:r>
                                <a:rPr lang="fr-FR" sz="2600" b="1">
                                  <a:solidFill>
                                    <a:schemeClr val="tx2">
                                      <a:lumMod val="50000"/>
                                    </a:schemeClr>
                                  </a:solidFill>
                                  <a:latin typeface="Cambria Math" panose="02040503050406030204" pitchFamily="18" charset="0"/>
                                  <a:ea typeface="MS PGothic" pitchFamily="34" charset="-128"/>
                                </a:rPr>
                                <m:t>𝟏</m:t>
                              </m:r>
                            </m:den>
                          </m:f>
                        </m:num>
                        <m:den>
                          <m:f>
                            <m:fPr>
                              <m:type m:val="skw"/>
                              <m:ctrlPr>
                                <a:rPr lang="fr-FR" sz="2600" b="1" i="1">
                                  <a:solidFill>
                                    <a:schemeClr val="tx2">
                                      <a:lumMod val="50000"/>
                                    </a:schemeClr>
                                  </a:solidFill>
                                  <a:latin typeface="Cambria Math" panose="02040503050406030204" pitchFamily="18" charset="0"/>
                                  <a:ea typeface="MS PGothic" pitchFamily="34" charset="-128"/>
                                </a:rPr>
                              </m:ctrlPr>
                            </m:fPr>
                            <m:num>
                              <m:sSub>
                                <m:sSubPr>
                                  <m:ctrlPr>
                                    <a:rPr lang="fr-FR" sz="2600" b="1" i="1">
                                      <a:solidFill>
                                        <a:schemeClr val="tx2">
                                          <a:lumMod val="50000"/>
                                        </a:schemeClr>
                                      </a:solidFill>
                                      <a:latin typeface="Cambria Math" panose="02040503050406030204" pitchFamily="18" charset="0"/>
                                      <a:ea typeface="MS PGothic" pitchFamily="34" charset="-128"/>
                                    </a:rPr>
                                  </m:ctrlPr>
                                </m:sSubPr>
                                <m:e>
                                  <m:r>
                                    <a:rPr lang="fr-FR" sz="2600" b="1">
                                      <a:solidFill>
                                        <a:schemeClr val="tx2">
                                          <a:lumMod val="50000"/>
                                        </a:schemeClr>
                                      </a:solidFill>
                                      <a:latin typeface="Cambria Math" panose="02040503050406030204" pitchFamily="18" charset="0"/>
                                      <a:ea typeface="MS PGothic" pitchFamily="34" charset="-128"/>
                                    </a:rPr>
                                    <m:t>𝐕</m:t>
                                  </m:r>
                                </m:e>
                                <m:sub>
                                  <m:r>
                                    <a:rPr lang="fr-FR" sz="2600" b="1">
                                      <a:solidFill>
                                        <a:schemeClr val="tx2">
                                          <a:lumMod val="50000"/>
                                        </a:schemeClr>
                                      </a:solidFill>
                                      <a:latin typeface="Cambria Math" panose="02040503050406030204" pitchFamily="18" charset="0"/>
                                      <a:ea typeface="MS PGothic" pitchFamily="34" charset="-128"/>
                                    </a:rPr>
                                    <m:t>𝐢𝐧𝐭𝐫𝐚</m:t>
                                  </m:r>
                                </m:sub>
                              </m:sSub>
                            </m:num>
                            <m:den>
                              <m:r>
                                <a:rPr lang="fr-FR" sz="2600" b="1">
                                  <a:solidFill>
                                    <a:schemeClr val="tx2">
                                      <a:lumMod val="50000"/>
                                    </a:schemeClr>
                                  </a:solidFill>
                                  <a:latin typeface="Cambria Math" panose="02040503050406030204" pitchFamily="18" charset="0"/>
                                  <a:ea typeface="MS PGothic" pitchFamily="34" charset="-128"/>
                                </a:rPr>
                                <m:t>𝐧</m:t>
                              </m:r>
                              <m:r>
                                <a:rPr lang="fr-FR" sz="2600" b="1">
                                  <a:solidFill>
                                    <a:schemeClr val="tx2">
                                      <a:lumMod val="50000"/>
                                    </a:schemeClr>
                                  </a:solidFill>
                                  <a:latin typeface="Cambria Math" panose="02040503050406030204" pitchFamily="18" charset="0"/>
                                  <a:ea typeface="MS PGothic" pitchFamily="34" charset="-128"/>
                                </a:rPr>
                                <m:t>−</m:t>
                              </m:r>
                              <m:r>
                                <a:rPr lang="fr-FR" sz="2600" b="1">
                                  <a:solidFill>
                                    <a:schemeClr val="tx2">
                                      <a:lumMod val="50000"/>
                                    </a:schemeClr>
                                  </a:solidFill>
                                  <a:latin typeface="Cambria Math" panose="02040503050406030204" pitchFamily="18" charset="0"/>
                                  <a:ea typeface="MS PGothic" pitchFamily="34" charset="-128"/>
                                </a:rPr>
                                <m:t>𝐤</m:t>
                              </m:r>
                            </m:den>
                          </m:f>
                        </m:den>
                      </m:f>
                      <m:r>
                        <a:rPr lang="fr-FR" sz="2600" b="1">
                          <a:solidFill>
                            <a:schemeClr val="tx2">
                              <a:lumMod val="50000"/>
                            </a:schemeClr>
                          </a:solidFill>
                          <a:latin typeface="Cambria Math" panose="02040503050406030204" pitchFamily="18" charset="0"/>
                          <a:ea typeface="MS PGothic" pitchFamily="34" charset="-128"/>
                        </a:rPr>
                        <m:t>=</m:t>
                      </m:r>
                      <m:r>
                        <a:rPr lang="fr-FR" sz="2600" b="1">
                          <a:solidFill>
                            <a:schemeClr val="tx2">
                              <a:lumMod val="50000"/>
                            </a:schemeClr>
                          </a:solidFill>
                          <a:latin typeface="Cambria Math" panose="02040503050406030204" pitchFamily="18" charset="0"/>
                          <a:ea typeface="MS PGothic" pitchFamily="34" charset="-128"/>
                        </a:rPr>
                        <m:t>𝟖𝟖</m:t>
                      </m:r>
                      <m:r>
                        <a:rPr lang="fr-FR" sz="2600" b="1">
                          <a:solidFill>
                            <a:schemeClr val="tx2">
                              <a:lumMod val="50000"/>
                            </a:schemeClr>
                          </a:solidFill>
                          <a:latin typeface="Cambria Math" panose="02040503050406030204" pitchFamily="18" charset="0"/>
                          <a:ea typeface="MS PGothic" pitchFamily="34" charset="-128"/>
                        </a:rPr>
                        <m:t>,</m:t>
                      </m:r>
                      <m:r>
                        <a:rPr lang="fr-FR" sz="2600" b="1">
                          <a:solidFill>
                            <a:schemeClr val="tx2">
                              <a:lumMod val="50000"/>
                            </a:schemeClr>
                          </a:solidFill>
                          <a:latin typeface="Cambria Math" panose="02040503050406030204" pitchFamily="18" charset="0"/>
                          <a:ea typeface="MS PGothic" pitchFamily="34" charset="-128"/>
                        </a:rPr>
                        <m:t>𝟕𝟖</m:t>
                      </m:r>
                    </m:oMath>
                  </m:oMathPara>
                </a14:m>
                <a:endParaRPr lang="fr-FR" sz="2600" b="1" dirty="0">
                  <a:solidFill>
                    <a:schemeClr val="tx2">
                      <a:lumMod val="50000"/>
                    </a:schemeClr>
                  </a:solidFill>
                  <a:latin typeface="Cambria Math" panose="02040503050406030204" pitchFamily="18" charset="0"/>
                  <a:ea typeface="MS PGothic" pitchFamily="34" charset="-128"/>
                </a:endParaRPr>
              </a:p>
              <a:p>
                <a:pPr algn="just"/>
                <a:r>
                  <a:rPr lang="fr-FR" sz="2600" b="1" dirty="0">
                    <a:latin typeface="Comic Sans MS" panose="030F0702030302020204" pitchFamily="66" charset="0"/>
                    <a:ea typeface="MS PGothic" pitchFamily="34" charset="-128"/>
                  </a:rPr>
                  <a:t>Cette statistique suit une loi de Fisher à respectivement k-1 et n-k degrés de liberté, notée F(k-1,n-k). En lisant la table du F(2,17), on constate que la valeur critique  à 5% est : 3,59 ; ce qui est inférieur à la valeur calculée. On conclut donc qu’au seuil de 5% le revenu d’un ménage dépend de sa zone de résidence. </a:t>
                </a:r>
              </a:p>
              <a:p>
                <a:pPr algn="just"/>
                <a:r>
                  <a:rPr lang="fr-FR" sz="2800" b="1" dirty="0">
                    <a:solidFill>
                      <a:schemeClr val="accent6">
                        <a:lumMod val="75000"/>
                      </a:schemeClr>
                    </a:solidFill>
                    <a:latin typeface="Comic Sans MS" panose="030F0702030302020204" pitchFamily="66" charset="0"/>
                    <a:ea typeface="MS PGothic" pitchFamily="34" charset="-128"/>
                  </a:rPr>
                  <a:t> </a:t>
                </a:r>
              </a:p>
              <a:p>
                <a:endParaRPr lang="fr-FR" sz="2000" b="1" dirty="0">
                  <a:solidFill>
                    <a:schemeClr val="tx2">
                      <a:lumMod val="50000"/>
                    </a:schemeClr>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p:txBody>
          </p:sp>
        </mc:Choice>
        <mc:Fallback xmlns="">
          <p:sp>
            <p:nvSpPr>
              <p:cNvPr id="4" name="Rectangle 3"/>
              <p:cNvSpPr>
                <a:spLocks noRot="1" noChangeAspect="1" noMove="1" noResize="1" noEditPoints="1" noAdjustHandles="1" noChangeArrowheads="1" noChangeShapeType="1" noTextEdit="1"/>
              </p:cNvSpPr>
              <p:nvPr/>
            </p:nvSpPr>
            <p:spPr>
              <a:xfrm>
                <a:off x="187434" y="1035253"/>
                <a:ext cx="8972550" cy="7189276"/>
              </a:xfrm>
              <a:prstGeom prst="rect">
                <a:avLst/>
              </a:prstGeom>
              <a:blipFill>
                <a:blip r:embed="rId2"/>
                <a:stretch>
                  <a:fillRect l="-1223" t="-679" r="-1223"/>
                </a:stretch>
              </a:blipFill>
            </p:spPr>
            <p:txBody>
              <a:bodyPr/>
              <a:lstStyle/>
              <a:p>
                <a:r>
                  <a:rPr lang="fr-FR">
                    <a:noFill/>
                  </a:rPr>
                  <a:t> </a:t>
                </a:r>
              </a:p>
            </p:txBody>
          </p:sp>
        </mc:Fallback>
      </mc:AlternateContent>
      <p:grpSp>
        <p:nvGrpSpPr>
          <p:cNvPr id="4098" name="Group 74933"/>
          <p:cNvGrpSpPr>
            <a:grpSpLocks/>
          </p:cNvGrpSpPr>
          <p:nvPr/>
        </p:nvGrpSpPr>
        <p:grpSpPr bwMode="auto">
          <a:xfrm>
            <a:off x="-42863" y="-1588"/>
            <a:ext cx="517526" cy="320676"/>
            <a:chOff x="0" y="0"/>
            <a:chExt cx="518160" cy="321564"/>
          </a:xfrm>
        </p:grpSpPr>
      </p:grpSp>
      <p:sp>
        <p:nvSpPr>
          <p:cNvPr id="7" name="Title 1">
            <a:extLst>
              <a:ext uri="{FF2B5EF4-FFF2-40B4-BE49-F238E27FC236}">
                <a16:creationId xmlns:a16="http://schemas.microsoft.com/office/drawing/2014/main" id="{E449713C-28FD-46E3-B50E-F718ED5A5D95}"/>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1608681291"/>
      </p:ext>
    </p:extLst>
  </p:cSld>
  <p:clrMapOvr>
    <a:masterClrMapping/>
  </p:clrMapOvr>
  <p:transition spd="slow">
    <p:push di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0627" y="1117178"/>
            <a:ext cx="8972550" cy="2616101"/>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pPr marL="457200" indent="-457200">
              <a:buFont typeface="Wingdings" panose="05000000000000000000" pitchFamily="2" charset="2"/>
              <a:buChar char="ü"/>
            </a:pPr>
            <a:r>
              <a:rPr lang="fr-FR" sz="2800" b="1" dirty="0">
                <a:solidFill>
                  <a:srgbClr val="C00000"/>
                </a:solidFill>
                <a:latin typeface="Comic Sans MS" panose="030F0702030302020204" pitchFamily="66" charset="0"/>
              </a:rPr>
              <a:t>Mise en œuvre de l’ANOVA sur SPSS </a:t>
            </a:r>
          </a:p>
          <a:p>
            <a:r>
              <a:rPr lang="fr-FR" sz="2800" b="1" dirty="0">
                <a:solidFill>
                  <a:srgbClr val="C00000"/>
                </a:solidFill>
                <a:latin typeface="Comic Sans MS" panose="030F0702030302020204" pitchFamily="66" charset="0"/>
              </a:rPr>
              <a:t> </a:t>
            </a:r>
            <a:r>
              <a:rPr lang="fr-FR" sz="2800" b="1" dirty="0">
                <a:solidFill>
                  <a:schemeClr val="accent6">
                    <a:lumMod val="75000"/>
                  </a:schemeClr>
                </a:solidFill>
                <a:latin typeface="Comic Sans MS" panose="030F0702030302020204" pitchFamily="66" charset="0"/>
                <a:ea typeface="MS PGothic" pitchFamily="34" charset="-128"/>
              </a:rPr>
              <a:t> </a:t>
            </a:r>
          </a:p>
          <a:p>
            <a:endParaRPr lang="fr-FR" sz="2000" b="1" dirty="0">
              <a:solidFill>
                <a:schemeClr val="tx2">
                  <a:lumMod val="50000"/>
                </a:schemeClr>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p:txBody>
      </p:sp>
      <p:grpSp>
        <p:nvGrpSpPr>
          <p:cNvPr id="4098" name="Group 74933"/>
          <p:cNvGrpSpPr>
            <a:grpSpLocks/>
          </p:cNvGrpSpPr>
          <p:nvPr/>
        </p:nvGrpSpPr>
        <p:grpSpPr bwMode="auto">
          <a:xfrm>
            <a:off x="-42863" y="-1588"/>
            <a:ext cx="517526" cy="320676"/>
            <a:chOff x="0" y="0"/>
            <a:chExt cx="518160" cy="321564"/>
          </a:xfrm>
        </p:grpSpPr>
      </p:grpSp>
      <p:grpSp>
        <p:nvGrpSpPr>
          <p:cNvPr id="5" name="Group 77154"/>
          <p:cNvGrpSpPr/>
          <p:nvPr/>
        </p:nvGrpSpPr>
        <p:grpSpPr>
          <a:xfrm>
            <a:off x="1475656" y="2196924"/>
            <a:ext cx="5411424" cy="4435472"/>
            <a:chOff x="0" y="0"/>
            <a:chExt cx="5411851" cy="4435827"/>
          </a:xfrm>
        </p:grpSpPr>
        <p:sp>
          <p:nvSpPr>
            <p:cNvPr id="6" name="Rectangle 5"/>
            <p:cNvSpPr/>
            <p:nvPr/>
          </p:nvSpPr>
          <p:spPr>
            <a:xfrm>
              <a:off x="4797298" y="0"/>
              <a:ext cx="50673" cy="224380"/>
            </a:xfrm>
            <a:prstGeom prst="rect">
              <a:avLst/>
            </a:prstGeom>
            <a:ln>
              <a:noFill/>
            </a:ln>
          </p:spPr>
          <p:txBody>
            <a:bodyPr vert="horz" lIns="0" tIns="0" rIns="0" bIns="0" rtlCol="0">
              <a:noAutofit/>
            </a:bodyPr>
            <a:lstStyle/>
            <a:p>
              <a:pPr indent="450850" algn="l">
                <a:lnSpc>
                  <a:spcPct val="115000"/>
                </a:lnSpc>
                <a:spcAft>
                  <a:spcPts val="0"/>
                </a:spcAft>
              </a:pPr>
              <a:r>
                <a:rPr lang="fr-FR" sz="1200">
                  <a:solidFill>
                    <a:srgbClr val="000000"/>
                  </a:solidFill>
                  <a:effectLst/>
                  <a:latin typeface="Times New Roman" panose="02020603050405020304" pitchFamily="18" charset="0"/>
                  <a:ea typeface="Times New Roman" panose="02020603050405020304" pitchFamily="18" charset="0"/>
                </a:rPr>
                <a:t> </a:t>
              </a:r>
            </a:p>
          </p:txBody>
        </p:sp>
        <p:pic>
          <p:nvPicPr>
            <p:cNvPr id="7" name="Picture 4220"/>
            <p:cNvPicPr/>
            <p:nvPr/>
          </p:nvPicPr>
          <p:blipFill>
            <a:blip r:embed="rId2"/>
            <a:stretch>
              <a:fillRect/>
            </a:stretch>
          </p:blipFill>
          <p:spPr>
            <a:xfrm>
              <a:off x="0" y="222529"/>
              <a:ext cx="5360035" cy="1849755"/>
            </a:xfrm>
            <a:prstGeom prst="rect">
              <a:avLst/>
            </a:prstGeom>
          </p:spPr>
        </p:pic>
        <p:sp>
          <p:nvSpPr>
            <p:cNvPr id="8" name="Rectangle 7"/>
            <p:cNvSpPr/>
            <p:nvPr/>
          </p:nvSpPr>
          <p:spPr>
            <a:xfrm>
              <a:off x="5361178" y="1937385"/>
              <a:ext cx="50673" cy="224380"/>
            </a:xfrm>
            <a:prstGeom prst="rect">
              <a:avLst/>
            </a:prstGeom>
            <a:ln>
              <a:noFill/>
            </a:ln>
          </p:spPr>
          <p:txBody>
            <a:bodyPr vert="horz" lIns="0" tIns="0" rIns="0" bIns="0" rtlCol="0">
              <a:noAutofit/>
            </a:bodyPr>
            <a:lstStyle/>
            <a:p>
              <a:pPr indent="450850" algn="l">
                <a:lnSpc>
                  <a:spcPct val="115000"/>
                </a:lnSpc>
                <a:spcAft>
                  <a:spcPts val="0"/>
                </a:spcAft>
              </a:pPr>
              <a:r>
                <a:rPr lang="fr-FR" sz="1200">
                  <a:solidFill>
                    <a:srgbClr val="000000"/>
                  </a:solidFill>
                  <a:effectLst/>
                  <a:latin typeface="Times New Roman" panose="02020603050405020304" pitchFamily="18" charset="0"/>
                  <a:ea typeface="Times New Roman" panose="02020603050405020304" pitchFamily="18" charset="0"/>
                </a:rPr>
                <a:t> </a:t>
              </a:r>
            </a:p>
          </p:txBody>
        </p:sp>
        <p:sp>
          <p:nvSpPr>
            <p:cNvPr id="9" name="Rectangle 8"/>
            <p:cNvSpPr/>
            <p:nvPr/>
          </p:nvSpPr>
          <p:spPr>
            <a:xfrm>
              <a:off x="4954270" y="2126361"/>
              <a:ext cx="50673" cy="224380"/>
            </a:xfrm>
            <a:prstGeom prst="rect">
              <a:avLst/>
            </a:prstGeom>
            <a:ln>
              <a:noFill/>
            </a:ln>
          </p:spPr>
          <p:txBody>
            <a:bodyPr vert="horz" lIns="0" tIns="0" rIns="0" bIns="0" rtlCol="0">
              <a:noAutofit/>
            </a:bodyPr>
            <a:lstStyle/>
            <a:p>
              <a:pPr indent="450850" algn="l">
                <a:lnSpc>
                  <a:spcPct val="115000"/>
                </a:lnSpc>
                <a:spcAft>
                  <a:spcPts val="0"/>
                </a:spcAft>
              </a:pPr>
              <a:r>
                <a:rPr lang="fr-FR" sz="1200">
                  <a:solidFill>
                    <a:srgbClr val="000000"/>
                  </a:solidFill>
                  <a:effectLst/>
                  <a:latin typeface="Times New Roman" panose="02020603050405020304" pitchFamily="18" charset="0"/>
                  <a:ea typeface="Times New Roman" panose="02020603050405020304" pitchFamily="18" charset="0"/>
                </a:rPr>
                <a:t> </a:t>
              </a:r>
            </a:p>
          </p:txBody>
        </p:sp>
        <p:pic>
          <p:nvPicPr>
            <p:cNvPr id="10" name="Picture 4225"/>
            <p:cNvPicPr/>
            <p:nvPr/>
          </p:nvPicPr>
          <p:blipFill>
            <a:blip r:embed="rId3"/>
            <a:stretch>
              <a:fillRect/>
            </a:stretch>
          </p:blipFill>
          <p:spPr>
            <a:xfrm>
              <a:off x="1238885" y="2299615"/>
              <a:ext cx="3707765" cy="1858010"/>
            </a:xfrm>
            <a:prstGeom prst="rect">
              <a:avLst/>
            </a:prstGeom>
          </p:spPr>
        </p:pic>
        <p:sp>
          <p:nvSpPr>
            <p:cNvPr id="11" name="Rectangle 10"/>
            <p:cNvSpPr/>
            <p:nvPr/>
          </p:nvSpPr>
          <p:spPr>
            <a:xfrm>
              <a:off x="4948174" y="4022472"/>
              <a:ext cx="50673" cy="224379"/>
            </a:xfrm>
            <a:prstGeom prst="rect">
              <a:avLst/>
            </a:prstGeom>
            <a:ln>
              <a:noFill/>
            </a:ln>
          </p:spPr>
          <p:txBody>
            <a:bodyPr vert="horz" lIns="0" tIns="0" rIns="0" bIns="0" rtlCol="0">
              <a:noAutofit/>
            </a:bodyPr>
            <a:lstStyle/>
            <a:p>
              <a:pPr indent="450850" algn="l">
                <a:lnSpc>
                  <a:spcPct val="115000"/>
                </a:lnSpc>
                <a:spcAft>
                  <a:spcPts val="0"/>
                </a:spcAft>
              </a:pPr>
              <a:r>
                <a:rPr lang="fr-FR" sz="1200">
                  <a:solidFill>
                    <a:srgbClr val="000000"/>
                  </a:solidFill>
                  <a:effectLst/>
                  <a:latin typeface="Times New Roman" panose="02020603050405020304" pitchFamily="18" charset="0"/>
                  <a:ea typeface="Times New Roman" panose="02020603050405020304" pitchFamily="18" charset="0"/>
                </a:rPr>
                <a:t> </a:t>
              </a:r>
            </a:p>
          </p:txBody>
        </p:sp>
        <p:sp>
          <p:nvSpPr>
            <p:cNvPr id="12" name="Rectangle 11"/>
            <p:cNvSpPr/>
            <p:nvPr/>
          </p:nvSpPr>
          <p:spPr>
            <a:xfrm>
              <a:off x="1056386" y="4211448"/>
              <a:ext cx="50673" cy="224379"/>
            </a:xfrm>
            <a:prstGeom prst="rect">
              <a:avLst/>
            </a:prstGeom>
            <a:ln>
              <a:noFill/>
            </a:ln>
          </p:spPr>
          <p:txBody>
            <a:bodyPr vert="horz" lIns="0" tIns="0" rIns="0" bIns="0" rtlCol="0">
              <a:noAutofit/>
            </a:bodyPr>
            <a:lstStyle/>
            <a:p>
              <a:pPr indent="450850" algn="l">
                <a:lnSpc>
                  <a:spcPct val="115000"/>
                </a:lnSpc>
                <a:spcAft>
                  <a:spcPts val="0"/>
                </a:spcAft>
              </a:pPr>
              <a:r>
                <a:rPr lang="fr-FR" sz="1200">
                  <a:solidFill>
                    <a:srgbClr val="000000"/>
                  </a:solidFill>
                  <a:effectLst/>
                  <a:latin typeface="Times New Roman" panose="02020603050405020304" pitchFamily="18" charset="0"/>
                  <a:ea typeface="Times New Roman" panose="02020603050405020304" pitchFamily="18" charset="0"/>
                </a:rPr>
                <a:t> </a:t>
              </a:r>
            </a:p>
          </p:txBody>
        </p:sp>
      </p:grpSp>
      <p:sp>
        <p:nvSpPr>
          <p:cNvPr id="15" name="Title 1">
            <a:extLst>
              <a:ext uri="{FF2B5EF4-FFF2-40B4-BE49-F238E27FC236}">
                <a16:creationId xmlns:a16="http://schemas.microsoft.com/office/drawing/2014/main" id="{24C80CC6-78B7-4802-85AD-A690CCF60276}"/>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2844580167"/>
      </p:ext>
    </p:extLst>
  </p:cSld>
  <p:clrMapOvr>
    <a:masterClrMapping/>
  </p:clrMapOvr>
  <p:transition spd="slow">
    <p:push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5725" y="1759860"/>
            <a:ext cx="8972550" cy="3970318"/>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r>
              <a:rPr lang="fr-FR" sz="2800" b="1" dirty="0">
                <a:solidFill>
                  <a:schemeClr val="accent6">
                    <a:lumMod val="75000"/>
                  </a:schemeClr>
                </a:solidFill>
                <a:latin typeface="Comic Sans MS" panose="030F0702030302020204" pitchFamily="66" charset="0"/>
                <a:ea typeface="MS PGothic" pitchFamily="34" charset="-128"/>
              </a:rPr>
              <a:t> </a:t>
            </a:r>
          </a:p>
          <a:p>
            <a:pPr marL="457200" indent="-457200">
              <a:buFont typeface="Wingdings" panose="05000000000000000000" pitchFamily="2" charset="2"/>
              <a:buChar char="ü"/>
            </a:pPr>
            <a:r>
              <a:rPr lang="fr-FR" sz="2800" b="1" dirty="0">
                <a:solidFill>
                  <a:srgbClr val="C00000"/>
                </a:solidFill>
                <a:latin typeface="Comic Sans MS" panose="030F0702030302020204" pitchFamily="66" charset="0"/>
              </a:rPr>
              <a:t>Etude des dépendances entre deux variables quantitatives </a:t>
            </a:r>
          </a:p>
          <a:p>
            <a:endParaRPr lang="fr-FR" sz="2600" b="1" dirty="0">
              <a:solidFill>
                <a:schemeClr val="accent6">
                  <a:lumMod val="75000"/>
                </a:schemeClr>
              </a:solidFill>
              <a:latin typeface="Comic Sans MS" panose="030F0702030302020204" pitchFamily="66" charset="0"/>
              <a:ea typeface="MS PGothic" pitchFamily="34" charset="-128"/>
            </a:endParaRPr>
          </a:p>
          <a:p>
            <a:pPr marL="742950" lvl="1" indent="-285750">
              <a:buFont typeface="Wingdings" panose="05000000000000000000" pitchFamily="2" charset="2"/>
              <a:buChar char="§"/>
            </a:pPr>
            <a:r>
              <a:rPr lang="fr-FR" sz="2600" b="1" dirty="0">
                <a:latin typeface="Comic Sans MS" panose="030F0702030302020204" pitchFamily="66" charset="0"/>
                <a:ea typeface="MS PGothic" pitchFamily="34" charset="-128"/>
              </a:rPr>
              <a:t>Nuage de points</a:t>
            </a:r>
          </a:p>
          <a:p>
            <a:pPr marL="742950" lvl="1" indent="-285750">
              <a:buFont typeface="Wingdings" panose="05000000000000000000" pitchFamily="2" charset="2"/>
              <a:buChar char="§"/>
            </a:pPr>
            <a:r>
              <a:rPr lang="fr-FR" sz="2600" b="1" dirty="0">
                <a:latin typeface="Comic Sans MS" panose="030F0702030302020204" pitchFamily="66" charset="0"/>
                <a:ea typeface="MS PGothic" pitchFamily="34" charset="-128"/>
              </a:rPr>
              <a:t>Coefficient linéaire de Karl Pearson</a:t>
            </a:r>
          </a:p>
          <a:p>
            <a:pPr marL="742950" lvl="1" indent="-285750">
              <a:buFont typeface="Wingdings" panose="05000000000000000000" pitchFamily="2" charset="2"/>
              <a:buChar char="§"/>
            </a:pPr>
            <a:r>
              <a:rPr lang="fr-FR" sz="2600" b="1" dirty="0">
                <a:latin typeface="Comic Sans MS" panose="030F0702030302020204" pitchFamily="66" charset="0"/>
                <a:ea typeface="MS PGothic" pitchFamily="34" charset="-128"/>
              </a:rPr>
              <a:t>Coefficient de corrélation des rangs de Spearman</a:t>
            </a: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p:txBody>
      </p:sp>
      <p:grpSp>
        <p:nvGrpSpPr>
          <p:cNvPr id="4098" name="Group 74933"/>
          <p:cNvGrpSpPr>
            <a:grpSpLocks/>
          </p:cNvGrpSpPr>
          <p:nvPr/>
        </p:nvGrpSpPr>
        <p:grpSpPr bwMode="auto">
          <a:xfrm>
            <a:off x="-42863" y="-1588"/>
            <a:ext cx="517526" cy="320676"/>
            <a:chOff x="0" y="0"/>
            <a:chExt cx="518160" cy="321564"/>
          </a:xfrm>
        </p:grpSpPr>
      </p:grpSp>
      <p:sp>
        <p:nvSpPr>
          <p:cNvPr id="7" name="Title 1">
            <a:extLst>
              <a:ext uri="{FF2B5EF4-FFF2-40B4-BE49-F238E27FC236}">
                <a16:creationId xmlns:a16="http://schemas.microsoft.com/office/drawing/2014/main" id="{088DDA65-71B5-44EB-95A7-D1F75939874A}"/>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2887487187"/>
      </p:ext>
    </p:extLst>
  </p:cSld>
  <p:clrMapOvr>
    <a:masterClrMapping/>
  </p:clrMapOvr>
  <p:transition spd="slow">
    <p:push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D0676F-513D-3B4C-4162-E49676C3C84C}"/>
              </a:ext>
            </a:extLst>
          </p:cNvPr>
          <p:cNvSpPr>
            <a:spLocks noGrp="1"/>
          </p:cNvSpPr>
          <p:nvPr>
            <p:ph type="title"/>
          </p:nvPr>
        </p:nvSpPr>
        <p:spPr>
          <a:xfrm>
            <a:off x="381000" y="230189"/>
            <a:ext cx="8382000" cy="606524"/>
          </a:xfrm>
        </p:spPr>
        <p:txBody>
          <a:bodyPr/>
          <a:lstStyle/>
          <a:p>
            <a:pPr algn="ctr"/>
            <a:r>
              <a:rPr lang="fr-FR" dirty="0"/>
              <a:t>EXERCICES</a:t>
            </a:r>
          </a:p>
        </p:txBody>
      </p:sp>
      <p:sp>
        <p:nvSpPr>
          <p:cNvPr id="3" name="Espace réservé du texte 2">
            <a:extLst>
              <a:ext uri="{FF2B5EF4-FFF2-40B4-BE49-F238E27FC236}">
                <a16:creationId xmlns:a16="http://schemas.microsoft.com/office/drawing/2014/main" id="{520BC099-E5A7-610F-F09D-8138BF92EB99}"/>
              </a:ext>
            </a:extLst>
          </p:cNvPr>
          <p:cNvSpPr>
            <a:spLocks noGrp="1"/>
          </p:cNvSpPr>
          <p:nvPr>
            <p:ph type="body" sz="quarter" idx="10"/>
          </p:nvPr>
        </p:nvSpPr>
        <p:spPr>
          <a:xfrm>
            <a:off x="661592" y="1052736"/>
            <a:ext cx="8101408" cy="2690480"/>
          </a:xfrm>
        </p:spPr>
        <p:txBody>
          <a:bodyPr/>
          <a:lstStyle/>
          <a:p>
            <a:pPr marL="0" indent="0">
              <a:buNone/>
            </a:pPr>
            <a:r>
              <a:rPr lang="en-US" sz="1800" dirty="0">
                <a:effectLst/>
                <a:latin typeface="Times New Roman" panose="02020603050405020304" pitchFamily="18" charset="0"/>
                <a:ea typeface="Times New Roman" panose="02020603050405020304" pitchFamily="18" charset="0"/>
              </a:rPr>
              <a:t>1. VRAI</a:t>
            </a:r>
            <a:endParaRPr lang="fr-FR" sz="1800" dirty="0">
              <a:effectLst/>
              <a:latin typeface="Times New Roman" panose="02020603050405020304" pitchFamily="18" charset="0"/>
              <a:ea typeface="Times New Roman" panose="02020603050405020304" pitchFamily="18" charset="0"/>
            </a:endParaRPr>
          </a:p>
          <a:p>
            <a:pPr marL="0" indent="0">
              <a:lnSpc>
                <a:spcPts val="700"/>
              </a:lnSpc>
              <a:spcBef>
                <a:spcPts val="35"/>
              </a:spcBef>
              <a:buNone/>
            </a:pPr>
            <a:r>
              <a:rPr lang="en-US" sz="1800" dirty="0">
                <a:effectLst/>
                <a:latin typeface="Times New Roman" panose="02020603050405020304" pitchFamily="18" charset="0"/>
                <a:ea typeface="Times New Roman" panose="02020603050405020304" pitchFamily="18" charset="0"/>
              </a:rPr>
              <a:t> </a:t>
            </a:r>
            <a:endParaRPr lang="fr-FR" sz="1800" dirty="0">
              <a:effectLst/>
              <a:latin typeface="Times New Roman" panose="02020603050405020304" pitchFamily="18" charset="0"/>
              <a:ea typeface="Times New Roman" panose="02020603050405020304" pitchFamily="18" charset="0"/>
            </a:endParaRPr>
          </a:p>
          <a:p>
            <a:pPr marL="0" indent="0">
              <a:buNone/>
            </a:pPr>
            <a:r>
              <a:rPr lang="en-US" sz="1800" dirty="0">
                <a:effectLst/>
                <a:latin typeface="Times New Roman" panose="02020603050405020304" pitchFamily="18" charset="0"/>
                <a:ea typeface="Times New Roman" panose="02020603050405020304" pitchFamily="18" charset="0"/>
              </a:rPr>
              <a:t>2. </a:t>
            </a:r>
            <a:r>
              <a:rPr lang="en-US" sz="1800" spc="10" dirty="0">
                <a:effectLst/>
                <a:latin typeface="Times New Roman" panose="02020603050405020304" pitchFamily="18" charset="0"/>
                <a:ea typeface="Times New Roman" panose="02020603050405020304" pitchFamily="18" charset="0"/>
              </a:rPr>
              <a:t> </a:t>
            </a:r>
            <a:r>
              <a:rPr lang="en-US" sz="1800" spc="-120" dirty="0">
                <a:effectLst/>
                <a:latin typeface="Times New Roman" panose="02020603050405020304" pitchFamily="18" charset="0"/>
                <a:ea typeface="Times New Roman" panose="02020603050405020304" pitchFamily="18" charset="0"/>
              </a:rPr>
              <a:t>F</a:t>
            </a:r>
            <a:r>
              <a:rPr lang="en-US" sz="1800" spc="-30" dirty="0">
                <a:effectLst/>
                <a:latin typeface="Times New Roman" panose="02020603050405020304" pitchFamily="18" charset="0"/>
                <a:ea typeface="Times New Roman" panose="02020603050405020304" pitchFamily="18" charset="0"/>
              </a:rPr>
              <a:t>A</a:t>
            </a:r>
            <a:r>
              <a:rPr lang="en-US" sz="1800" dirty="0">
                <a:effectLst/>
                <a:latin typeface="Times New Roman" panose="02020603050405020304" pitchFamily="18" charset="0"/>
                <a:ea typeface="Times New Roman" panose="02020603050405020304" pitchFamily="18" charset="0"/>
              </a:rPr>
              <a:t>UX</a:t>
            </a:r>
            <a:endParaRPr lang="fr-FR" sz="1800" dirty="0">
              <a:effectLst/>
              <a:latin typeface="Times New Roman" panose="02020603050405020304" pitchFamily="18" charset="0"/>
              <a:ea typeface="Times New Roman" panose="02020603050405020304" pitchFamily="18" charset="0"/>
            </a:endParaRPr>
          </a:p>
          <a:p>
            <a:pPr marL="0" indent="0">
              <a:lnSpc>
                <a:spcPts val="700"/>
              </a:lnSpc>
              <a:spcBef>
                <a:spcPts val="35"/>
              </a:spcBef>
              <a:buNone/>
            </a:pPr>
            <a:r>
              <a:rPr lang="en-US" sz="1800" dirty="0">
                <a:effectLst/>
                <a:latin typeface="Times New Roman" panose="02020603050405020304" pitchFamily="18" charset="0"/>
                <a:ea typeface="Times New Roman" panose="02020603050405020304" pitchFamily="18" charset="0"/>
              </a:rPr>
              <a:t> </a:t>
            </a:r>
            <a:endParaRPr lang="fr-FR" sz="1800" dirty="0">
              <a:effectLst/>
              <a:latin typeface="Times New Roman" panose="02020603050405020304" pitchFamily="18" charset="0"/>
              <a:ea typeface="Times New Roman" panose="02020603050405020304" pitchFamily="18" charset="0"/>
            </a:endParaRPr>
          </a:p>
          <a:p>
            <a:pPr marL="0" indent="0">
              <a:buNone/>
            </a:pPr>
            <a:r>
              <a:rPr lang="en-US" sz="1800" dirty="0">
                <a:effectLst/>
                <a:latin typeface="Times New Roman" panose="02020603050405020304" pitchFamily="18" charset="0"/>
                <a:ea typeface="Times New Roman" panose="02020603050405020304" pitchFamily="18" charset="0"/>
              </a:rPr>
              <a:t>3. </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VRAI</a:t>
            </a:r>
            <a:endParaRPr lang="fr-FR" sz="1800" dirty="0">
              <a:effectLst/>
              <a:latin typeface="Times New Roman" panose="02020603050405020304" pitchFamily="18" charset="0"/>
              <a:ea typeface="Times New Roman" panose="02020603050405020304" pitchFamily="18" charset="0"/>
            </a:endParaRPr>
          </a:p>
          <a:p>
            <a:pPr marL="0" indent="0">
              <a:lnSpc>
                <a:spcPts val="700"/>
              </a:lnSpc>
              <a:spcBef>
                <a:spcPts val="35"/>
              </a:spcBef>
              <a:buNone/>
            </a:pPr>
            <a:r>
              <a:rPr lang="en-US" sz="1800" dirty="0">
                <a:effectLst/>
                <a:latin typeface="Times New Roman" panose="02020603050405020304" pitchFamily="18" charset="0"/>
                <a:ea typeface="Times New Roman" panose="02020603050405020304" pitchFamily="18" charset="0"/>
              </a:rPr>
              <a:t> </a:t>
            </a:r>
            <a:endParaRPr lang="fr-FR" sz="1800" dirty="0">
              <a:effectLst/>
              <a:latin typeface="Times New Roman" panose="02020603050405020304" pitchFamily="18" charset="0"/>
              <a:ea typeface="Times New Roman" panose="02020603050405020304" pitchFamily="18" charset="0"/>
            </a:endParaRPr>
          </a:p>
          <a:p>
            <a:pPr marL="0" indent="0">
              <a:buNone/>
            </a:pPr>
            <a:r>
              <a:rPr lang="en-US" sz="1800" dirty="0">
                <a:effectLst/>
                <a:latin typeface="Times New Roman" panose="02020603050405020304" pitchFamily="18" charset="0"/>
                <a:ea typeface="Times New Roman" panose="02020603050405020304" pitchFamily="18" charset="0"/>
              </a:rPr>
              <a:t>4. </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VRAI</a:t>
            </a:r>
            <a:endParaRPr lang="fr-FR" sz="1800" dirty="0">
              <a:effectLst/>
              <a:latin typeface="Times New Roman" panose="02020603050405020304" pitchFamily="18" charset="0"/>
              <a:ea typeface="Times New Roman" panose="02020603050405020304" pitchFamily="18" charset="0"/>
            </a:endParaRPr>
          </a:p>
          <a:p>
            <a:pPr marL="0" indent="0">
              <a:lnSpc>
                <a:spcPts val="700"/>
              </a:lnSpc>
              <a:spcBef>
                <a:spcPts val="35"/>
              </a:spcBef>
              <a:buNone/>
            </a:pPr>
            <a:r>
              <a:rPr lang="en-US" sz="1800" dirty="0">
                <a:effectLst/>
                <a:latin typeface="Times New Roman" panose="02020603050405020304" pitchFamily="18" charset="0"/>
                <a:ea typeface="Times New Roman" panose="02020603050405020304" pitchFamily="18" charset="0"/>
              </a:rPr>
              <a:t> </a:t>
            </a:r>
            <a:endParaRPr lang="fr-FR" sz="1800" dirty="0">
              <a:effectLst/>
              <a:latin typeface="Times New Roman" panose="02020603050405020304" pitchFamily="18" charset="0"/>
              <a:ea typeface="Times New Roman" panose="02020603050405020304" pitchFamily="18" charset="0"/>
            </a:endParaRPr>
          </a:p>
          <a:p>
            <a:pPr marL="0" indent="0">
              <a:buNone/>
            </a:pPr>
            <a:r>
              <a:rPr lang="en-US" sz="1800" dirty="0">
                <a:effectLst/>
                <a:latin typeface="Times New Roman" panose="02020603050405020304" pitchFamily="18" charset="0"/>
                <a:ea typeface="Times New Roman" panose="02020603050405020304" pitchFamily="18" charset="0"/>
              </a:rPr>
              <a:t>5. </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VRAI</a:t>
            </a:r>
            <a:endParaRPr lang="fr-FR" sz="1800" dirty="0">
              <a:effectLst/>
              <a:latin typeface="Times New Roman" panose="02020603050405020304" pitchFamily="18" charset="0"/>
              <a:ea typeface="Times New Roman" panose="02020603050405020304" pitchFamily="18" charset="0"/>
            </a:endParaRPr>
          </a:p>
          <a:p>
            <a:pPr marL="0" indent="0">
              <a:lnSpc>
                <a:spcPts val="700"/>
              </a:lnSpc>
              <a:spcBef>
                <a:spcPts val="35"/>
              </a:spcBef>
              <a:buNone/>
            </a:pPr>
            <a:r>
              <a:rPr lang="en-US" sz="1800" dirty="0">
                <a:effectLst/>
                <a:latin typeface="Times New Roman" panose="02020603050405020304" pitchFamily="18" charset="0"/>
                <a:ea typeface="Times New Roman" panose="02020603050405020304" pitchFamily="18" charset="0"/>
              </a:rPr>
              <a:t> </a:t>
            </a:r>
            <a:endParaRPr lang="fr-FR" sz="1800" dirty="0">
              <a:effectLst/>
              <a:latin typeface="Times New Roman" panose="02020603050405020304" pitchFamily="18" charset="0"/>
              <a:ea typeface="Times New Roman" panose="02020603050405020304" pitchFamily="18" charset="0"/>
            </a:endParaRPr>
          </a:p>
          <a:p>
            <a:pPr marL="0" indent="0">
              <a:buNone/>
            </a:pPr>
            <a:r>
              <a:rPr lang="en-US" sz="1800" dirty="0">
                <a:effectLst/>
                <a:latin typeface="Times New Roman" panose="02020603050405020304" pitchFamily="18" charset="0"/>
                <a:ea typeface="Times New Roman" panose="02020603050405020304" pitchFamily="18" charset="0"/>
              </a:rPr>
              <a:t>6. </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VRAI</a:t>
            </a:r>
            <a:endParaRPr lang="fr-FR" sz="1800" dirty="0">
              <a:effectLst/>
              <a:latin typeface="Times New Roman" panose="02020603050405020304" pitchFamily="18" charset="0"/>
              <a:ea typeface="Times New Roman" panose="02020603050405020304" pitchFamily="18" charset="0"/>
            </a:endParaRPr>
          </a:p>
          <a:p>
            <a:pPr marL="0" marR="868680" indent="0" algn="just">
              <a:spcBef>
                <a:spcPts val="175"/>
              </a:spcBef>
              <a:spcAft>
                <a:spcPts val="0"/>
              </a:spcAft>
              <a:buNone/>
            </a:pPr>
            <a:endParaRPr lang="fr-FR" dirty="0"/>
          </a:p>
        </p:txBody>
      </p:sp>
    </p:spTree>
    <p:extLst>
      <p:ext uri="{BB962C8B-B14F-4D97-AF65-F5344CB8AC3E}">
        <p14:creationId xmlns:p14="http://schemas.microsoft.com/office/powerpoint/2010/main" val="3728070355"/>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171450" y="1556792"/>
                <a:ext cx="8801100" cy="5491375"/>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r>
                  <a:rPr lang="fr-FR" sz="2800" b="1" dirty="0">
                    <a:solidFill>
                      <a:srgbClr val="FF0000"/>
                    </a:solidFill>
                    <a:latin typeface="Comic Sans MS" panose="030F0702030302020204" pitchFamily="66" charset="0"/>
                    <a:ea typeface="MS PGothic" pitchFamily="34" charset="-128"/>
                  </a:rPr>
                  <a:t>Tableau des effectifs théoriques:</a:t>
                </a:r>
              </a:p>
              <a:p>
                <a:endParaRPr lang="fr-FR" sz="2800" b="1" dirty="0">
                  <a:solidFill>
                    <a:srgbClr val="FF0000"/>
                  </a:solidFill>
                  <a:latin typeface="Comic Sans MS" panose="030F0702030302020204" pitchFamily="66" charset="0"/>
                  <a:ea typeface="MS PGothic" pitchFamily="34" charset="-128"/>
                </a:endParaRPr>
              </a:p>
              <a:p>
                <a:endParaRPr lang="fr-FR" sz="2800" b="1" dirty="0">
                  <a:solidFill>
                    <a:srgbClr val="FF0000"/>
                  </a:solidFill>
                  <a:latin typeface="Comic Sans MS" panose="030F0702030302020204" pitchFamily="66" charset="0"/>
                  <a:ea typeface="MS PGothic" pitchFamily="34" charset="-128"/>
                </a:endParaRPr>
              </a:p>
              <a:p>
                <a:endParaRPr lang="fr-FR" sz="2800" b="1" dirty="0">
                  <a:solidFill>
                    <a:srgbClr val="FF0000"/>
                  </a:solidFill>
                  <a:latin typeface="Comic Sans MS" panose="030F0702030302020204" pitchFamily="66" charset="0"/>
                  <a:ea typeface="MS PGothic" pitchFamily="34" charset="-128"/>
                </a:endParaRPr>
              </a:p>
              <a:p>
                <a:endParaRPr lang="fr-FR" sz="2800" b="1" dirty="0">
                  <a:solidFill>
                    <a:srgbClr val="FF0000"/>
                  </a:solidFill>
                  <a:latin typeface="Comic Sans MS" panose="030F0702030302020204" pitchFamily="66" charset="0"/>
                  <a:ea typeface="MS PGothic" pitchFamily="34" charset="-128"/>
                </a:endParaRPr>
              </a:p>
              <a:p>
                <a:pPr/>
                <a14:m>
                  <m:oMathPara xmlns:m="http://schemas.openxmlformats.org/officeDocument/2006/math">
                    <m:oMathParaPr>
                      <m:jc m:val="centerGroup"/>
                    </m:oMathParaPr>
                    <m:oMath xmlns:m="http://schemas.openxmlformats.org/officeDocument/2006/math">
                      <m:sSup>
                        <m:sSupPr>
                          <m:ctrlPr>
                            <a:rPr lang="fr-FR" sz="1600" b="1" i="1" smtClean="0">
                              <a:solidFill>
                                <a:srgbClr val="FF0000"/>
                              </a:solidFill>
                              <a:latin typeface="Cambria Math" panose="02040503050406030204" pitchFamily="18" charset="0"/>
                              <a:ea typeface="MS PGothic" pitchFamily="34" charset="-128"/>
                            </a:rPr>
                          </m:ctrlPr>
                        </m:sSupPr>
                        <m:e>
                          <m:r>
                            <a:rPr lang="fr-FR" sz="1600" b="1" i="1" smtClean="0">
                              <a:solidFill>
                                <a:srgbClr val="FF0000"/>
                              </a:solidFill>
                              <a:latin typeface="Cambria Math" panose="02040503050406030204" pitchFamily="18" charset="0"/>
                              <a:ea typeface="Cambria Math" panose="02040503050406030204" pitchFamily="18" charset="0"/>
                            </a:rPr>
                            <m:t>𝝌</m:t>
                          </m:r>
                        </m:e>
                        <m:sup>
                          <m:r>
                            <a:rPr lang="fr-FR" sz="1600" b="1" i="1" smtClean="0">
                              <a:solidFill>
                                <a:srgbClr val="FF0000"/>
                              </a:solidFill>
                              <a:latin typeface="Cambria Math" panose="02040503050406030204" pitchFamily="18" charset="0"/>
                              <a:ea typeface="MS PGothic" pitchFamily="34" charset="-128"/>
                            </a:rPr>
                            <m:t>𝟐</m:t>
                          </m:r>
                        </m:sup>
                      </m:sSup>
                      <m:r>
                        <a:rPr lang="fr-FR" sz="1600" b="1" i="1" smtClean="0">
                          <a:solidFill>
                            <a:srgbClr val="FF0000"/>
                          </a:solidFill>
                          <a:latin typeface="Cambria Math" panose="02040503050406030204" pitchFamily="18" charset="0"/>
                          <a:ea typeface="MS PGothic" pitchFamily="34" charset="-128"/>
                        </a:rPr>
                        <m:t>=</m:t>
                      </m:r>
                      <m:f>
                        <m:fPr>
                          <m:ctrlPr>
                            <a:rPr lang="fr-FR" sz="1600" b="1" i="1" smtClean="0">
                              <a:solidFill>
                                <a:srgbClr val="FF0000"/>
                              </a:solidFill>
                              <a:latin typeface="Cambria Math" panose="02040503050406030204" pitchFamily="18" charset="0"/>
                              <a:ea typeface="MS PGothic" pitchFamily="34" charset="-128"/>
                            </a:rPr>
                          </m:ctrlPr>
                        </m:fPr>
                        <m:num>
                          <m:sSup>
                            <m:sSupPr>
                              <m:ctrlPr>
                                <a:rPr lang="fr-FR" sz="1600" b="1" i="1" smtClean="0">
                                  <a:solidFill>
                                    <a:srgbClr val="FF0000"/>
                                  </a:solidFill>
                                  <a:latin typeface="Cambria Math" panose="02040503050406030204" pitchFamily="18" charset="0"/>
                                  <a:ea typeface="MS PGothic" pitchFamily="34" charset="-128"/>
                                </a:rPr>
                              </m:ctrlPr>
                            </m:sSupPr>
                            <m:e>
                              <m:r>
                                <a:rPr lang="fr-FR" sz="1600" b="1" i="1" smtClean="0">
                                  <a:solidFill>
                                    <a:srgbClr val="FF0000"/>
                                  </a:solidFill>
                                  <a:latin typeface="Cambria Math" panose="02040503050406030204" pitchFamily="18" charset="0"/>
                                  <a:ea typeface="MS PGothic" pitchFamily="34" charset="-128"/>
                                </a:rPr>
                                <m:t>(</m:t>
                              </m:r>
                              <m:r>
                                <a:rPr lang="fr-FR" sz="1600" b="1" i="1" smtClean="0">
                                  <a:solidFill>
                                    <a:srgbClr val="FF0000"/>
                                  </a:solidFill>
                                  <a:latin typeface="Cambria Math" panose="02040503050406030204" pitchFamily="18" charset="0"/>
                                  <a:ea typeface="MS PGothic" pitchFamily="34" charset="-128"/>
                                </a:rPr>
                                <m:t>𝟑𝟒𝟑</m:t>
                              </m:r>
                              <m:r>
                                <a:rPr lang="fr-FR" sz="1600" b="1" i="1" smtClean="0">
                                  <a:solidFill>
                                    <a:srgbClr val="FF0000"/>
                                  </a:solidFill>
                                  <a:latin typeface="Cambria Math" panose="02040503050406030204" pitchFamily="18" charset="0"/>
                                  <a:ea typeface="MS PGothic" pitchFamily="34" charset="-128"/>
                                </a:rPr>
                                <m:t>−</m:t>
                              </m:r>
                              <m:r>
                                <a:rPr lang="fr-FR" sz="1600" b="1" i="1" smtClean="0">
                                  <a:solidFill>
                                    <a:srgbClr val="FF0000"/>
                                  </a:solidFill>
                                  <a:latin typeface="Cambria Math" panose="02040503050406030204" pitchFamily="18" charset="0"/>
                                  <a:ea typeface="MS PGothic" pitchFamily="34" charset="-128"/>
                                </a:rPr>
                                <m:t>𝟑𝟕𝟑</m:t>
                              </m:r>
                              <m:r>
                                <a:rPr lang="fr-FR" sz="1600" b="1" i="1" smtClean="0">
                                  <a:solidFill>
                                    <a:srgbClr val="FF0000"/>
                                  </a:solidFill>
                                  <a:latin typeface="Cambria Math" panose="02040503050406030204" pitchFamily="18" charset="0"/>
                                  <a:ea typeface="MS PGothic" pitchFamily="34" charset="-128"/>
                                </a:rPr>
                                <m:t>,</m:t>
                              </m:r>
                              <m:r>
                                <a:rPr lang="fr-FR" sz="1600" b="1" i="1" smtClean="0">
                                  <a:solidFill>
                                    <a:srgbClr val="FF0000"/>
                                  </a:solidFill>
                                  <a:latin typeface="Cambria Math" panose="02040503050406030204" pitchFamily="18" charset="0"/>
                                  <a:ea typeface="MS PGothic" pitchFamily="34" charset="-128"/>
                                </a:rPr>
                                <m:t>𝟓𝟓</m:t>
                              </m:r>
                              <m:r>
                                <a:rPr lang="fr-FR" sz="1600" b="1" i="1" smtClean="0">
                                  <a:solidFill>
                                    <a:srgbClr val="FF0000"/>
                                  </a:solidFill>
                                  <a:latin typeface="Cambria Math" panose="02040503050406030204" pitchFamily="18" charset="0"/>
                                  <a:ea typeface="MS PGothic" pitchFamily="34" charset="-128"/>
                                </a:rPr>
                                <m:t>)</m:t>
                              </m:r>
                            </m:e>
                            <m:sup>
                              <m:r>
                                <a:rPr lang="fr-FR" sz="1600" b="1" i="1" smtClean="0">
                                  <a:solidFill>
                                    <a:srgbClr val="FF0000"/>
                                  </a:solidFill>
                                  <a:latin typeface="Cambria Math" panose="02040503050406030204" pitchFamily="18" charset="0"/>
                                  <a:ea typeface="MS PGothic" pitchFamily="34" charset="-128"/>
                                </a:rPr>
                                <m:t>𝟐</m:t>
                              </m:r>
                            </m:sup>
                          </m:sSup>
                        </m:num>
                        <m:den>
                          <m:r>
                            <a:rPr lang="fr-FR" sz="1600" b="1" i="1" smtClean="0">
                              <a:solidFill>
                                <a:srgbClr val="FF0000"/>
                              </a:solidFill>
                              <a:latin typeface="Cambria Math" panose="02040503050406030204" pitchFamily="18" charset="0"/>
                              <a:ea typeface="MS PGothic" pitchFamily="34" charset="-128"/>
                            </a:rPr>
                            <m:t>𝟑𝟕𝟑</m:t>
                          </m:r>
                          <m:r>
                            <a:rPr lang="fr-FR" sz="1600" b="1" i="1" smtClean="0">
                              <a:solidFill>
                                <a:srgbClr val="FF0000"/>
                              </a:solidFill>
                              <a:latin typeface="Cambria Math" panose="02040503050406030204" pitchFamily="18" charset="0"/>
                              <a:ea typeface="MS PGothic" pitchFamily="34" charset="-128"/>
                            </a:rPr>
                            <m:t>,</m:t>
                          </m:r>
                          <m:r>
                            <a:rPr lang="fr-FR" sz="1600" b="1" i="1" smtClean="0">
                              <a:solidFill>
                                <a:srgbClr val="FF0000"/>
                              </a:solidFill>
                              <a:latin typeface="Cambria Math" panose="02040503050406030204" pitchFamily="18" charset="0"/>
                              <a:ea typeface="MS PGothic" pitchFamily="34" charset="-128"/>
                            </a:rPr>
                            <m:t>𝟓𝟓</m:t>
                          </m:r>
                        </m:den>
                      </m:f>
                      <m:r>
                        <a:rPr lang="fr-FR" sz="1600" b="1" i="1" smtClean="0">
                          <a:solidFill>
                            <a:srgbClr val="FF0000"/>
                          </a:solidFill>
                          <a:latin typeface="Cambria Math" panose="02040503050406030204" pitchFamily="18" charset="0"/>
                          <a:ea typeface="MS PGothic" pitchFamily="34" charset="-128"/>
                        </a:rPr>
                        <m:t>+</m:t>
                      </m:r>
                      <m:f>
                        <m:fPr>
                          <m:ctrlPr>
                            <a:rPr lang="fr-FR" sz="1600" b="1" i="1" smtClean="0">
                              <a:solidFill>
                                <a:srgbClr val="FF0000"/>
                              </a:solidFill>
                              <a:latin typeface="Cambria Math" panose="02040503050406030204" pitchFamily="18" charset="0"/>
                              <a:ea typeface="MS PGothic" pitchFamily="34" charset="-128"/>
                            </a:rPr>
                          </m:ctrlPr>
                        </m:fPr>
                        <m:num>
                          <m:sSup>
                            <m:sSupPr>
                              <m:ctrlPr>
                                <a:rPr lang="fr-FR" sz="1600" b="1" i="1">
                                  <a:solidFill>
                                    <a:srgbClr val="FF0000"/>
                                  </a:solidFill>
                                  <a:latin typeface="Cambria Math" panose="02040503050406030204" pitchFamily="18" charset="0"/>
                                  <a:ea typeface="MS PGothic" pitchFamily="34" charset="-128"/>
                                </a:rPr>
                              </m:ctrlPr>
                            </m:sSupPr>
                            <m:e>
                              <m:r>
                                <a:rPr lang="fr-FR" sz="1600" b="1" i="1">
                                  <a:solidFill>
                                    <a:srgbClr val="FF0000"/>
                                  </a:solidFill>
                                  <a:latin typeface="Cambria Math" panose="02040503050406030204" pitchFamily="18" charset="0"/>
                                  <a:ea typeface="MS PGothic" pitchFamily="34" charset="-128"/>
                                </a:rPr>
                                <m:t>(</m:t>
                              </m:r>
                              <m:r>
                                <a:rPr lang="fr-FR" sz="1600" b="1" i="1" smtClean="0">
                                  <a:solidFill>
                                    <a:srgbClr val="FF0000"/>
                                  </a:solidFill>
                                  <a:latin typeface="Cambria Math" panose="02040503050406030204" pitchFamily="18" charset="0"/>
                                  <a:ea typeface="MS PGothic" pitchFamily="34" charset="-128"/>
                                </a:rPr>
                                <m:t>𝟏𝟐𝟐</m:t>
                              </m:r>
                              <m:r>
                                <a:rPr lang="fr-FR" sz="1600" b="1" i="1" smtClean="0">
                                  <a:solidFill>
                                    <a:srgbClr val="FF0000"/>
                                  </a:solidFill>
                                  <a:latin typeface="Cambria Math" panose="02040503050406030204" pitchFamily="18" charset="0"/>
                                  <a:ea typeface="MS PGothic" pitchFamily="34" charset="-128"/>
                                </a:rPr>
                                <m:t>−</m:t>
                              </m:r>
                              <m:r>
                                <a:rPr lang="fr-FR" sz="1600" b="1" i="1" smtClean="0">
                                  <a:solidFill>
                                    <a:srgbClr val="FF0000"/>
                                  </a:solidFill>
                                  <a:latin typeface="Cambria Math" panose="02040503050406030204" pitchFamily="18" charset="0"/>
                                  <a:ea typeface="MS PGothic" pitchFamily="34" charset="-128"/>
                                </a:rPr>
                                <m:t>𝟗𝟏</m:t>
                              </m:r>
                              <m:r>
                                <a:rPr lang="fr-FR" sz="1600" b="1" i="1" smtClean="0">
                                  <a:solidFill>
                                    <a:srgbClr val="FF0000"/>
                                  </a:solidFill>
                                  <a:latin typeface="Cambria Math" panose="02040503050406030204" pitchFamily="18" charset="0"/>
                                  <a:ea typeface="MS PGothic" pitchFamily="34" charset="-128"/>
                                </a:rPr>
                                <m:t>,</m:t>
                              </m:r>
                              <m:r>
                                <a:rPr lang="fr-FR" sz="1600" b="1" i="1" smtClean="0">
                                  <a:solidFill>
                                    <a:srgbClr val="FF0000"/>
                                  </a:solidFill>
                                  <a:latin typeface="Cambria Math" panose="02040503050406030204" pitchFamily="18" charset="0"/>
                                  <a:ea typeface="MS PGothic" pitchFamily="34" charset="-128"/>
                                </a:rPr>
                                <m:t>𝟒𝟓</m:t>
                              </m:r>
                              <m:r>
                                <a:rPr lang="fr-FR" sz="1600" b="1" i="1">
                                  <a:solidFill>
                                    <a:srgbClr val="FF0000"/>
                                  </a:solidFill>
                                  <a:latin typeface="Cambria Math" panose="02040503050406030204" pitchFamily="18" charset="0"/>
                                  <a:ea typeface="MS PGothic" pitchFamily="34" charset="-128"/>
                                </a:rPr>
                                <m:t>)</m:t>
                              </m:r>
                            </m:e>
                            <m:sup>
                              <m:r>
                                <a:rPr lang="fr-FR" sz="1600" b="1" i="1">
                                  <a:solidFill>
                                    <a:srgbClr val="FF0000"/>
                                  </a:solidFill>
                                  <a:latin typeface="Cambria Math" panose="02040503050406030204" pitchFamily="18" charset="0"/>
                                  <a:ea typeface="MS PGothic" pitchFamily="34" charset="-128"/>
                                </a:rPr>
                                <m:t>𝟐</m:t>
                              </m:r>
                            </m:sup>
                          </m:sSup>
                        </m:num>
                        <m:den>
                          <m:r>
                            <a:rPr lang="fr-FR" sz="1600" b="1" i="1" smtClean="0">
                              <a:solidFill>
                                <a:srgbClr val="FF0000"/>
                              </a:solidFill>
                              <a:latin typeface="Cambria Math" panose="02040503050406030204" pitchFamily="18" charset="0"/>
                              <a:ea typeface="MS PGothic" pitchFamily="34" charset="-128"/>
                            </a:rPr>
                            <m:t>𝟗𝟏</m:t>
                          </m:r>
                          <m:r>
                            <a:rPr lang="fr-FR" sz="1600" b="1" i="1" smtClean="0">
                              <a:solidFill>
                                <a:srgbClr val="FF0000"/>
                              </a:solidFill>
                              <a:latin typeface="Cambria Math" panose="02040503050406030204" pitchFamily="18" charset="0"/>
                              <a:ea typeface="MS PGothic" pitchFamily="34" charset="-128"/>
                            </a:rPr>
                            <m:t>,</m:t>
                          </m:r>
                          <m:r>
                            <a:rPr lang="fr-FR" sz="1600" b="1" i="1" smtClean="0">
                              <a:solidFill>
                                <a:srgbClr val="FF0000"/>
                              </a:solidFill>
                              <a:latin typeface="Cambria Math" panose="02040503050406030204" pitchFamily="18" charset="0"/>
                              <a:ea typeface="MS PGothic" pitchFamily="34" charset="-128"/>
                            </a:rPr>
                            <m:t>𝟒𝟓</m:t>
                          </m:r>
                        </m:den>
                      </m:f>
                      <m:r>
                        <a:rPr lang="fr-FR" sz="1600" b="1" i="1" smtClean="0">
                          <a:solidFill>
                            <a:srgbClr val="FF0000"/>
                          </a:solidFill>
                          <a:latin typeface="Cambria Math" panose="02040503050406030204" pitchFamily="18" charset="0"/>
                          <a:ea typeface="MS PGothic" pitchFamily="34" charset="-128"/>
                        </a:rPr>
                        <m:t>+</m:t>
                      </m:r>
                      <m:f>
                        <m:fPr>
                          <m:ctrlPr>
                            <a:rPr lang="fr-FR" sz="1600" b="1" i="1" smtClean="0">
                              <a:solidFill>
                                <a:srgbClr val="FF0000"/>
                              </a:solidFill>
                              <a:latin typeface="Cambria Math" panose="02040503050406030204" pitchFamily="18" charset="0"/>
                              <a:ea typeface="MS PGothic" pitchFamily="34" charset="-128"/>
                            </a:rPr>
                          </m:ctrlPr>
                        </m:fPr>
                        <m:num>
                          <m:sSup>
                            <m:sSupPr>
                              <m:ctrlPr>
                                <a:rPr lang="fr-FR" sz="1600" b="1" i="1">
                                  <a:solidFill>
                                    <a:srgbClr val="FF0000"/>
                                  </a:solidFill>
                                  <a:latin typeface="Cambria Math" panose="02040503050406030204" pitchFamily="18" charset="0"/>
                                  <a:ea typeface="MS PGothic" pitchFamily="34" charset="-128"/>
                                </a:rPr>
                              </m:ctrlPr>
                            </m:sSupPr>
                            <m:e>
                              <m:r>
                                <a:rPr lang="fr-FR" sz="1600" b="1" i="1">
                                  <a:solidFill>
                                    <a:srgbClr val="FF0000"/>
                                  </a:solidFill>
                                  <a:latin typeface="Cambria Math" panose="02040503050406030204" pitchFamily="18" charset="0"/>
                                  <a:ea typeface="MS PGothic" pitchFamily="34" charset="-128"/>
                                </a:rPr>
                                <m:t>(</m:t>
                              </m:r>
                              <m:r>
                                <a:rPr lang="fr-FR" sz="1600" b="1" i="1" smtClean="0">
                                  <a:solidFill>
                                    <a:srgbClr val="FF0000"/>
                                  </a:solidFill>
                                  <a:latin typeface="Cambria Math" panose="02040503050406030204" pitchFamily="18" charset="0"/>
                                  <a:ea typeface="MS PGothic" pitchFamily="34" charset="-128"/>
                                </a:rPr>
                                <m:t>𝟔𝟐𝟏</m:t>
                              </m:r>
                              <m:r>
                                <a:rPr lang="fr-FR" sz="1600" b="1" i="1">
                                  <a:solidFill>
                                    <a:srgbClr val="FF0000"/>
                                  </a:solidFill>
                                  <a:latin typeface="Cambria Math" panose="02040503050406030204" pitchFamily="18" charset="0"/>
                                  <a:ea typeface="MS PGothic" pitchFamily="34" charset="-128"/>
                                </a:rPr>
                                <m:t>−</m:t>
                              </m:r>
                              <m:r>
                                <a:rPr lang="fr-FR" sz="1600" b="1" i="1" smtClean="0">
                                  <a:solidFill>
                                    <a:srgbClr val="FF0000"/>
                                  </a:solidFill>
                                  <a:latin typeface="Cambria Math" panose="02040503050406030204" pitchFamily="18" charset="0"/>
                                  <a:ea typeface="MS PGothic" pitchFamily="34" charset="-128"/>
                                </a:rPr>
                                <m:t>𝟓𝟗𝟎</m:t>
                              </m:r>
                              <m:r>
                                <a:rPr lang="fr-FR" sz="1600" b="1" i="1">
                                  <a:solidFill>
                                    <a:srgbClr val="FF0000"/>
                                  </a:solidFill>
                                  <a:latin typeface="Cambria Math" panose="02040503050406030204" pitchFamily="18" charset="0"/>
                                  <a:ea typeface="MS PGothic" pitchFamily="34" charset="-128"/>
                                </a:rPr>
                                <m:t>,</m:t>
                              </m:r>
                              <m:r>
                                <a:rPr lang="fr-FR" sz="1600" b="1" i="1" smtClean="0">
                                  <a:solidFill>
                                    <a:srgbClr val="FF0000"/>
                                  </a:solidFill>
                                  <a:latin typeface="Cambria Math" panose="02040503050406030204" pitchFamily="18" charset="0"/>
                                  <a:ea typeface="MS PGothic" pitchFamily="34" charset="-128"/>
                                </a:rPr>
                                <m:t>𝟒</m:t>
                              </m:r>
                              <m:r>
                                <a:rPr lang="fr-FR" sz="1600" b="1" i="1">
                                  <a:solidFill>
                                    <a:srgbClr val="FF0000"/>
                                  </a:solidFill>
                                  <a:latin typeface="Cambria Math" panose="02040503050406030204" pitchFamily="18" charset="0"/>
                                  <a:ea typeface="MS PGothic" pitchFamily="34" charset="-128"/>
                                </a:rPr>
                                <m:t>𝟓</m:t>
                              </m:r>
                              <m:r>
                                <a:rPr lang="fr-FR" sz="1600" b="1" i="1">
                                  <a:solidFill>
                                    <a:srgbClr val="FF0000"/>
                                  </a:solidFill>
                                  <a:latin typeface="Cambria Math" panose="02040503050406030204" pitchFamily="18" charset="0"/>
                                  <a:ea typeface="MS PGothic" pitchFamily="34" charset="-128"/>
                                </a:rPr>
                                <m:t>)</m:t>
                              </m:r>
                            </m:e>
                            <m:sup>
                              <m:r>
                                <a:rPr lang="fr-FR" sz="1600" b="1" i="1">
                                  <a:solidFill>
                                    <a:srgbClr val="FF0000"/>
                                  </a:solidFill>
                                  <a:latin typeface="Cambria Math" panose="02040503050406030204" pitchFamily="18" charset="0"/>
                                  <a:ea typeface="MS PGothic" pitchFamily="34" charset="-128"/>
                                </a:rPr>
                                <m:t>𝟐</m:t>
                              </m:r>
                            </m:sup>
                          </m:sSup>
                        </m:num>
                        <m:den>
                          <m:r>
                            <a:rPr lang="fr-FR" sz="1600" b="1" i="1" smtClean="0">
                              <a:solidFill>
                                <a:srgbClr val="FF0000"/>
                              </a:solidFill>
                              <a:latin typeface="Cambria Math" panose="02040503050406030204" pitchFamily="18" charset="0"/>
                              <a:ea typeface="MS PGothic" pitchFamily="34" charset="-128"/>
                            </a:rPr>
                            <m:t>𝟓𝟗𝟎</m:t>
                          </m:r>
                          <m:r>
                            <a:rPr lang="fr-FR" sz="1600" b="1" i="1" smtClean="0">
                              <a:solidFill>
                                <a:srgbClr val="FF0000"/>
                              </a:solidFill>
                              <a:latin typeface="Cambria Math" panose="02040503050406030204" pitchFamily="18" charset="0"/>
                              <a:ea typeface="MS PGothic" pitchFamily="34" charset="-128"/>
                            </a:rPr>
                            <m:t>,</m:t>
                          </m:r>
                          <m:r>
                            <a:rPr lang="fr-FR" sz="1600" b="1" i="1" smtClean="0">
                              <a:solidFill>
                                <a:srgbClr val="FF0000"/>
                              </a:solidFill>
                              <a:latin typeface="Cambria Math" panose="02040503050406030204" pitchFamily="18" charset="0"/>
                              <a:ea typeface="MS PGothic" pitchFamily="34" charset="-128"/>
                            </a:rPr>
                            <m:t>𝟒𝟓</m:t>
                          </m:r>
                        </m:den>
                      </m:f>
                      <m:r>
                        <a:rPr lang="fr-FR" sz="1600" b="1" i="1" smtClean="0">
                          <a:solidFill>
                            <a:srgbClr val="FF0000"/>
                          </a:solidFill>
                          <a:latin typeface="Cambria Math" panose="02040503050406030204" pitchFamily="18" charset="0"/>
                          <a:ea typeface="MS PGothic" pitchFamily="34" charset="-128"/>
                        </a:rPr>
                        <m:t>+</m:t>
                      </m:r>
                      <m:f>
                        <m:fPr>
                          <m:ctrlPr>
                            <a:rPr lang="fr-FR" sz="1600" b="1" i="1" smtClean="0">
                              <a:solidFill>
                                <a:srgbClr val="FF0000"/>
                              </a:solidFill>
                              <a:latin typeface="Cambria Math" panose="02040503050406030204" pitchFamily="18" charset="0"/>
                              <a:ea typeface="MS PGothic" pitchFamily="34" charset="-128"/>
                            </a:rPr>
                          </m:ctrlPr>
                        </m:fPr>
                        <m:num>
                          <m:sSup>
                            <m:sSupPr>
                              <m:ctrlPr>
                                <a:rPr lang="fr-FR" sz="1600" b="1" i="1">
                                  <a:solidFill>
                                    <a:srgbClr val="FF0000"/>
                                  </a:solidFill>
                                  <a:latin typeface="Cambria Math" panose="02040503050406030204" pitchFamily="18" charset="0"/>
                                  <a:ea typeface="MS PGothic" pitchFamily="34" charset="-128"/>
                                </a:rPr>
                              </m:ctrlPr>
                            </m:sSupPr>
                            <m:e>
                              <m:r>
                                <a:rPr lang="fr-FR" sz="1600" b="1" i="1">
                                  <a:solidFill>
                                    <a:srgbClr val="FF0000"/>
                                  </a:solidFill>
                                  <a:latin typeface="Cambria Math" panose="02040503050406030204" pitchFamily="18" charset="0"/>
                                  <a:ea typeface="MS PGothic" pitchFamily="34" charset="-128"/>
                                </a:rPr>
                                <m:t>(</m:t>
                              </m:r>
                              <m:r>
                                <a:rPr lang="fr-FR" sz="1600" b="1" i="1" smtClean="0">
                                  <a:solidFill>
                                    <a:srgbClr val="FF0000"/>
                                  </a:solidFill>
                                  <a:latin typeface="Cambria Math" panose="02040503050406030204" pitchFamily="18" charset="0"/>
                                  <a:ea typeface="MS PGothic" pitchFamily="34" charset="-128"/>
                                </a:rPr>
                                <m:t>𝟏𝟏𝟒</m:t>
                              </m:r>
                              <m:r>
                                <a:rPr lang="fr-FR" sz="1600" b="1" i="1">
                                  <a:solidFill>
                                    <a:srgbClr val="FF0000"/>
                                  </a:solidFill>
                                  <a:latin typeface="Cambria Math" panose="02040503050406030204" pitchFamily="18" charset="0"/>
                                  <a:ea typeface="MS PGothic" pitchFamily="34" charset="-128"/>
                                </a:rPr>
                                <m:t>−</m:t>
                              </m:r>
                              <m:r>
                                <a:rPr lang="fr-FR" sz="1600" b="1" i="1" smtClean="0">
                                  <a:solidFill>
                                    <a:srgbClr val="FF0000"/>
                                  </a:solidFill>
                                  <a:latin typeface="Cambria Math" panose="02040503050406030204" pitchFamily="18" charset="0"/>
                                  <a:ea typeface="MS PGothic" pitchFamily="34" charset="-128"/>
                                </a:rPr>
                                <m:t>𝟏𝟒𝟒</m:t>
                              </m:r>
                              <m:r>
                                <a:rPr lang="fr-FR" sz="1600" b="1" i="1">
                                  <a:solidFill>
                                    <a:srgbClr val="FF0000"/>
                                  </a:solidFill>
                                  <a:latin typeface="Cambria Math" panose="02040503050406030204" pitchFamily="18" charset="0"/>
                                  <a:ea typeface="MS PGothic" pitchFamily="34" charset="-128"/>
                                </a:rPr>
                                <m:t>,</m:t>
                              </m:r>
                              <m:r>
                                <a:rPr lang="fr-FR" sz="1600" b="1" i="1">
                                  <a:solidFill>
                                    <a:srgbClr val="FF0000"/>
                                  </a:solidFill>
                                  <a:latin typeface="Cambria Math" panose="02040503050406030204" pitchFamily="18" charset="0"/>
                                  <a:ea typeface="MS PGothic" pitchFamily="34" charset="-128"/>
                                </a:rPr>
                                <m:t>𝟓𝟓</m:t>
                              </m:r>
                              <m:r>
                                <a:rPr lang="fr-FR" sz="1600" b="1" i="1">
                                  <a:solidFill>
                                    <a:srgbClr val="FF0000"/>
                                  </a:solidFill>
                                  <a:latin typeface="Cambria Math" panose="02040503050406030204" pitchFamily="18" charset="0"/>
                                  <a:ea typeface="MS PGothic" pitchFamily="34" charset="-128"/>
                                </a:rPr>
                                <m:t>)</m:t>
                              </m:r>
                            </m:e>
                            <m:sup>
                              <m:r>
                                <a:rPr lang="fr-FR" sz="1600" b="1" i="1">
                                  <a:solidFill>
                                    <a:srgbClr val="FF0000"/>
                                  </a:solidFill>
                                  <a:latin typeface="Cambria Math" panose="02040503050406030204" pitchFamily="18" charset="0"/>
                                  <a:ea typeface="MS PGothic" pitchFamily="34" charset="-128"/>
                                </a:rPr>
                                <m:t>𝟐</m:t>
                              </m:r>
                            </m:sup>
                          </m:sSup>
                        </m:num>
                        <m:den>
                          <m:r>
                            <a:rPr lang="fr-FR" sz="1600" b="1" i="1" smtClean="0">
                              <a:solidFill>
                                <a:srgbClr val="FF0000"/>
                              </a:solidFill>
                              <a:latin typeface="Cambria Math" panose="02040503050406030204" pitchFamily="18" charset="0"/>
                              <a:ea typeface="MS PGothic" pitchFamily="34" charset="-128"/>
                            </a:rPr>
                            <m:t>𝟏𝟒𝟒</m:t>
                          </m:r>
                          <m:r>
                            <a:rPr lang="fr-FR" sz="1600" b="1" i="1" smtClean="0">
                              <a:solidFill>
                                <a:srgbClr val="FF0000"/>
                              </a:solidFill>
                              <a:latin typeface="Cambria Math" panose="02040503050406030204" pitchFamily="18" charset="0"/>
                              <a:ea typeface="MS PGothic" pitchFamily="34" charset="-128"/>
                            </a:rPr>
                            <m:t>,</m:t>
                          </m:r>
                          <m:r>
                            <a:rPr lang="fr-FR" sz="1600" b="1" i="1" smtClean="0">
                              <a:solidFill>
                                <a:srgbClr val="FF0000"/>
                              </a:solidFill>
                              <a:latin typeface="Cambria Math" panose="02040503050406030204" pitchFamily="18" charset="0"/>
                              <a:ea typeface="MS PGothic" pitchFamily="34" charset="-128"/>
                            </a:rPr>
                            <m:t>𝟓𝟓</m:t>
                          </m:r>
                        </m:den>
                      </m:f>
                    </m:oMath>
                  </m:oMathPara>
                </a14:m>
                <a:endParaRPr lang="fr-FR" sz="1600" b="1" dirty="0">
                  <a:solidFill>
                    <a:srgbClr val="FF0000"/>
                  </a:solidFill>
                  <a:latin typeface="Comic Sans MS" panose="030F0702030302020204" pitchFamily="66" charset="0"/>
                  <a:ea typeface="MS PGothic" pitchFamily="34" charset="-128"/>
                </a:endParaRPr>
              </a:p>
              <a:p>
                <a:endParaRPr lang="fr-FR" sz="2800" b="1" dirty="0">
                  <a:solidFill>
                    <a:srgbClr val="FF0000"/>
                  </a:solidFill>
                  <a:latin typeface="Comic Sans MS" panose="030F0702030302020204" pitchFamily="66" charset="0"/>
                  <a:ea typeface="MS PGothic" pitchFamily="34" charset="-128"/>
                </a:endParaRPr>
              </a:p>
              <a:p>
                <a:pPr/>
                <a14:m>
                  <m:oMathPara xmlns:m="http://schemas.openxmlformats.org/officeDocument/2006/math">
                    <m:oMathParaPr>
                      <m:jc m:val="centerGroup"/>
                    </m:oMathParaPr>
                    <m:oMath xmlns:m="http://schemas.openxmlformats.org/officeDocument/2006/math">
                      <m:sSup>
                        <m:sSupPr>
                          <m:ctrlPr>
                            <a:rPr lang="fr-FR" sz="2800" b="1" i="1">
                              <a:solidFill>
                                <a:srgbClr val="FF0000"/>
                              </a:solidFill>
                              <a:latin typeface="Cambria Math" panose="02040503050406030204" pitchFamily="18" charset="0"/>
                              <a:ea typeface="MS PGothic" pitchFamily="34" charset="-128"/>
                            </a:rPr>
                          </m:ctrlPr>
                        </m:sSupPr>
                        <m:e>
                          <m:r>
                            <a:rPr lang="fr-FR" sz="2800" b="1" i="1">
                              <a:solidFill>
                                <a:srgbClr val="FF0000"/>
                              </a:solidFill>
                              <a:latin typeface="Cambria Math" panose="02040503050406030204" pitchFamily="18" charset="0"/>
                              <a:ea typeface="Cambria Math" panose="02040503050406030204" pitchFamily="18" charset="0"/>
                            </a:rPr>
                            <m:t>𝝌</m:t>
                          </m:r>
                        </m:e>
                        <m:sup>
                          <m:r>
                            <a:rPr lang="fr-FR" sz="2800" b="1" i="1">
                              <a:solidFill>
                                <a:srgbClr val="FF0000"/>
                              </a:solidFill>
                              <a:latin typeface="Cambria Math" panose="02040503050406030204" pitchFamily="18" charset="0"/>
                              <a:ea typeface="MS PGothic" pitchFamily="34" charset="-128"/>
                            </a:rPr>
                            <m:t>𝟐</m:t>
                          </m:r>
                        </m:sup>
                      </m:sSup>
                      <m:r>
                        <a:rPr lang="fr-FR" sz="2800" b="1" i="1">
                          <a:solidFill>
                            <a:srgbClr val="FF0000"/>
                          </a:solidFill>
                          <a:latin typeface="Cambria Math" panose="02040503050406030204" pitchFamily="18" charset="0"/>
                          <a:ea typeface="MS PGothic" pitchFamily="34" charset="-128"/>
                        </a:rPr>
                        <m:t>=</m:t>
                      </m:r>
                      <m:r>
                        <a:rPr lang="fr-FR" sz="2800" b="1" i="0" smtClean="0">
                          <a:solidFill>
                            <a:srgbClr val="FF0000"/>
                          </a:solidFill>
                          <a:latin typeface="Cambria Math" panose="02040503050406030204" pitchFamily="18" charset="0"/>
                          <a:ea typeface="MS PGothic" pitchFamily="34" charset="-128"/>
                        </a:rPr>
                        <m:t>𝟐𝟎</m:t>
                      </m:r>
                      <m:r>
                        <a:rPr lang="fr-FR" sz="2800" b="1" i="0" smtClean="0">
                          <a:solidFill>
                            <a:srgbClr val="FF0000"/>
                          </a:solidFill>
                          <a:latin typeface="Cambria Math" panose="02040503050406030204" pitchFamily="18" charset="0"/>
                          <a:ea typeface="MS PGothic" pitchFamily="34" charset="-128"/>
                        </a:rPr>
                        <m:t>,</m:t>
                      </m:r>
                      <m:r>
                        <a:rPr lang="fr-FR" sz="2800" b="1" i="0" smtClean="0">
                          <a:solidFill>
                            <a:srgbClr val="FF0000"/>
                          </a:solidFill>
                          <a:latin typeface="Cambria Math" panose="02040503050406030204" pitchFamily="18" charset="0"/>
                          <a:ea typeface="MS PGothic" pitchFamily="34" charset="-128"/>
                        </a:rPr>
                        <m:t>𝟕𝟒𝟏</m:t>
                      </m:r>
                    </m:oMath>
                  </m:oMathPara>
                </a14:m>
                <a:endParaRPr lang="fr-FR" sz="2800" b="1" dirty="0">
                  <a:solidFill>
                    <a:srgbClr val="FF0000"/>
                  </a:solidFill>
                  <a:latin typeface="Comic Sans MS" panose="030F0702030302020204" pitchFamily="66" charset="0"/>
                  <a:ea typeface="MS PGothic" pitchFamily="34" charset="-128"/>
                </a:endParaRPr>
              </a:p>
              <a:p>
                <a:pPr/>
                <a14:m>
                  <m:oMathPara xmlns:m="http://schemas.openxmlformats.org/officeDocument/2006/math">
                    <m:oMathParaPr>
                      <m:jc m:val="centerGroup"/>
                    </m:oMathParaPr>
                    <m:oMath xmlns:m="http://schemas.openxmlformats.org/officeDocument/2006/math">
                      <m:r>
                        <a:rPr lang="fr-FR" sz="2800" b="1" i="1" smtClean="0">
                          <a:solidFill>
                            <a:srgbClr val="FF0000"/>
                          </a:solidFill>
                          <a:latin typeface="Cambria Math" panose="02040503050406030204" pitchFamily="18" charset="0"/>
                          <a:ea typeface="MS PGothic" pitchFamily="34" charset="-128"/>
                        </a:rPr>
                        <m:t>𝒅𝒅𝒍</m:t>
                      </m:r>
                      <m:r>
                        <a:rPr lang="fr-FR" sz="2800" b="1" i="1" smtClean="0">
                          <a:solidFill>
                            <a:srgbClr val="FF0000"/>
                          </a:solidFill>
                          <a:latin typeface="Cambria Math" panose="02040503050406030204" pitchFamily="18" charset="0"/>
                          <a:ea typeface="MS PGothic" pitchFamily="34" charset="-128"/>
                        </a:rPr>
                        <m:t>=</m:t>
                      </m:r>
                      <m:d>
                        <m:dPr>
                          <m:ctrlPr>
                            <a:rPr lang="fr-FR" sz="2800" b="1" i="1" smtClean="0">
                              <a:solidFill>
                                <a:srgbClr val="FF0000"/>
                              </a:solidFill>
                              <a:latin typeface="Cambria Math" panose="02040503050406030204" pitchFamily="18" charset="0"/>
                              <a:ea typeface="MS PGothic" pitchFamily="34" charset="-128"/>
                            </a:rPr>
                          </m:ctrlPr>
                        </m:dPr>
                        <m:e>
                          <m:r>
                            <a:rPr lang="fr-FR" sz="2800" b="1" i="1" smtClean="0">
                              <a:solidFill>
                                <a:srgbClr val="FF0000"/>
                              </a:solidFill>
                              <a:latin typeface="Cambria Math" panose="02040503050406030204" pitchFamily="18" charset="0"/>
                              <a:ea typeface="MS PGothic" pitchFamily="34" charset="-128"/>
                            </a:rPr>
                            <m:t>𝟐</m:t>
                          </m:r>
                          <m:r>
                            <a:rPr lang="fr-FR" sz="2800" b="1" i="1" smtClean="0">
                              <a:solidFill>
                                <a:srgbClr val="FF0000"/>
                              </a:solidFill>
                              <a:latin typeface="Cambria Math" panose="02040503050406030204" pitchFamily="18" charset="0"/>
                              <a:ea typeface="MS PGothic" pitchFamily="34" charset="-128"/>
                            </a:rPr>
                            <m:t>−</m:t>
                          </m:r>
                          <m:r>
                            <a:rPr lang="fr-FR" sz="2800" b="1" i="1" smtClean="0">
                              <a:solidFill>
                                <a:srgbClr val="FF0000"/>
                              </a:solidFill>
                              <a:latin typeface="Cambria Math" panose="02040503050406030204" pitchFamily="18" charset="0"/>
                              <a:ea typeface="MS PGothic" pitchFamily="34" charset="-128"/>
                            </a:rPr>
                            <m:t>𝟏</m:t>
                          </m:r>
                        </m:e>
                      </m:d>
                      <m:d>
                        <m:dPr>
                          <m:ctrlPr>
                            <a:rPr lang="fr-FR" sz="2800" b="1" i="1" smtClean="0">
                              <a:solidFill>
                                <a:srgbClr val="FF0000"/>
                              </a:solidFill>
                              <a:latin typeface="Cambria Math" panose="02040503050406030204" pitchFamily="18" charset="0"/>
                              <a:ea typeface="MS PGothic" pitchFamily="34" charset="-128"/>
                            </a:rPr>
                          </m:ctrlPr>
                        </m:dPr>
                        <m:e>
                          <m:r>
                            <a:rPr lang="fr-FR" sz="2800" b="1" i="1" smtClean="0">
                              <a:solidFill>
                                <a:srgbClr val="FF0000"/>
                              </a:solidFill>
                              <a:latin typeface="Cambria Math" panose="02040503050406030204" pitchFamily="18" charset="0"/>
                              <a:ea typeface="MS PGothic" pitchFamily="34" charset="-128"/>
                            </a:rPr>
                            <m:t>𝟐</m:t>
                          </m:r>
                          <m:r>
                            <a:rPr lang="fr-FR" sz="2800" b="1" i="1" smtClean="0">
                              <a:solidFill>
                                <a:srgbClr val="FF0000"/>
                              </a:solidFill>
                              <a:latin typeface="Cambria Math" panose="02040503050406030204" pitchFamily="18" charset="0"/>
                              <a:ea typeface="MS PGothic" pitchFamily="34" charset="-128"/>
                            </a:rPr>
                            <m:t>−</m:t>
                          </m:r>
                          <m:r>
                            <a:rPr lang="fr-FR" sz="2800" b="1" i="1" smtClean="0">
                              <a:solidFill>
                                <a:srgbClr val="FF0000"/>
                              </a:solidFill>
                              <a:latin typeface="Cambria Math" panose="02040503050406030204" pitchFamily="18" charset="0"/>
                              <a:ea typeface="MS PGothic" pitchFamily="34" charset="-128"/>
                            </a:rPr>
                            <m:t>𝟏</m:t>
                          </m:r>
                        </m:e>
                      </m:d>
                      <m:r>
                        <a:rPr lang="fr-FR" sz="2800" b="1" i="1" smtClean="0">
                          <a:solidFill>
                            <a:srgbClr val="FF0000"/>
                          </a:solidFill>
                          <a:latin typeface="Cambria Math" panose="02040503050406030204" pitchFamily="18" charset="0"/>
                          <a:ea typeface="MS PGothic" pitchFamily="34" charset="-128"/>
                        </a:rPr>
                        <m:t>=</m:t>
                      </m:r>
                      <m:r>
                        <a:rPr lang="fr-FR" sz="2800" b="1" i="1" smtClean="0">
                          <a:solidFill>
                            <a:srgbClr val="FF0000"/>
                          </a:solidFill>
                          <a:latin typeface="Cambria Math" panose="02040503050406030204" pitchFamily="18" charset="0"/>
                          <a:ea typeface="MS PGothic" pitchFamily="34" charset="-128"/>
                        </a:rPr>
                        <m:t>𝟏</m:t>
                      </m:r>
                    </m:oMath>
                  </m:oMathPara>
                </a14:m>
                <a:endParaRPr lang="fr-FR" sz="2800" b="1" dirty="0">
                  <a:solidFill>
                    <a:srgbClr val="FF0000"/>
                  </a:solidFill>
                  <a:latin typeface="Comic Sans MS" panose="030F0702030302020204" pitchFamily="66" charset="0"/>
                  <a:ea typeface="MS PGothic" pitchFamily="34" charset="-128"/>
                </a:endParaRPr>
              </a:p>
              <a:p>
                <a:endParaRPr lang="fr-FR" sz="2800" b="1" dirty="0">
                  <a:solidFill>
                    <a:srgbClr val="FF0000"/>
                  </a:solidFill>
                  <a:latin typeface="Comic Sans MS" panose="030F0702030302020204" pitchFamily="66" charset="0"/>
                  <a:ea typeface="MS PGothic" pitchFamily="34" charset="-128"/>
                </a:endParaRPr>
              </a:p>
              <a:p>
                <a:endParaRPr lang="fr-FR" sz="2000" b="1" dirty="0">
                  <a:solidFill>
                    <a:srgbClr val="C00000"/>
                  </a:solidFill>
                  <a:latin typeface="Comic Sans MS" panose="030F0702030302020204" pitchFamily="66" charset="0"/>
                  <a:ea typeface="MS PGothic" pitchFamily="34" charset="-128"/>
                </a:endParaRPr>
              </a:p>
              <a:p>
                <a:pPr>
                  <a:defRPr/>
                </a:pPr>
                <a:endParaRPr lang="fr-FR" sz="2000" b="1" dirty="0">
                  <a:solidFill>
                    <a:srgbClr val="C00000"/>
                  </a:solidFill>
                  <a:latin typeface="Comic Sans MS" panose="030F0702030302020204" pitchFamily="66" charset="0"/>
                  <a:ea typeface="MS PGothic" pitchFamily="34" charset="-128"/>
                </a:endParaRPr>
              </a:p>
            </p:txBody>
          </p:sp>
        </mc:Choice>
        <mc:Fallback xmlns="">
          <p:sp>
            <p:nvSpPr>
              <p:cNvPr id="4" name="Rectangle 3"/>
              <p:cNvSpPr>
                <a:spLocks noRot="1" noChangeAspect="1" noMove="1" noResize="1" noEditPoints="1" noAdjustHandles="1" noChangeArrowheads="1" noChangeShapeType="1" noTextEdit="1"/>
              </p:cNvSpPr>
              <p:nvPr/>
            </p:nvSpPr>
            <p:spPr>
              <a:xfrm>
                <a:off x="171450" y="1556792"/>
                <a:ext cx="8801100" cy="5491375"/>
              </a:xfrm>
              <a:prstGeom prst="rect">
                <a:avLst/>
              </a:prstGeom>
              <a:blipFill>
                <a:blip r:embed="rId2"/>
                <a:stretch>
                  <a:fillRect l="-1385" t="-888"/>
                </a:stretch>
              </a:blipFill>
            </p:spPr>
            <p:txBody>
              <a:bodyPr/>
              <a:lstStyle/>
              <a:p>
                <a:r>
                  <a:rPr lang="fr-FR">
                    <a:noFill/>
                  </a:rPr>
                  <a:t> </a:t>
                </a:r>
              </a:p>
            </p:txBody>
          </p:sp>
        </mc:Fallback>
      </mc:AlternateContent>
      <p:grpSp>
        <p:nvGrpSpPr>
          <p:cNvPr id="4098" name="Group 74933"/>
          <p:cNvGrpSpPr>
            <a:grpSpLocks/>
          </p:cNvGrpSpPr>
          <p:nvPr/>
        </p:nvGrpSpPr>
        <p:grpSpPr bwMode="auto">
          <a:xfrm>
            <a:off x="-42863" y="-1588"/>
            <a:ext cx="517526" cy="320676"/>
            <a:chOff x="0" y="0"/>
            <a:chExt cx="518160" cy="321564"/>
          </a:xfrm>
        </p:grpSpPr>
      </p:grpSp>
      <p:graphicFrame>
        <p:nvGraphicFramePr>
          <p:cNvPr id="5" name="Tableau 4"/>
          <p:cNvGraphicFramePr>
            <a:graphicFrameLocks noGrp="1"/>
          </p:cNvGraphicFramePr>
          <p:nvPr>
            <p:extLst>
              <p:ext uri="{D42A27DB-BD31-4B8C-83A1-F6EECF244321}">
                <p14:modId xmlns:p14="http://schemas.microsoft.com/office/powerpoint/2010/main" val="2342163902"/>
              </p:ext>
            </p:extLst>
          </p:nvPr>
        </p:nvGraphicFramePr>
        <p:xfrm>
          <a:off x="381000" y="2636912"/>
          <a:ext cx="7686135" cy="1088709"/>
        </p:xfrm>
        <a:graphic>
          <a:graphicData uri="http://schemas.openxmlformats.org/drawingml/2006/table">
            <a:tbl>
              <a:tblPr firstRow="1" firstCol="1" bandRow="1">
                <a:tableStyleId>{46F890A9-2807-4EBB-B81D-B2AA78EC7F39}</a:tableStyleId>
              </a:tblPr>
              <a:tblGrid>
                <a:gridCol w="1219571">
                  <a:extLst>
                    <a:ext uri="{9D8B030D-6E8A-4147-A177-3AD203B41FA5}">
                      <a16:colId xmlns:a16="http://schemas.microsoft.com/office/drawing/2014/main" val="20000"/>
                    </a:ext>
                  </a:extLst>
                </a:gridCol>
                <a:gridCol w="3231659">
                  <a:extLst>
                    <a:ext uri="{9D8B030D-6E8A-4147-A177-3AD203B41FA5}">
                      <a16:colId xmlns:a16="http://schemas.microsoft.com/office/drawing/2014/main" val="20001"/>
                    </a:ext>
                  </a:extLst>
                </a:gridCol>
                <a:gridCol w="3234905">
                  <a:extLst>
                    <a:ext uri="{9D8B030D-6E8A-4147-A177-3AD203B41FA5}">
                      <a16:colId xmlns:a16="http://schemas.microsoft.com/office/drawing/2014/main" val="20002"/>
                    </a:ext>
                  </a:extLst>
                </a:gridCol>
              </a:tblGrid>
              <a:tr h="312043">
                <a:tc>
                  <a:txBody>
                    <a:bodyPr/>
                    <a:lstStyle/>
                    <a:p>
                      <a:pPr marL="234950" indent="-6350" algn="l">
                        <a:lnSpc>
                          <a:spcPct val="115000"/>
                        </a:lnSpc>
                        <a:spcAft>
                          <a:spcPts val="0"/>
                        </a:spcAft>
                      </a:pPr>
                      <a:r>
                        <a:rPr lang="fr-FR" sz="2000" dirty="0">
                          <a:effectLst/>
                        </a:rPr>
                        <a:t>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10795" marT="33655" marB="0"/>
                </a:tc>
                <a:tc>
                  <a:txBody>
                    <a:bodyPr/>
                    <a:lstStyle/>
                    <a:p>
                      <a:pPr marL="234950" indent="-6350" algn="l">
                        <a:lnSpc>
                          <a:spcPct val="115000"/>
                        </a:lnSpc>
                        <a:spcAft>
                          <a:spcPts val="0"/>
                        </a:spcAft>
                      </a:pPr>
                      <a:r>
                        <a:rPr lang="fr-FR" sz="2000" dirty="0">
                          <a:effectLst/>
                        </a:rPr>
                        <a:t>Pauvre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10795" marT="33655" marB="0"/>
                </a:tc>
                <a:tc>
                  <a:txBody>
                    <a:bodyPr/>
                    <a:lstStyle/>
                    <a:p>
                      <a:pPr marL="234950" indent="-6350" algn="l">
                        <a:lnSpc>
                          <a:spcPct val="115000"/>
                        </a:lnSpc>
                        <a:spcAft>
                          <a:spcPts val="0"/>
                        </a:spcAft>
                      </a:pPr>
                      <a:r>
                        <a:rPr lang="fr-FR" sz="2000">
                          <a:effectLst/>
                        </a:rPr>
                        <a:t>Non pauvre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10795" marT="33655" marB="0"/>
                </a:tc>
                <a:extLst>
                  <a:ext uri="{0D108BD9-81ED-4DB2-BD59-A6C34878D82A}">
                    <a16:rowId xmlns:a16="http://schemas.microsoft.com/office/drawing/2014/main" val="10000"/>
                  </a:ext>
                </a:extLst>
              </a:tr>
              <a:tr h="312043">
                <a:tc>
                  <a:txBody>
                    <a:bodyPr/>
                    <a:lstStyle/>
                    <a:p>
                      <a:pPr marL="234950" indent="-6350" algn="l">
                        <a:lnSpc>
                          <a:spcPct val="115000"/>
                        </a:lnSpc>
                        <a:spcAft>
                          <a:spcPts val="0"/>
                        </a:spcAft>
                      </a:pPr>
                      <a:r>
                        <a:rPr lang="fr-FR" sz="2000" dirty="0">
                          <a:effectLst/>
                        </a:rPr>
                        <a:t>Urbain </a:t>
                      </a:r>
                      <a:endParaRPr lang="fr-FR" sz="2000"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10795" marT="33655" marB="0"/>
                </a:tc>
                <a:tc>
                  <a:txBody>
                    <a:bodyPr/>
                    <a:lstStyle/>
                    <a:p>
                      <a:pPr marL="234950" marR="1270" indent="-6350" algn="ctr">
                        <a:lnSpc>
                          <a:spcPct val="115000"/>
                        </a:lnSpc>
                        <a:spcAft>
                          <a:spcPts val="0"/>
                        </a:spcAft>
                      </a:pPr>
                      <a:r>
                        <a:rPr lang="fr-FR" sz="2000" b="1" dirty="0">
                          <a:effectLst/>
                        </a:rPr>
                        <a:t>964*465/1200 = 373,55 </a:t>
                      </a:r>
                      <a:endParaRPr lang="fr-FR" sz="2000" b="1"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10795" marT="33655" marB="0"/>
                </a:tc>
                <a:tc>
                  <a:txBody>
                    <a:bodyPr/>
                    <a:lstStyle/>
                    <a:p>
                      <a:pPr marL="234950" indent="-6350" algn="ctr">
                        <a:lnSpc>
                          <a:spcPct val="115000"/>
                        </a:lnSpc>
                        <a:spcAft>
                          <a:spcPts val="0"/>
                        </a:spcAft>
                      </a:pPr>
                      <a:r>
                        <a:rPr lang="fr-FR" sz="2000" b="1">
                          <a:effectLst/>
                        </a:rPr>
                        <a:t>236*465/1200 = 91,45 </a:t>
                      </a:r>
                      <a:endParaRPr lang="fr-FR" sz="2000" b="1">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10795" marT="33655" marB="0"/>
                </a:tc>
                <a:extLst>
                  <a:ext uri="{0D108BD9-81ED-4DB2-BD59-A6C34878D82A}">
                    <a16:rowId xmlns:a16="http://schemas.microsoft.com/office/drawing/2014/main" val="10001"/>
                  </a:ext>
                </a:extLst>
              </a:tr>
              <a:tr h="312043">
                <a:tc>
                  <a:txBody>
                    <a:bodyPr/>
                    <a:lstStyle/>
                    <a:p>
                      <a:pPr marL="234950" indent="-6350" algn="l">
                        <a:lnSpc>
                          <a:spcPct val="115000"/>
                        </a:lnSpc>
                        <a:spcAft>
                          <a:spcPts val="0"/>
                        </a:spcAft>
                      </a:pPr>
                      <a:r>
                        <a:rPr lang="fr-FR" sz="2000">
                          <a:effectLst/>
                        </a:rPr>
                        <a:t>Rural </a:t>
                      </a:r>
                      <a:endParaRPr lang="fr-FR" sz="200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10795" marT="33655" marB="0"/>
                </a:tc>
                <a:tc>
                  <a:txBody>
                    <a:bodyPr/>
                    <a:lstStyle/>
                    <a:p>
                      <a:pPr marL="234950" marR="1270" indent="-6350" algn="ctr">
                        <a:lnSpc>
                          <a:spcPct val="115000"/>
                        </a:lnSpc>
                        <a:spcAft>
                          <a:spcPts val="0"/>
                        </a:spcAft>
                      </a:pPr>
                      <a:r>
                        <a:rPr lang="fr-FR" sz="2000" b="1" dirty="0">
                          <a:effectLst/>
                        </a:rPr>
                        <a:t>964*735/1200 = 590,45 </a:t>
                      </a:r>
                      <a:endParaRPr lang="fr-FR" sz="2000" b="1"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10795" marT="33655" marB="0"/>
                </a:tc>
                <a:tc>
                  <a:txBody>
                    <a:bodyPr/>
                    <a:lstStyle/>
                    <a:p>
                      <a:pPr marL="234950" indent="-6350" algn="ctr">
                        <a:lnSpc>
                          <a:spcPct val="115000"/>
                        </a:lnSpc>
                        <a:spcAft>
                          <a:spcPts val="0"/>
                        </a:spcAft>
                      </a:pPr>
                      <a:r>
                        <a:rPr lang="fr-FR" sz="2000" b="1" dirty="0">
                          <a:effectLst/>
                        </a:rPr>
                        <a:t>236*735/1200 = 144,55 </a:t>
                      </a:r>
                      <a:endParaRPr lang="fr-FR" sz="2000" b="1" dirty="0">
                        <a:solidFill>
                          <a:srgbClr val="000000"/>
                        </a:solidFill>
                        <a:effectLst/>
                        <a:latin typeface="Comic Sans MS" panose="030F0702030302020204" pitchFamily="66" charset="0"/>
                        <a:ea typeface="Times New Roman" panose="02020603050405020304" pitchFamily="18" charset="0"/>
                        <a:cs typeface="Times New Roman" panose="02020603050405020304" pitchFamily="18" charset="0"/>
                      </a:endParaRPr>
                    </a:p>
                  </a:txBody>
                  <a:tcPr marL="45720" marR="10795" marT="33655" marB="0"/>
                </a:tc>
                <a:extLst>
                  <a:ext uri="{0D108BD9-81ED-4DB2-BD59-A6C34878D82A}">
                    <a16:rowId xmlns:a16="http://schemas.microsoft.com/office/drawing/2014/main" val="10002"/>
                  </a:ext>
                </a:extLst>
              </a:tr>
            </a:tbl>
          </a:graphicData>
        </a:graphic>
      </p:graphicFrame>
      <p:sp>
        <p:nvSpPr>
          <p:cNvPr id="8" name="Title 1">
            <a:extLst>
              <a:ext uri="{FF2B5EF4-FFF2-40B4-BE49-F238E27FC236}">
                <a16:creationId xmlns:a16="http://schemas.microsoft.com/office/drawing/2014/main" id="{DF26200C-F214-4AAE-8C00-9CD914D264CC}"/>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4236401450"/>
      </p:ext>
    </p:extLst>
  </p:cSld>
  <p:clrMapOvr>
    <a:masterClrMapping/>
  </p:clrMapOvr>
  <p:transition spd="slow">
    <p:push di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171450" y="1759860"/>
                <a:ext cx="8972550" cy="3929987"/>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endParaRPr lang="fr-FR" sz="2000" b="1" dirty="0">
                  <a:solidFill>
                    <a:srgbClr val="FF0000"/>
                  </a:solidFill>
                  <a:latin typeface="Comic Sans MS" panose="030F0702030302020204" pitchFamily="66" charset="0"/>
                  <a:ea typeface="MS PGothic" pitchFamily="34" charset="-128"/>
                </a:endParaRPr>
              </a:p>
              <a:p>
                <a:pPr marL="457200" indent="-457200">
                  <a:buFont typeface="Wingdings" panose="05000000000000000000" pitchFamily="2" charset="2"/>
                  <a:buChar char="v"/>
                </a:pPr>
                <a:r>
                  <a:rPr lang="fr-FR" sz="2800" b="1" dirty="0">
                    <a:solidFill>
                      <a:srgbClr val="0070C0"/>
                    </a:solidFill>
                    <a:latin typeface="Comic Sans MS" panose="030F0702030302020204" pitchFamily="66" charset="0"/>
                  </a:rPr>
                  <a:t>Rappel de la théorie de l’ANOVA </a:t>
                </a:r>
              </a:p>
              <a:p>
                <a:pPr marL="457200" indent="-457200">
                  <a:buFont typeface="Wingdings" panose="05000000000000000000" pitchFamily="2" charset="2"/>
                  <a:buChar char="ü"/>
                </a:pPr>
                <a:r>
                  <a:rPr lang="fr-FR" sz="2800" b="1" dirty="0">
                    <a:solidFill>
                      <a:srgbClr val="C00000"/>
                    </a:solidFill>
                    <a:latin typeface="Comic Sans MS" panose="030F0702030302020204" pitchFamily="66" charset="0"/>
                  </a:rPr>
                  <a:t>Variance intra classe</a:t>
                </a:r>
              </a:p>
              <a:p>
                <a:endParaRPr lang="fr-FR" sz="2000" b="1" dirty="0">
                  <a:solidFill>
                    <a:srgbClr val="002060"/>
                  </a:solidFill>
                  <a:latin typeface="Comic Sans MS" panose="030F0702030302020204" pitchFamily="66" charset="0"/>
                  <a:ea typeface="MS PGothic" pitchFamily="34" charset="-128"/>
                </a:endParaRPr>
              </a:p>
              <a:p>
                <a:pPr/>
                <a14:m>
                  <m:oMathPara xmlns:m="http://schemas.openxmlformats.org/officeDocument/2006/math">
                    <m:oMathParaPr>
                      <m:jc m:val="centerGroup"/>
                    </m:oMathParaPr>
                    <m:oMath xmlns:m="http://schemas.openxmlformats.org/officeDocument/2006/math">
                      <m:sSub>
                        <m:sSubPr>
                          <m:ctrlPr>
                            <a:rPr lang="fr-FR" sz="2600" b="1" i="1" smtClean="0">
                              <a:solidFill>
                                <a:schemeClr val="tx2">
                                  <a:lumMod val="50000"/>
                                </a:schemeClr>
                              </a:solidFill>
                              <a:latin typeface="Cambria Math" panose="02040503050406030204" pitchFamily="18" charset="0"/>
                              <a:ea typeface="MS PGothic" pitchFamily="34" charset="-128"/>
                            </a:rPr>
                          </m:ctrlPr>
                        </m:sSubPr>
                        <m:e>
                          <m:r>
                            <a:rPr lang="fr-FR" sz="2600" b="1" i="0" smtClean="0">
                              <a:solidFill>
                                <a:schemeClr val="tx2">
                                  <a:lumMod val="50000"/>
                                </a:schemeClr>
                              </a:solidFill>
                              <a:latin typeface="Cambria Math" panose="02040503050406030204" pitchFamily="18" charset="0"/>
                              <a:ea typeface="MS PGothic" pitchFamily="34" charset="-128"/>
                            </a:rPr>
                            <m:t>𝐕</m:t>
                          </m:r>
                        </m:e>
                        <m:sub>
                          <m:r>
                            <a:rPr lang="fr-FR" sz="2600" b="1" i="0" smtClean="0">
                              <a:solidFill>
                                <a:schemeClr val="tx2">
                                  <a:lumMod val="50000"/>
                                </a:schemeClr>
                              </a:solidFill>
                              <a:latin typeface="Cambria Math" panose="02040503050406030204" pitchFamily="18" charset="0"/>
                              <a:ea typeface="MS PGothic" pitchFamily="34" charset="-128"/>
                            </a:rPr>
                            <m:t>𝐢𝐧𝐭𝐫𝐚</m:t>
                          </m:r>
                        </m:sub>
                      </m:sSub>
                      <m:r>
                        <a:rPr lang="fr-FR" sz="2600" b="1" i="0" smtClean="0">
                          <a:solidFill>
                            <a:schemeClr val="tx2">
                              <a:lumMod val="50000"/>
                            </a:schemeClr>
                          </a:solidFill>
                          <a:latin typeface="Cambria Math" panose="02040503050406030204" pitchFamily="18" charset="0"/>
                          <a:ea typeface="MS PGothic" pitchFamily="34" charset="-128"/>
                        </a:rPr>
                        <m:t>=</m:t>
                      </m:r>
                      <m:f>
                        <m:fPr>
                          <m:ctrlPr>
                            <a:rPr lang="fr-FR" sz="2600" b="1" i="1" smtClean="0">
                              <a:solidFill>
                                <a:schemeClr val="tx2">
                                  <a:lumMod val="50000"/>
                                </a:schemeClr>
                              </a:solidFill>
                              <a:latin typeface="Cambria Math" panose="02040503050406030204" pitchFamily="18" charset="0"/>
                              <a:ea typeface="MS PGothic" pitchFamily="34" charset="-128"/>
                            </a:rPr>
                          </m:ctrlPr>
                        </m:fPr>
                        <m:num>
                          <m:r>
                            <a:rPr lang="fr-FR" sz="2600" b="1" i="0" smtClean="0">
                              <a:solidFill>
                                <a:schemeClr val="tx2">
                                  <a:lumMod val="50000"/>
                                </a:schemeClr>
                              </a:solidFill>
                              <a:latin typeface="Cambria Math" panose="02040503050406030204" pitchFamily="18" charset="0"/>
                              <a:ea typeface="MS PGothic" pitchFamily="34" charset="-128"/>
                            </a:rPr>
                            <m:t>𝟔</m:t>
                          </m:r>
                          <m:r>
                            <a:rPr lang="fr-FR" sz="2600" b="1" i="0" smtClean="0">
                              <a:solidFill>
                                <a:schemeClr val="tx2">
                                  <a:lumMod val="50000"/>
                                </a:schemeClr>
                              </a:solidFill>
                              <a:latin typeface="Cambria Math" panose="02040503050406030204" pitchFamily="18" charset="0"/>
                              <a:ea typeface="Cambria Math" panose="02040503050406030204" pitchFamily="18" charset="0"/>
                            </a:rPr>
                            <m:t>×</m:t>
                          </m:r>
                          <m:r>
                            <a:rPr lang="fr-FR" sz="2600" b="1" i="0" smtClean="0">
                              <a:solidFill>
                                <a:schemeClr val="tx2">
                                  <a:lumMod val="50000"/>
                                </a:schemeClr>
                              </a:solidFill>
                              <a:latin typeface="Cambria Math" panose="02040503050406030204" pitchFamily="18" charset="0"/>
                              <a:ea typeface="Cambria Math" panose="02040503050406030204" pitchFamily="18" charset="0"/>
                            </a:rPr>
                            <m:t>𝟏</m:t>
                          </m:r>
                          <m:r>
                            <a:rPr lang="fr-FR" sz="2600" b="1" i="0" smtClean="0">
                              <a:solidFill>
                                <a:schemeClr val="tx2">
                                  <a:lumMod val="50000"/>
                                </a:schemeClr>
                              </a:solidFill>
                              <a:latin typeface="Cambria Math" panose="02040503050406030204" pitchFamily="18" charset="0"/>
                              <a:ea typeface="Cambria Math" panose="02040503050406030204" pitchFamily="18" charset="0"/>
                            </a:rPr>
                            <m:t>,</m:t>
                          </m:r>
                          <m:r>
                            <a:rPr lang="fr-FR" sz="2600" b="1" i="0" smtClean="0">
                              <a:solidFill>
                                <a:schemeClr val="tx2">
                                  <a:lumMod val="50000"/>
                                </a:schemeClr>
                              </a:solidFill>
                              <a:latin typeface="Cambria Math" panose="02040503050406030204" pitchFamily="18" charset="0"/>
                              <a:ea typeface="Cambria Math" panose="02040503050406030204" pitchFamily="18" charset="0"/>
                            </a:rPr>
                            <m:t>𝟑𝟕</m:t>
                          </m:r>
                          <m:r>
                            <a:rPr lang="fr-FR" sz="2600" b="1" i="0" smtClean="0">
                              <a:solidFill>
                                <a:schemeClr val="tx2">
                                  <a:lumMod val="50000"/>
                                </a:schemeClr>
                              </a:solidFill>
                              <a:latin typeface="Cambria Math" panose="02040503050406030204" pitchFamily="18" charset="0"/>
                              <a:ea typeface="Cambria Math" panose="02040503050406030204" pitchFamily="18" charset="0"/>
                            </a:rPr>
                            <m:t>+</m:t>
                          </m:r>
                          <m:r>
                            <a:rPr lang="fr-FR" sz="2600" b="1" i="0" smtClean="0">
                              <a:solidFill>
                                <a:schemeClr val="tx2">
                                  <a:lumMod val="50000"/>
                                </a:schemeClr>
                              </a:solidFill>
                              <a:latin typeface="Cambria Math" panose="02040503050406030204" pitchFamily="18" charset="0"/>
                              <a:ea typeface="Cambria Math" panose="02040503050406030204" pitchFamily="18" charset="0"/>
                            </a:rPr>
                            <m:t>𝟗</m:t>
                          </m:r>
                          <m:r>
                            <a:rPr lang="fr-FR" sz="2600" b="1" i="0" smtClean="0">
                              <a:solidFill>
                                <a:schemeClr val="tx2">
                                  <a:lumMod val="50000"/>
                                </a:schemeClr>
                              </a:solidFill>
                              <a:latin typeface="Cambria Math" panose="02040503050406030204" pitchFamily="18" charset="0"/>
                              <a:ea typeface="Cambria Math" panose="02040503050406030204" pitchFamily="18" charset="0"/>
                            </a:rPr>
                            <m:t>×</m:t>
                          </m:r>
                          <m:r>
                            <a:rPr lang="fr-FR" sz="2600" b="1" i="0" smtClean="0">
                              <a:solidFill>
                                <a:schemeClr val="tx2">
                                  <a:lumMod val="50000"/>
                                </a:schemeClr>
                              </a:solidFill>
                              <a:latin typeface="Cambria Math" panose="02040503050406030204" pitchFamily="18" charset="0"/>
                              <a:ea typeface="Cambria Math" panose="02040503050406030204" pitchFamily="18" charset="0"/>
                            </a:rPr>
                            <m:t>𝟏𝟎𝟖</m:t>
                          </m:r>
                          <m:r>
                            <a:rPr lang="fr-FR" sz="2600" b="1" i="0" smtClean="0">
                              <a:solidFill>
                                <a:schemeClr val="tx2">
                                  <a:lumMod val="50000"/>
                                </a:schemeClr>
                              </a:solidFill>
                              <a:latin typeface="Cambria Math" panose="02040503050406030204" pitchFamily="18" charset="0"/>
                              <a:ea typeface="Cambria Math" panose="02040503050406030204" pitchFamily="18" charset="0"/>
                            </a:rPr>
                            <m:t>,</m:t>
                          </m:r>
                          <m:r>
                            <a:rPr lang="fr-FR" sz="2600" b="1" i="0" smtClean="0">
                              <a:solidFill>
                                <a:schemeClr val="tx2">
                                  <a:lumMod val="50000"/>
                                </a:schemeClr>
                              </a:solidFill>
                              <a:latin typeface="Cambria Math" panose="02040503050406030204" pitchFamily="18" charset="0"/>
                              <a:ea typeface="Cambria Math" panose="02040503050406030204" pitchFamily="18" charset="0"/>
                            </a:rPr>
                            <m:t>𝟗𝟐</m:t>
                          </m:r>
                          <m:r>
                            <a:rPr lang="fr-FR" sz="2600" b="1" i="0" smtClean="0">
                              <a:solidFill>
                                <a:schemeClr val="tx2">
                                  <a:lumMod val="50000"/>
                                </a:schemeClr>
                              </a:solidFill>
                              <a:latin typeface="Cambria Math" panose="02040503050406030204" pitchFamily="18" charset="0"/>
                              <a:ea typeface="Cambria Math" panose="02040503050406030204" pitchFamily="18" charset="0"/>
                            </a:rPr>
                            <m:t>+</m:t>
                          </m:r>
                          <m:r>
                            <a:rPr lang="fr-FR" sz="2600" b="1" i="0" smtClean="0">
                              <a:solidFill>
                                <a:schemeClr val="tx2">
                                  <a:lumMod val="50000"/>
                                </a:schemeClr>
                              </a:solidFill>
                              <a:latin typeface="Cambria Math" panose="02040503050406030204" pitchFamily="18" charset="0"/>
                              <a:ea typeface="Cambria Math" panose="02040503050406030204" pitchFamily="18" charset="0"/>
                            </a:rPr>
                            <m:t>𝟓</m:t>
                          </m:r>
                          <m:r>
                            <a:rPr lang="fr-FR" sz="2600" b="1" i="0" smtClean="0">
                              <a:solidFill>
                                <a:schemeClr val="tx2">
                                  <a:lumMod val="50000"/>
                                </a:schemeClr>
                              </a:solidFill>
                              <a:latin typeface="Cambria Math" panose="02040503050406030204" pitchFamily="18" charset="0"/>
                              <a:ea typeface="Cambria Math" panose="02040503050406030204" pitchFamily="18" charset="0"/>
                            </a:rPr>
                            <m:t>×</m:t>
                          </m:r>
                          <m:r>
                            <a:rPr lang="fr-FR" sz="2600" b="1" i="0" smtClean="0">
                              <a:solidFill>
                                <a:schemeClr val="tx2">
                                  <a:lumMod val="50000"/>
                                </a:schemeClr>
                              </a:solidFill>
                              <a:latin typeface="Cambria Math" panose="02040503050406030204" pitchFamily="18" charset="0"/>
                              <a:ea typeface="Cambria Math" panose="02040503050406030204" pitchFamily="18" charset="0"/>
                            </a:rPr>
                            <m:t>𝟖𝟐𝟒</m:t>
                          </m:r>
                          <m:r>
                            <a:rPr lang="fr-FR" sz="2600" b="1" i="0" smtClean="0">
                              <a:solidFill>
                                <a:schemeClr val="tx2">
                                  <a:lumMod val="50000"/>
                                </a:schemeClr>
                              </a:solidFill>
                              <a:latin typeface="Cambria Math" panose="02040503050406030204" pitchFamily="18" charset="0"/>
                              <a:ea typeface="Cambria Math" panose="02040503050406030204" pitchFamily="18" charset="0"/>
                            </a:rPr>
                            <m:t>,</m:t>
                          </m:r>
                          <m:r>
                            <a:rPr lang="fr-FR" sz="2600" b="1" i="0" smtClean="0">
                              <a:solidFill>
                                <a:schemeClr val="tx2">
                                  <a:lumMod val="50000"/>
                                </a:schemeClr>
                              </a:solidFill>
                              <a:latin typeface="Cambria Math" panose="02040503050406030204" pitchFamily="18" charset="0"/>
                              <a:ea typeface="Cambria Math" panose="02040503050406030204" pitchFamily="18" charset="0"/>
                            </a:rPr>
                            <m:t>𝟔𝟑</m:t>
                          </m:r>
                        </m:num>
                        <m:den>
                          <m:r>
                            <a:rPr lang="fr-FR" sz="2600" b="1" i="0" smtClean="0">
                              <a:solidFill>
                                <a:schemeClr val="tx2">
                                  <a:lumMod val="50000"/>
                                </a:schemeClr>
                              </a:solidFill>
                              <a:latin typeface="Cambria Math" panose="02040503050406030204" pitchFamily="18" charset="0"/>
                              <a:ea typeface="MS PGothic" pitchFamily="34" charset="-128"/>
                            </a:rPr>
                            <m:t>𝟐𝟎</m:t>
                          </m:r>
                        </m:den>
                      </m:f>
                      <m:r>
                        <a:rPr lang="fr-FR" sz="2600" b="1" i="0" smtClean="0">
                          <a:solidFill>
                            <a:schemeClr val="tx2">
                              <a:lumMod val="50000"/>
                            </a:schemeClr>
                          </a:solidFill>
                          <a:latin typeface="Cambria Math" panose="02040503050406030204" pitchFamily="18" charset="0"/>
                          <a:ea typeface="MS PGothic" pitchFamily="34" charset="-128"/>
                        </a:rPr>
                        <m:t>=</m:t>
                      </m:r>
                      <m:r>
                        <a:rPr lang="fr-FR" sz="2600" b="1" i="0" smtClean="0">
                          <a:solidFill>
                            <a:schemeClr val="tx2">
                              <a:lumMod val="50000"/>
                            </a:schemeClr>
                          </a:solidFill>
                          <a:latin typeface="Cambria Math" panose="02040503050406030204" pitchFamily="18" charset="0"/>
                          <a:ea typeface="MS PGothic" pitchFamily="34" charset="-128"/>
                        </a:rPr>
                        <m:t>𝟐𝟓𝟓</m:t>
                      </m:r>
                      <m:r>
                        <a:rPr lang="fr-FR" sz="2600" b="1" i="0" smtClean="0">
                          <a:solidFill>
                            <a:schemeClr val="tx2">
                              <a:lumMod val="50000"/>
                            </a:schemeClr>
                          </a:solidFill>
                          <a:latin typeface="Cambria Math" panose="02040503050406030204" pitchFamily="18" charset="0"/>
                          <a:ea typeface="MS PGothic" pitchFamily="34" charset="-128"/>
                        </a:rPr>
                        <m:t>,</m:t>
                      </m:r>
                      <m:r>
                        <a:rPr lang="fr-FR" sz="2600" b="1" i="0" smtClean="0">
                          <a:solidFill>
                            <a:schemeClr val="tx2">
                              <a:lumMod val="50000"/>
                            </a:schemeClr>
                          </a:solidFill>
                          <a:latin typeface="Cambria Math" panose="02040503050406030204" pitchFamily="18" charset="0"/>
                          <a:ea typeface="MS PGothic" pitchFamily="34" charset="-128"/>
                        </a:rPr>
                        <m:t>𝟓𝟖</m:t>
                      </m:r>
                    </m:oMath>
                  </m:oMathPara>
                </a14:m>
                <a:endParaRPr lang="fr-FR" sz="2600" b="1" dirty="0">
                  <a:solidFill>
                    <a:schemeClr val="tx2">
                      <a:lumMod val="50000"/>
                    </a:schemeClr>
                  </a:solidFill>
                  <a:latin typeface="Bodoni MT Poster Compressed" panose="02070706080601050204" pitchFamily="18" charset="0"/>
                  <a:ea typeface="MS PGothic" pitchFamily="34" charset="-128"/>
                </a:endParaRPr>
              </a:p>
              <a:p>
                <a:endParaRPr lang="fr-FR" sz="1600" b="1" dirty="0">
                  <a:solidFill>
                    <a:schemeClr val="tx2">
                      <a:lumMod val="50000"/>
                    </a:schemeClr>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p:txBody>
          </p:sp>
        </mc:Choice>
        <mc:Fallback xmlns="">
          <p:sp>
            <p:nvSpPr>
              <p:cNvPr id="4" name="Rectangle 3"/>
              <p:cNvSpPr>
                <a:spLocks noRot="1" noChangeAspect="1" noMove="1" noResize="1" noEditPoints="1" noAdjustHandles="1" noChangeArrowheads="1" noChangeShapeType="1" noTextEdit="1"/>
              </p:cNvSpPr>
              <p:nvPr/>
            </p:nvSpPr>
            <p:spPr>
              <a:xfrm>
                <a:off x="171450" y="1759860"/>
                <a:ext cx="8972550" cy="3929987"/>
              </a:xfrm>
              <a:prstGeom prst="rect">
                <a:avLst/>
              </a:prstGeom>
              <a:blipFill rotWithShape="0">
                <a:blip r:embed="rId2"/>
                <a:stretch>
                  <a:fillRect l="-1155" t="-1242"/>
                </a:stretch>
              </a:blipFill>
            </p:spPr>
            <p:txBody>
              <a:bodyPr/>
              <a:lstStyle/>
              <a:p>
                <a:r>
                  <a:rPr lang="fr-FR">
                    <a:noFill/>
                  </a:rPr>
                  <a:t> </a:t>
                </a:r>
              </a:p>
            </p:txBody>
          </p:sp>
        </mc:Fallback>
      </mc:AlternateContent>
      <p:grpSp>
        <p:nvGrpSpPr>
          <p:cNvPr id="4098" name="Group 74933"/>
          <p:cNvGrpSpPr>
            <a:grpSpLocks/>
          </p:cNvGrpSpPr>
          <p:nvPr/>
        </p:nvGrpSpPr>
        <p:grpSpPr bwMode="auto">
          <a:xfrm>
            <a:off x="-42863" y="-1588"/>
            <a:ext cx="517526" cy="320676"/>
            <a:chOff x="0" y="0"/>
            <a:chExt cx="518160" cy="321564"/>
          </a:xfrm>
        </p:grpSpPr>
      </p:grpSp>
      <p:sp>
        <p:nvSpPr>
          <p:cNvPr id="7" name="Title 1">
            <a:extLst>
              <a:ext uri="{FF2B5EF4-FFF2-40B4-BE49-F238E27FC236}">
                <a16:creationId xmlns:a16="http://schemas.microsoft.com/office/drawing/2014/main" id="{47A0AFB7-5EB9-4B5D-80A2-3E6CCF3A2043}"/>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2078789185"/>
      </p:ext>
    </p:extLst>
  </p:cSld>
  <p:clrMapOvr>
    <a:masterClrMapping/>
  </p:clrMapOvr>
  <p:transition spd="slow">
    <p:push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85725" y="1412776"/>
                <a:ext cx="8972550" cy="5779659"/>
              </a:xfrm>
              <a:prstGeom prst="rect">
                <a:avLst/>
              </a:prstGeom>
            </p:spPr>
            <p:txBody>
              <a:bodyPr wrap="square">
                <a:spAutoFit/>
              </a:bodyPr>
              <a:lstStyle/>
              <a:p>
                <a:pPr marL="571500" indent="-571500">
                  <a:buNone/>
                  <a:defRPr/>
                </a:pPr>
                <a:r>
                  <a:rPr lang="fr-FR" sz="2400" b="1" dirty="0">
                    <a:latin typeface="Comic Sans MS" panose="030F0702030302020204" pitchFamily="66" charset="0"/>
                  </a:rPr>
                  <a:t>B - Analyse bidimensionnelle</a:t>
                </a:r>
              </a:p>
              <a:p>
                <a:endParaRPr lang="fr-FR" sz="2000" b="1" dirty="0">
                  <a:solidFill>
                    <a:srgbClr val="FF0000"/>
                  </a:solidFill>
                  <a:latin typeface="Comic Sans MS" panose="030F0702030302020204" pitchFamily="66" charset="0"/>
                  <a:ea typeface="MS PGothic" pitchFamily="34" charset="-128"/>
                </a:endParaRPr>
              </a:p>
              <a:p>
                <a:pPr marL="457200" indent="-457200">
                  <a:buFont typeface="Wingdings" panose="05000000000000000000" pitchFamily="2" charset="2"/>
                  <a:buChar char="ü"/>
                </a:pPr>
                <a:r>
                  <a:rPr lang="fr-FR" sz="2800" b="1" dirty="0">
                    <a:solidFill>
                      <a:srgbClr val="C00000"/>
                    </a:solidFill>
                    <a:latin typeface="Comic Sans MS" panose="030F0702030302020204" pitchFamily="66" charset="0"/>
                  </a:rPr>
                  <a:t>Variance inter classe</a:t>
                </a:r>
              </a:p>
              <a:p>
                <a:pPr marL="914400" lvl="1" indent="-457200">
                  <a:buFont typeface="Wingdings" panose="05000000000000000000" pitchFamily="2" charset="2"/>
                  <a:buChar char="§"/>
                </a:pPr>
                <a:r>
                  <a:rPr lang="fr-FR" sz="2800" b="1" dirty="0">
                    <a:solidFill>
                      <a:srgbClr val="C00000"/>
                    </a:solidFill>
                    <a:latin typeface="Comic Sans MS" panose="030F0702030302020204" pitchFamily="66" charset="0"/>
                  </a:rPr>
                  <a:t>Moyenne globale</a:t>
                </a:r>
              </a:p>
              <a:p>
                <a:pPr/>
                <a14:m>
                  <m:oMathPara xmlns:m="http://schemas.openxmlformats.org/officeDocument/2006/math">
                    <m:oMathParaPr>
                      <m:jc m:val="centerGroup"/>
                    </m:oMathParaPr>
                    <m:oMath xmlns:m="http://schemas.openxmlformats.org/officeDocument/2006/math">
                      <m:r>
                        <a:rPr lang="fr-FR" sz="2600" b="1" i="1" smtClean="0">
                          <a:solidFill>
                            <a:schemeClr val="bg2">
                              <a:lumMod val="10000"/>
                            </a:schemeClr>
                          </a:solidFill>
                          <a:latin typeface="Cambria Math" panose="02040503050406030204" pitchFamily="18" charset="0"/>
                        </a:rPr>
                        <m:t>𝑹𝒆</m:t>
                      </m:r>
                      <m:sSub>
                        <m:sSubPr>
                          <m:ctrlPr>
                            <a:rPr lang="fr-FR" sz="2600" b="1" i="1" smtClean="0">
                              <a:solidFill>
                                <a:schemeClr val="bg2">
                                  <a:lumMod val="10000"/>
                                </a:schemeClr>
                              </a:solidFill>
                              <a:latin typeface="Cambria Math" panose="02040503050406030204" pitchFamily="18" charset="0"/>
                            </a:rPr>
                          </m:ctrlPr>
                        </m:sSubPr>
                        <m:e>
                          <m:r>
                            <a:rPr lang="fr-FR" sz="2600" b="1" i="1" smtClean="0">
                              <a:solidFill>
                                <a:schemeClr val="bg2">
                                  <a:lumMod val="10000"/>
                                </a:schemeClr>
                              </a:solidFill>
                              <a:latin typeface="Cambria Math" panose="02040503050406030204" pitchFamily="18" charset="0"/>
                            </a:rPr>
                            <m:t>𝒗</m:t>
                          </m:r>
                        </m:e>
                        <m:sub>
                          <m:r>
                            <a:rPr lang="fr-FR" sz="2600" b="1" i="1" smtClean="0">
                              <a:solidFill>
                                <a:schemeClr val="bg2">
                                  <a:lumMod val="10000"/>
                                </a:schemeClr>
                              </a:solidFill>
                              <a:latin typeface="Cambria Math" panose="02040503050406030204" pitchFamily="18" charset="0"/>
                            </a:rPr>
                            <m:t>𝒎𝒐𝒚</m:t>
                          </m:r>
                        </m:sub>
                      </m:sSub>
                      <m:r>
                        <a:rPr lang="fr-FR" sz="2600" b="1" i="1" smtClean="0">
                          <a:solidFill>
                            <a:schemeClr val="bg2">
                              <a:lumMod val="10000"/>
                            </a:schemeClr>
                          </a:solidFill>
                          <a:latin typeface="Cambria Math" panose="02040503050406030204" pitchFamily="18" charset="0"/>
                        </a:rPr>
                        <m:t>=</m:t>
                      </m:r>
                      <m:f>
                        <m:fPr>
                          <m:ctrlPr>
                            <a:rPr lang="fr-FR" sz="2600" b="1" i="1">
                              <a:solidFill>
                                <a:schemeClr val="tx2">
                                  <a:lumMod val="50000"/>
                                </a:schemeClr>
                              </a:solidFill>
                              <a:latin typeface="Cambria Math" panose="02040503050406030204" pitchFamily="18" charset="0"/>
                              <a:ea typeface="MS PGothic" pitchFamily="34" charset="-128"/>
                            </a:rPr>
                          </m:ctrlPr>
                        </m:fPr>
                        <m:num>
                          <m:r>
                            <a:rPr lang="fr-FR" sz="2600" b="1">
                              <a:solidFill>
                                <a:schemeClr val="tx2">
                                  <a:lumMod val="50000"/>
                                </a:schemeClr>
                              </a:solidFill>
                              <a:latin typeface="Cambria Math" panose="02040503050406030204" pitchFamily="18" charset="0"/>
                              <a:ea typeface="MS PGothic" pitchFamily="34" charset="-128"/>
                            </a:rPr>
                            <m:t>𝟔</m:t>
                          </m:r>
                          <m:r>
                            <a:rPr lang="fr-FR" sz="2600" b="1">
                              <a:solidFill>
                                <a:schemeClr val="tx2">
                                  <a:lumMod val="50000"/>
                                </a:schemeClr>
                              </a:solidFill>
                              <a:latin typeface="Cambria Math" panose="02040503050406030204" pitchFamily="18" charset="0"/>
                              <a:ea typeface="Cambria Math" panose="02040503050406030204" pitchFamily="18" charset="0"/>
                            </a:rPr>
                            <m:t>×</m:t>
                          </m:r>
                          <m:r>
                            <a:rPr lang="fr-FR" sz="2600" b="1" i="0" smtClean="0">
                              <a:solidFill>
                                <a:schemeClr val="tx2">
                                  <a:lumMod val="50000"/>
                                </a:schemeClr>
                              </a:solidFill>
                              <a:latin typeface="Cambria Math" panose="02040503050406030204" pitchFamily="18" charset="0"/>
                              <a:ea typeface="Cambria Math" panose="02040503050406030204" pitchFamily="18" charset="0"/>
                            </a:rPr>
                            <m:t>𝟑</m:t>
                          </m:r>
                          <m:r>
                            <a:rPr lang="fr-FR" sz="2600" b="1">
                              <a:solidFill>
                                <a:schemeClr val="tx2">
                                  <a:lumMod val="50000"/>
                                </a:schemeClr>
                              </a:solidFill>
                              <a:latin typeface="Cambria Math" panose="02040503050406030204" pitchFamily="18" charset="0"/>
                              <a:ea typeface="Cambria Math" panose="02040503050406030204" pitchFamily="18" charset="0"/>
                            </a:rPr>
                            <m:t>,</m:t>
                          </m:r>
                          <m:r>
                            <a:rPr lang="fr-FR" sz="2600" b="1" i="0" smtClean="0">
                              <a:solidFill>
                                <a:schemeClr val="tx2">
                                  <a:lumMod val="50000"/>
                                </a:schemeClr>
                              </a:solidFill>
                              <a:latin typeface="Cambria Math" panose="02040503050406030204" pitchFamily="18" charset="0"/>
                              <a:ea typeface="Cambria Math" panose="02040503050406030204" pitchFamily="18" charset="0"/>
                            </a:rPr>
                            <m:t>𝟐𝟖</m:t>
                          </m:r>
                          <m:r>
                            <a:rPr lang="fr-FR" sz="2600" b="1">
                              <a:solidFill>
                                <a:schemeClr val="tx2">
                                  <a:lumMod val="50000"/>
                                </a:schemeClr>
                              </a:solidFill>
                              <a:latin typeface="Cambria Math" panose="02040503050406030204" pitchFamily="18" charset="0"/>
                              <a:ea typeface="Cambria Math" panose="02040503050406030204" pitchFamily="18" charset="0"/>
                            </a:rPr>
                            <m:t>+</m:t>
                          </m:r>
                          <m:r>
                            <a:rPr lang="fr-FR" sz="2600" b="1">
                              <a:solidFill>
                                <a:schemeClr val="tx2">
                                  <a:lumMod val="50000"/>
                                </a:schemeClr>
                              </a:solidFill>
                              <a:latin typeface="Cambria Math" panose="02040503050406030204" pitchFamily="18" charset="0"/>
                              <a:ea typeface="Cambria Math" panose="02040503050406030204" pitchFamily="18" charset="0"/>
                            </a:rPr>
                            <m:t>𝟗</m:t>
                          </m:r>
                          <m:r>
                            <a:rPr lang="fr-FR" sz="2600" b="1">
                              <a:solidFill>
                                <a:schemeClr val="tx2">
                                  <a:lumMod val="50000"/>
                                </a:schemeClr>
                              </a:solidFill>
                              <a:latin typeface="Cambria Math" panose="02040503050406030204" pitchFamily="18" charset="0"/>
                              <a:ea typeface="Cambria Math" panose="02040503050406030204" pitchFamily="18" charset="0"/>
                            </a:rPr>
                            <m:t>×</m:t>
                          </m:r>
                          <m:r>
                            <a:rPr lang="fr-FR" sz="2600" b="1" i="0" smtClean="0">
                              <a:solidFill>
                                <a:schemeClr val="tx2">
                                  <a:lumMod val="50000"/>
                                </a:schemeClr>
                              </a:solidFill>
                              <a:latin typeface="Cambria Math" panose="02040503050406030204" pitchFamily="18" charset="0"/>
                              <a:ea typeface="Cambria Math" panose="02040503050406030204" pitchFamily="18" charset="0"/>
                            </a:rPr>
                            <m:t>𝟐𝟏</m:t>
                          </m:r>
                          <m:r>
                            <a:rPr lang="fr-FR" sz="2600" b="1">
                              <a:solidFill>
                                <a:schemeClr val="tx2">
                                  <a:lumMod val="50000"/>
                                </a:schemeClr>
                              </a:solidFill>
                              <a:latin typeface="Cambria Math" panose="02040503050406030204" pitchFamily="18" charset="0"/>
                              <a:ea typeface="Cambria Math" panose="02040503050406030204" pitchFamily="18" charset="0"/>
                            </a:rPr>
                            <m:t>,</m:t>
                          </m:r>
                          <m:r>
                            <a:rPr lang="fr-FR" sz="2600" b="1" i="0" smtClean="0">
                              <a:solidFill>
                                <a:schemeClr val="tx2">
                                  <a:lumMod val="50000"/>
                                </a:schemeClr>
                              </a:solidFill>
                              <a:latin typeface="Cambria Math" panose="02040503050406030204" pitchFamily="18" charset="0"/>
                              <a:ea typeface="Cambria Math" panose="02040503050406030204" pitchFamily="18" charset="0"/>
                            </a:rPr>
                            <m:t>𝟖</m:t>
                          </m:r>
                          <m:r>
                            <a:rPr lang="fr-FR" sz="2600" b="1">
                              <a:solidFill>
                                <a:schemeClr val="tx2">
                                  <a:lumMod val="50000"/>
                                </a:schemeClr>
                              </a:solidFill>
                              <a:latin typeface="Cambria Math" panose="02040503050406030204" pitchFamily="18" charset="0"/>
                              <a:ea typeface="Cambria Math" panose="02040503050406030204" pitchFamily="18" charset="0"/>
                            </a:rPr>
                            <m:t>𝟐</m:t>
                          </m:r>
                          <m:r>
                            <a:rPr lang="fr-FR" sz="2600" b="1">
                              <a:solidFill>
                                <a:schemeClr val="tx2">
                                  <a:lumMod val="50000"/>
                                </a:schemeClr>
                              </a:solidFill>
                              <a:latin typeface="Cambria Math" panose="02040503050406030204" pitchFamily="18" charset="0"/>
                              <a:ea typeface="Cambria Math" panose="02040503050406030204" pitchFamily="18" charset="0"/>
                            </a:rPr>
                            <m:t>+</m:t>
                          </m:r>
                          <m:r>
                            <a:rPr lang="fr-FR" sz="2600" b="1">
                              <a:solidFill>
                                <a:schemeClr val="tx2">
                                  <a:lumMod val="50000"/>
                                </a:schemeClr>
                              </a:solidFill>
                              <a:latin typeface="Cambria Math" panose="02040503050406030204" pitchFamily="18" charset="0"/>
                              <a:ea typeface="Cambria Math" panose="02040503050406030204" pitchFamily="18" charset="0"/>
                            </a:rPr>
                            <m:t>𝟓</m:t>
                          </m:r>
                          <m:r>
                            <a:rPr lang="fr-FR" sz="2600" b="1">
                              <a:solidFill>
                                <a:schemeClr val="tx2">
                                  <a:lumMod val="50000"/>
                                </a:schemeClr>
                              </a:solidFill>
                              <a:latin typeface="Cambria Math" panose="02040503050406030204" pitchFamily="18" charset="0"/>
                              <a:ea typeface="Cambria Math" panose="02040503050406030204" pitchFamily="18" charset="0"/>
                            </a:rPr>
                            <m:t>×</m:t>
                          </m:r>
                          <m:r>
                            <a:rPr lang="fr-FR" sz="2600" b="1" i="0" smtClean="0">
                              <a:solidFill>
                                <a:schemeClr val="tx2">
                                  <a:lumMod val="50000"/>
                                </a:schemeClr>
                              </a:solidFill>
                              <a:latin typeface="Cambria Math" panose="02040503050406030204" pitchFamily="18" charset="0"/>
                              <a:ea typeface="Cambria Math" panose="02040503050406030204" pitchFamily="18" charset="0"/>
                            </a:rPr>
                            <m:t>𝟏𝟑𝟐</m:t>
                          </m:r>
                          <m:r>
                            <a:rPr lang="fr-FR" sz="2600" b="1">
                              <a:solidFill>
                                <a:schemeClr val="tx2">
                                  <a:lumMod val="50000"/>
                                </a:schemeClr>
                              </a:solidFill>
                              <a:latin typeface="Cambria Math" panose="02040503050406030204" pitchFamily="18" charset="0"/>
                              <a:ea typeface="Cambria Math" panose="02040503050406030204" pitchFamily="18" charset="0"/>
                            </a:rPr>
                            <m:t>,</m:t>
                          </m:r>
                          <m:r>
                            <a:rPr lang="fr-FR" sz="2600" b="1" i="0" smtClean="0">
                              <a:solidFill>
                                <a:schemeClr val="tx2">
                                  <a:lumMod val="50000"/>
                                </a:schemeClr>
                              </a:solidFill>
                              <a:latin typeface="Cambria Math" panose="02040503050406030204" pitchFamily="18" charset="0"/>
                              <a:ea typeface="Cambria Math" panose="02040503050406030204" pitchFamily="18" charset="0"/>
                            </a:rPr>
                            <m:t>𝟑</m:t>
                          </m:r>
                          <m:r>
                            <a:rPr lang="fr-FR" sz="2600" b="1">
                              <a:solidFill>
                                <a:schemeClr val="tx2">
                                  <a:lumMod val="50000"/>
                                </a:schemeClr>
                              </a:solidFill>
                              <a:latin typeface="Cambria Math" panose="02040503050406030204" pitchFamily="18" charset="0"/>
                              <a:ea typeface="Cambria Math" panose="02040503050406030204" pitchFamily="18" charset="0"/>
                            </a:rPr>
                            <m:t>𝟑</m:t>
                          </m:r>
                        </m:num>
                        <m:den>
                          <m:r>
                            <a:rPr lang="fr-FR" sz="2600" b="1">
                              <a:solidFill>
                                <a:schemeClr val="tx2">
                                  <a:lumMod val="50000"/>
                                </a:schemeClr>
                              </a:solidFill>
                              <a:latin typeface="Cambria Math" panose="02040503050406030204" pitchFamily="18" charset="0"/>
                              <a:ea typeface="MS PGothic" pitchFamily="34" charset="-128"/>
                            </a:rPr>
                            <m:t>𝟐𝟎</m:t>
                          </m:r>
                        </m:den>
                      </m:f>
                      <m:r>
                        <a:rPr lang="fr-FR" sz="2600" b="1">
                          <a:solidFill>
                            <a:schemeClr val="tx2">
                              <a:lumMod val="50000"/>
                            </a:schemeClr>
                          </a:solidFill>
                          <a:latin typeface="Cambria Math" panose="02040503050406030204" pitchFamily="18" charset="0"/>
                          <a:ea typeface="MS PGothic" pitchFamily="34" charset="-128"/>
                        </a:rPr>
                        <m:t>=</m:t>
                      </m:r>
                      <m:r>
                        <a:rPr lang="fr-FR" sz="2600" b="1" i="0" smtClean="0">
                          <a:solidFill>
                            <a:schemeClr val="tx2">
                              <a:lumMod val="50000"/>
                            </a:schemeClr>
                          </a:solidFill>
                          <a:latin typeface="Cambria Math" panose="02040503050406030204" pitchFamily="18" charset="0"/>
                          <a:ea typeface="MS PGothic" pitchFamily="34" charset="-128"/>
                        </a:rPr>
                        <m:t>𝟒𝟑</m:t>
                      </m:r>
                      <m:r>
                        <a:rPr lang="fr-FR" sz="2600" b="1" i="0" smtClean="0">
                          <a:solidFill>
                            <a:schemeClr val="tx2">
                              <a:lumMod val="50000"/>
                            </a:schemeClr>
                          </a:solidFill>
                          <a:latin typeface="Cambria Math" panose="02040503050406030204" pitchFamily="18" charset="0"/>
                          <a:ea typeface="MS PGothic" pitchFamily="34" charset="-128"/>
                        </a:rPr>
                        <m:t>,</m:t>
                      </m:r>
                      <m:r>
                        <a:rPr lang="fr-FR" sz="2600" b="1" i="0" smtClean="0">
                          <a:solidFill>
                            <a:schemeClr val="tx2">
                              <a:lumMod val="50000"/>
                            </a:schemeClr>
                          </a:solidFill>
                          <a:latin typeface="Cambria Math" panose="02040503050406030204" pitchFamily="18" charset="0"/>
                          <a:ea typeface="MS PGothic" pitchFamily="34" charset="-128"/>
                        </a:rPr>
                        <m:t>𝟖𝟗</m:t>
                      </m:r>
                    </m:oMath>
                  </m:oMathPara>
                </a14:m>
                <a:endParaRPr lang="fr-FR" sz="2600" b="1" dirty="0">
                  <a:solidFill>
                    <a:srgbClr val="C00000"/>
                  </a:solidFill>
                  <a:latin typeface="Comic Sans MS" panose="030F0702030302020204" pitchFamily="66" charset="0"/>
                </a:endParaRPr>
              </a:p>
              <a:p>
                <a:pPr lvl="2" indent="-457200">
                  <a:buFont typeface="Wingdings" panose="05000000000000000000" pitchFamily="2" charset="2"/>
                  <a:buChar char="§"/>
                </a:pPr>
                <a:r>
                  <a:rPr lang="fr-FR" sz="2800" b="1" dirty="0">
                    <a:solidFill>
                      <a:srgbClr val="C00000"/>
                    </a:solidFill>
                    <a:latin typeface="Comic Sans MS" panose="030F0702030302020204" pitchFamily="66" charset="0"/>
                  </a:rPr>
                  <a:t>Variance inter classe</a:t>
                </a:r>
              </a:p>
              <a:p>
                <a:endParaRPr lang="fr-FR" sz="2000" b="1" dirty="0">
                  <a:solidFill>
                    <a:srgbClr val="002060"/>
                  </a:solidFill>
                  <a:latin typeface="Comic Sans MS" panose="030F0702030302020204" pitchFamily="66" charset="0"/>
                  <a:ea typeface="MS PGothic" pitchFamily="34" charset="-128"/>
                </a:endParaRPr>
              </a:p>
              <a:p>
                <a:pPr/>
                <a14:m>
                  <m:oMathPara xmlns:m="http://schemas.openxmlformats.org/officeDocument/2006/math">
                    <m:oMathParaPr>
                      <m:jc m:val="centerGroup"/>
                    </m:oMathParaPr>
                    <m:oMath xmlns:m="http://schemas.openxmlformats.org/officeDocument/2006/math">
                      <m:sSub>
                        <m:sSubPr>
                          <m:ctrlPr>
                            <a:rPr lang="fr-FR" sz="2200" b="1" i="1" smtClean="0">
                              <a:solidFill>
                                <a:schemeClr val="tx2">
                                  <a:lumMod val="50000"/>
                                </a:schemeClr>
                              </a:solidFill>
                              <a:latin typeface="Cambria Math" panose="02040503050406030204" pitchFamily="18" charset="0"/>
                              <a:ea typeface="MS PGothic" pitchFamily="34" charset="-128"/>
                            </a:rPr>
                          </m:ctrlPr>
                        </m:sSubPr>
                        <m:e>
                          <m:r>
                            <a:rPr lang="fr-FR" sz="2200" b="1" i="0" smtClean="0">
                              <a:solidFill>
                                <a:schemeClr val="tx2">
                                  <a:lumMod val="50000"/>
                                </a:schemeClr>
                              </a:solidFill>
                              <a:latin typeface="Cambria Math" panose="02040503050406030204" pitchFamily="18" charset="0"/>
                              <a:ea typeface="MS PGothic" pitchFamily="34" charset="-128"/>
                            </a:rPr>
                            <m:t>𝐕</m:t>
                          </m:r>
                        </m:e>
                        <m:sub>
                          <m:r>
                            <a:rPr lang="fr-FR" sz="2200" b="1" i="0" smtClean="0">
                              <a:solidFill>
                                <a:schemeClr val="tx2">
                                  <a:lumMod val="50000"/>
                                </a:schemeClr>
                              </a:solidFill>
                              <a:latin typeface="Cambria Math" panose="02040503050406030204" pitchFamily="18" charset="0"/>
                              <a:ea typeface="MS PGothic" pitchFamily="34" charset="-128"/>
                            </a:rPr>
                            <m:t>𝐢𝐧𝐭𝐞𝐫</m:t>
                          </m:r>
                        </m:sub>
                      </m:sSub>
                      <m:r>
                        <a:rPr lang="fr-FR" sz="2200" b="1" i="0" smtClean="0">
                          <a:solidFill>
                            <a:schemeClr val="tx2">
                              <a:lumMod val="50000"/>
                            </a:schemeClr>
                          </a:solidFill>
                          <a:latin typeface="Cambria Math" panose="02040503050406030204" pitchFamily="18" charset="0"/>
                          <a:ea typeface="MS PGothic" pitchFamily="34" charset="-128"/>
                        </a:rPr>
                        <m:t>=</m:t>
                      </m:r>
                      <m:f>
                        <m:fPr>
                          <m:ctrlPr>
                            <a:rPr lang="fr-FR" sz="2200" b="1" i="1" smtClean="0">
                              <a:solidFill>
                                <a:schemeClr val="tx2">
                                  <a:lumMod val="50000"/>
                                </a:schemeClr>
                              </a:solidFill>
                              <a:latin typeface="Cambria Math" panose="02040503050406030204" pitchFamily="18" charset="0"/>
                              <a:ea typeface="MS PGothic" pitchFamily="34" charset="-128"/>
                            </a:rPr>
                          </m:ctrlPr>
                        </m:fPr>
                        <m:num>
                          <m:r>
                            <a:rPr lang="fr-FR" sz="2200" b="1" i="0" smtClean="0">
                              <a:solidFill>
                                <a:schemeClr val="tx2">
                                  <a:lumMod val="50000"/>
                                </a:schemeClr>
                              </a:solidFill>
                              <a:latin typeface="Cambria Math" panose="02040503050406030204" pitchFamily="18" charset="0"/>
                              <a:ea typeface="MS PGothic" pitchFamily="34" charset="-128"/>
                            </a:rPr>
                            <m:t>𝟔</m:t>
                          </m:r>
                          <m:r>
                            <a:rPr lang="fr-FR" sz="2200" b="1" i="0" smtClean="0">
                              <a:solidFill>
                                <a:schemeClr val="tx2">
                                  <a:lumMod val="50000"/>
                                </a:schemeClr>
                              </a:solidFill>
                              <a:latin typeface="Cambria Math" panose="02040503050406030204" pitchFamily="18" charset="0"/>
                              <a:ea typeface="Cambria Math" panose="02040503050406030204" pitchFamily="18" charset="0"/>
                            </a:rPr>
                            <m:t>×</m:t>
                          </m:r>
                          <m:sSup>
                            <m:sSupPr>
                              <m:ctrlPr>
                                <a:rPr lang="fr-FR" sz="2200" b="1" i="1" smtClean="0">
                                  <a:solidFill>
                                    <a:schemeClr val="tx2">
                                      <a:lumMod val="50000"/>
                                    </a:schemeClr>
                                  </a:solidFill>
                                  <a:latin typeface="Cambria Math" panose="02040503050406030204" pitchFamily="18" charset="0"/>
                                  <a:ea typeface="Cambria Math" panose="02040503050406030204" pitchFamily="18" charset="0"/>
                                </a:rPr>
                              </m:ctrlPr>
                            </m:sSupPr>
                            <m:e>
                              <m:r>
                                <a:rPr lang="fr-FR" sz="2200" b="1">
                                  <a:solidFill>
                                    <a:schemeClr val="tx2">
                                      <a:lumMod val="50000"/>
                                    </a:schemeClr>
                                  </a:solidFill>
                                  <a:latin typeface="Cambria Math" panose="02040503050406030204" pitchFamily="18" charset="0"/>
                                  <a:ea typeface="Cambria Math" panose="02040503050406030204" pitchFamily="18" charset="0"/>
                                </a:rPr>
                                <m:t>(</m:t>
                              </m:r>
                              <m:r>
                                <a:rPr lang="fr-FR" sz="2200" b="1">
                                  <a:solidFill>
                                    <a:schemeClr val="tx2">
                                      <a:lumMod val="50000"/>
                                    </a:schemeClr>
                                  </a:solidFill>
                                  <a:latin typeface="Cambria Math" panose="02040503050406030204" pitchFamily="18" charset="0"/>
                                  <a:ea typeface="Cambria Math" panose="02040503050406030204" pitchFamily="18" charset="0"/>
                                </a:rPr>
                                <m:t>𝟑</m:t>
                              </m:r>
                              <m:r>
                                <a:rPr lang="fr-FR" sz="2200" b="1">
                                  <a:solidFill>
                                    <a:schemeClr val="tx2">
                                      <a:lumMod val="50000"/>
                                    </a:schemeClr>
                                  </a:solidFill>
                                  <a:latin typeface="Cambria Math" panose="02040503050406030204" pitchFamily="18" charset="0"/>
                                  <a:ea typeface="Cambria Math" panose="02040503050406030204" pitchFamily="18" charset="0"/>
                                </a:rPr>
                                <m:t>,</m:t>
                              </m:r>
                              <m:r>
                                <a:rPr lang="fr-FR" sz="2200" b="1">
                                  <a:solidFill>
                                    <a:schemeClr val="tx2">
                                      <a:lumMod val="50000"/>
                                    </a:schemeClr>
                                  </a:solidFill>
                                  <a:latin typeface="Cambria Math" panose="02040503050406030204" pitchFamily="18" charset="0"/>
                                  <a:ea typeface="Cambria Math" panose="02040503050406030204" pitchFamily="18" charset="0"/>
                                </a:rPr>
                                <m:t>𝟐𝟖</m:t>
                              </m:r>
                              <m:r>
                                <a:rPr lang="fr-FR" sz="2200" b="1">
                                  <a:solidFill>
                                    <a:schemeClr val="tx2">
                                      <a:lumMod val="50000"/>
                                    </a:schemeClr>
                                  </a:solidFill>
                                  <a:latin typeface="Cambria Math" panose="02040503050406030204" pitchFamily="18" charset="0"/>
                                  <a:ea typeface="Cambria Math" panose="02040503050406030204" pitchFamily="18" charset="0"/>
                                </a:rPr>
                                <m:t>−</m:t>
                              </m:r>
                              <m:r>
                                <a:rPr lang="fr-FR" sz="2200" b="1">
                                  <a:solidFill>
                                    <a:schemeClr val="tx2">
                                      <a:lumMod val="50000"/>
                                    </a:schemeClr>
                                  </a:solidFill>
                                  <a:latin typeface="Cambria Math" panose="02040503050406030204" pitchFamily="18" charset="0"/>
                                  <a:ea typeface="Cambria Math" panose="02040503050406030204" pitchFamily="18" charset="0"/>
                                </a:rPr>
                                <m:t>𝟒𝟑</m:t>
                              </m:r>
                              <m:r>
                                <a:rPr lang="fr-FR" sz="2200" b="1">
                                  <a:solidFill>
                                    <a:schemeClr val="tx2">
                                      <a:lumMod val="50000"/>
                                    </a:schemeClr>
                                  </a:solidFill>
                                  <a:latin typeface="Cambria Math" panose="02040503050406030204" pitchFamily="18" charset="0"/>
                                  <a:ea typeface="Cambria Math" panose="02040503050406030204" pitchFamily="18" charset="0"/>
                                </a:rPr>
                                <m:t>,</m:t>
                              </m:r>
                              <m:r>
                                <a:rPr lang="fr-FR" sz="2200" b="1">
                                  <a:solidFill>
                                    <a:schemeClr val="tx2">
                                      <a:lumMod val="50000"/>
                                    </a:schemeClr>
                                  </a:solidFill>
                                  <a:latin typeface="Cambria Math" panose="02040503050406030204" pitchFamily="18" charset="0"/>
                                  <a:ea typeface="Cambria Math" panose="02040503050406030204" pitchFamily="18" charset="0"/>
                                </a:rPr>
                                <m:t>𝟖𝟗</m:t>
                              </m:r>
                              <m:r>
                                <a:rPr lang="fr-FR" sz="2200" b="1">
                                  <a:solidFill>
                                    <a:schemeClr val="tx2">
                                      <a:lumMod val="50000"/>
                                    </a:schemeClr>
                                  </a:solidFill>
                                  <a:latin typeface="Cambria Math" panose="02040503050406030204" pitchFamily="18" charset="0"/>
                                  <a:ea typeface="Cambria Math" panose="02040503050406030204" pitchFamily="18" charset="0"/>
                                </a:rPr>
                                <m:t>)</m:t>
                              </m:r>
                            </m:e>
                            <m:sup>
                              <m:r>
                                <a:rPr lang="fr-FR" sz="2200" b="1" i="1" smtClean="0">
                                  <a:solidFill>
                                    <a:schemeClr val="tx2">
                                      <a:lumMod val="50000"/>
                                    </a:schemeClr>
                                  </a:solidFill>
                                  <a:latin typeface="Cambria Math" panose="02040503050406030204" pitchFamily="18" charset="0"/>
                                  <a:ea typeface="Cambria Math" panose="02040503050406030204" pitchFamily="18" charset="0"/>
                                </a:rPr>
                                <m:t>𝟐</m:t>
                              </m:r>
                            </m:sup>
                          </m:sSup>
                          <m:r>
                            <a:rPr lang="fr-FR" sz="2200" b="1" i="0" smtClean="0">
                              <a:solidFill>
                                <a:schemeClr val="tx2">
                                  <a:lumMod val="50000"/>
                                </a:schemeClr>
                              </a:solidFill>
                              <a:latin typeface="Cambria Math" panose="02040503050406030204" pitchFamily="18" charset="0"/>
                              <a:ea typeface="Cambria Math" panose="02040503050406030204" pitchFamily="18" charset="0"/>
                            </a:rPr>
                            <m:t>+</m:t>
                          </m:r>
                          <m:r>
                            <a:rPr lang="fr-FR" sz="2200" b="1" i="0" smtClean="0">
                              <a:solidFill>
                                <a:schemeClr val="tx2">
                                  <a:lumMod val="50000"/>
                                </a:schemeClr>
                              </a:solidFill>
                              <a:latin typeface="Cambria Math" panose="02040503050406030204" pitchFamily="18" charset="0"/>
                              <a:ea typeface="Cambria Math" panose="02040503050406030204" pitchFamily="18" charset="0"/>
                            </a:rPr>
                            <m:t>𝟗</m:t>
                          </m:r>
                          <m:r>
                            <a:rPr lang="fr-FR" sz="2200" b="1" i="0" smtClean="0">
                              <a:solidFill>
                                <a:schemeClr val="tx2">
                                  <a:lumMod val="50000"/>
                                </a:schemeClr>
                              </a:solidFill>
                              <a:latin typeface="Cambria Math" panose="02040503050406030204" pitchFamily="18" charset="0"/>
                              <a:ea typeface="Cambria Math" panose="02040503050406030204" pitchFamily="18" charset="0"/>
                            </a:rPr>
                            <m:t>×</m:t>
                          </m:r>
                          <m:r>
                            <a:rPr lang="fr-FR" sz="2200" b="1" i="1" smtClean="0">
                              <a:solidFill>
                                <a:schemeClr val="tx2">
                                  <a:lumMod val="50000"/>
                                </a:schemeClr>
                              </a:solidFill>
                              <a:latin typeface="Cambria Math" panose="02040503050406030204" pitchFamily="18" charset="0"/>
                              <a:ea typeface="Cambria Math" panose="02040503050406030204" pitchFamily="18" charset="0"/>
                            </a:rPr>
                            <m:t>(</m:t>
                          </m:r>
                          <m:sSup>
                            <m:sSupPr>
                              <m:ctrlPr>
                                <a:rPr lang="fr-FR" sz="2200" b="1" i="1" smtClean="0">
                                  <a:solidFill>
                                    <a:schemeClr val="tx2">
                                      <a:lumMod val="50000"/>
                                    </a:schemeClr>
                                  </a:solidFill>
                                  <a:latin typeface="Cambria Math" panose="02040503050406030204" pitchFamily="18" charset="0"/>
                                  <a:ea typeface="Cambria Math" panose="02040503050406030204" pitchFamily="18" charset="0"/>
                                </a:rPr>
                              </m:ctrlPr>
                            </m:sSupPr>
                            <m:e>
                              <m:r>
                                <a:rPr lang="fr-FR" sz="2200" b="1" i="1" smtClean="0">
                                  <a:solidFill>
                                    <a:schemeClr val="tx2">
                                      <a:lumMod val="50000"/>
                                    </a:schemeClr>
                                  </a:solidFill>
                                  <a:latin typeface="Cambria Math" panose="02040503050406030204" pitchFamily="18" charset="0"/>
                                  <a:ea typeface="Cambria Math" panose="02040503050406030204" pitchFamily="18" charset="0"/>
                                </a:rPr>
                                <m:t>𝟐𝟏</m:t>
                              </m:r>
                              <m:r>
                                <a:rPr lang="fr-FR" sz="2200" b="1" i="1" smtClean="0">
                                  <a:solidFill>
                                    <a:schemeClr val="tx2">
                                      <a:lumMod val="50000"/>
                                    </a:schemeClr>
                                  </a:solidFill>
                                  <a:latin typeface="Cambria Math" panose="02040503050406030204" pitchFamily="18" charset="0"/>
                                  <a:ea typeface="Cambria Math" panose="02040503050406030204" pitchFamily="18" charset="0"/>
                                </a:rPr>
                                <m:t>,</m:t>
                              </m:r>
                              <m:r>
                                <a:rPr lang="fr-FR" sz="2200" b="1" i="1" smtClean="0">
                                  <a:solidFill>
                                    <a:schemeClr val="tx2">
                                      <a:lumMod val="50000"/>
                                    </a:schemeClr>
                                  </a:solidFill>
                                  <a:latin typeface="Cambria Math" panose="02040503050406030204" pitchFamily="18" charset="0"/>
                                  <a:ea typeface="Cambria Math" panose="02040503050406030204" pitchFamily="18" charset="0"/>
                                </a:rPr>
                                <m:t>𝟖𝟐</m:t>
                              </m:r>
                              <m:r>
                                <a:rPr lang="fr-FR" sz="2200" b="1" i="1" smtClean="0">
                                  <a:solidFill>
                                    <a:schemeClr val="tx2">
                                      <a:lumMod val="50000"/>
                                    </a:schemeClr>
                                  </a:solidFill>
                                  <a:latin typeface="Cambria Math" panose="02040503050406030204" pitchFamily="18" charset="0"/>
                                  <a:ea typeface="Cambria Math" panose="02040503050406030204" pitchFamily="18" charset="0"/>
                                </a:rPr>
                                <m:t>−</m:t>
                              </m:r>
                              <m:r>
                                <a:rPr lang="fr-FR" sz="2200" b="1" i="1" smtClean="0">
                                  <a:solidFill>
                                    <a:schemeClr val="tx2">
                                      <a:lumMod val="50000"/>
                                    </a:schemeClr>
                                  </a:solidFill>
                                  <a:latin typeface="Cambria Math" panose="02040503050406030204" pitchFamily="18" charset="0"/>
                                  <a:ea typeface="Cambria Math" panose="02040503050406030204" pitchFamily="18" charset="0"/>
                                </a:rPr>
                                <m:t>𝟒𝟑</m:t>
                              </m:r>
                              <m:r>
                                <a:rPr lang="fr-FR" sz="2200" b="1" i="1" smtClean="0">
                                  <a:solidFill>
                                    <a:schemeClr val="tx2">
                                      <a:lumMod val="50000"/>
                                    </a:schemeClr>
                                  </a:solidFill>
                                  <a:latin typeface="Cambria Math" panose="02040503050406030204" pitchFamily="18" charset="0"/>
                                  <a:ea typeface="Cambria Math" panose="02040503050406030204" pitchFamily="18" charset="0"/>
                                </a:rPr>
                                <m:t>,</m:t>
                              </m:r>
                              <m:r>
                                <a:rPr lang="fr-FR" sz="2200" b="1" i="1" smtClean="0">
                                  <a:solidFill>
                                    <a:schemeClr val="tx2">
                                      <a:lumMod val="50000"/>
                                    </a:schemeClr>
                                  </a:solidFill>
                                  <a:latin typeface="Cambria Math" panose="02040503050406030204" pitchFamily="18" charset="0"/>
                                  <a:ea typeface="Cambria Math" panose="02040503050406030204" pitchFamily="18" charset="0"/>
                                </a:rPr>
                                <m:t>𝟖𝟗</m:t>
                              </m:r>
                              <m:r>
                                <a:rPr lang="fr-FR" sz="2200" b="1" i="1" smtClean="0">
                                  <a:solidFill>
                                    <a:schemeClr val="tx2">
                                      <a:lumMod val="50000"/>
                                    </a:schemeClr>
                                  </a:solidFill>
                                  <a:latin typeface="Cambria Math" panose="02040503050406030204" pitchFamily="18" charset="0"/>
                                  <a:ea typeface="Cambria Math" panose="02040503050406030204" pitchFamily="18" charset="0"/>
                                </a:rPr>
                                <m:t>)</m:t>
                              </m:r>
                            </m:e>
                            <m:sup>
                              <m:r>
                                <a:rPr lang="fr-FR" sz="2200" b="1" i="1" smtClean="0">
                                  <a:solidFill>
                                    <a:schemeClr val="tx2">
                                      <a:lumMod val="50000"/>
                                    </a:schemeClr>
                                  </a:solidFill>
                                  <a:latin typeface="Cambria Math" panose="02040503050406030204" pitchFamily="18" charset="0"/>
                                  <a:ea typeface="Cambria Math" panose="02040503050406030204" pitchFamily="18" charset="0"/>
                                </a:rPr>
                                <m:t>𝟐</m:t>
                              </m:r>
                            </m:sup>
                          </m:sSup>
                          <m:r>
                            <a:rPr lang="fr-FR" sz="2200" b="1" i="0" smtClean="0">
                              <a:solidFill>
                                <a:schemeClr val="tx2">
                                  <a:lumMod val="50000"/>
                                </a:schemeClr>
                              </a:solidFill>
                              <a:latin typeface="Cambria Math" panose="02040503050406030204" pitchFamily="18" charset="0"/>
                              <a:ea typeface="Cambria Math" panose="02040503050406030204" pitchFamily="18" charset="0"/>
                            </a:rPr>
                            <m:t>+</m:t>
                          </m:r>
                          <m:r>
                            <a:rPr lang="fr-FR" sz="2200" b="1" i="0" smtClean="0">
                              <a:solidFill>
                                <a:schemeClr val="tx2">
                                  <a:lumMod val="50000"/>
                                </a:schemeClr>
                              </a:solidFill>
                              <a:latin typeface="Cambria Math" panose="02040503050406030204" pitchFamily="18" charset="0"/>
                              <a:ea typeface="Cambria Math" panose="02040503050406030204" pitchFamily="18" charset="0"/>
                            </a:rPr>
                            <m:t>𝟓</m:t>
                          </m:r>
                          <m:r>
                            <a:rPr lang="fr-FR" sz="2200" b="1" i="0" smtClean="0">
                              <a:solidFill>
                                <a:schemeClr val="tx2">
                                  <a:lumMod val="50000"/>
                                </a:schemeClr>
                              </a:solidFill>
                              <a:latin typeface="Cambria Math" panose="02040503050406030204" pitchFamily="18" charset="0"/>
                              <a:ea typeface="Cambria Math" panose="02040503050406030204" pitchFamily="18" charset="0"/>
                            </a:rPr>
                            <m:t>×</m:t>
                          </m:r>
                          <m:sSup>
                            <m:sSupPr>
                              <m:ctrlPr>
                                <a:rPr lang="fr-FR" sz="2200" b="1" i="1" smtClean="0">
                                  <a:solidFill>
                                    <a:schemeClr val="tx2">
                                      <a:lumMod val="50000"/>
                                    </a:schemeClr>
                                  </a:solidFill>
                                  <a:latin typeface="Cambria Math" panose="02040503050406030204" pitchFamily="18" charset="0"/>
                                  <a:ea typeface="Cambria Math" panose="02040503050406030204" pitchFamily="18" charset="0"/>
                                </a:rPr>
                              </m:ctrlPr>
                            </m:sSupPr>
                            <m:e>
                              <m:r>
                                <a:rPr lang="fr-FR" sz="2200" b="1" i="1" smtClean="0">
                                  <a:solidFill>
                                    <a:schemeClr val="tx2">
                                      <a:lumMod val="50000"/>
                                    </a:schemeClr>
                                  </a:solidFill>
                                  <a:latin typeface="Cambria Math" panose="02040503050406030204" pitchFamily="18" charset="0"/>
                                  <a:ea typeface="Cambria Math" panose="02040503050406030204" pitchFamily="18" charset="0"/>
                                </a:rPr>
                                <m:t>(</m:t>
                              </m:r>
                              <m:r>
                                <a:rPr lang="fr-FR" sz="2200" b="1" i="1" smtClean="0">
                                  <a:solidFill>
                                    <a:schemeClr val="tx2">
                                      <a:lumMod val="50000"/>
                                    </a:schemeClr>
                                  </a:solidFill>
                                  <a:latin typeface="Cambria Math" panose="02040503050406030204" pitchFamily="18" charset="0"/>
                                  <a:ea typeface="Cambria Math" panose="02040503050406030204" pitchFamily="18" charset="0"/>
                                </a:rPr>
                                <m:t>𝟏𝟑𝟐</m:t>
                              </m:r>
                              <m:r>
                                <a:rPr lang="fr-FR" sz="2200" b="1" i="1" smtClean="0">
                                  <a:solidFill>
                                    <a:schemeClr val="tx2">
                                      <a:lumMod val="50000"/>
                                    </a:schemeClr>
                                  </a:solidFill>
                                  <a:latin typeface="Cambria Math" panose="02040503050406030204" pitchFamily="18" charset="0"/>
                                  <a:ea typeface="Cambria Math" panose="02040503050406030204" pitchFamily="18" charset="0"/>
                                </a:rPr>
                                <m:t>,</m:t>
                              </m:r>
                              <m:r>
                                <a:rPr lang="fr-FR" sz="2200" b="1" i="1" smtClean="0">
                                  <a:solidFill>
                                    <a:schemeClr val="tx2">
                                      <a:lumMod val="50000"/>
                                    </a:schemeClr>
                                  </a:solidFill>
                                  <a:latin typeface="Cambria Math" panose="02040503050406030204" pitchFamily="18" charset="0"/>
                                  <a:ea typeface="Cambria Math" panose="02040503050406030204" pitchFamily="18" charset="0"/>
                                </a:rPr>
                                <m:t>𝟑𝟑</m:t>
                              </m:r>
                              <m:r>
                                <a:rPr lang="fr-FR" sz="2200" b="1" i="1" smtClean="0">
                                  <a:solidFill>
                                    <a:schemeClr val="tx2">
                                      <a:lumMod val="50000"/>
                                    </a:schemeClr>
                                  </a:solidFill>
                                  <a:latin typeface="Cambria Math" panose="02040503050406030204" pitchFamily="18" charset="0"/>
                                  <a:ea typeface="Cambria Math" panose="02040503050406030204" pitchFamily="18" charset="0"/>
                                </a:rPr>
                                <m:t>−</m:t>
                              </m:r>
                              <m:r>
                                <a:rPr lang="fr-FR" sz="2200" b="1" i="1" smtClean="0">
                                  <a:solidFill>
                                    <a:schemeClr val="tx2">
                                      <a:lumMod val="50000"/>
                                    </a:schemeClr>
                                  </a:solidFill>
                                  <a:latin typeface="Cambria Math" panose="02040503050406030204" pitchFamily="18" charset="0"/>
                                  <a:ea typeface="Cambria Math" panose="02040503050406030204" pitchFamily="18" charset="0"/>
                                </a:rPr>
                                <m:t>𝟒𝟑</m:t>
                              </m:r>
                              <m:r>
                                <a:rPr lang="fr-FR" sz="2200" b="1" i="1" smtClean="0">
                                  <a:solidFill>
                                    <a:schemeClr val="tx2">
                                      <a:lumMod val="50000"/>
                                    </a:schemeClr>
                                  </a:solidFill>
                                  <a:latin typeface="Cambria Math" panose="02040503050406030204" pitchFamily="18" charset="0"/>
                                  <a:ea typeface="Cambria Math" panose="02040503050406030204" pitchFamily="18" charset="0"/>
                                </a:rPr>
                                <m:t>,</m:t>
                              </m:r>
                              <m:r>
                                <a:rPr lang="fr-FR" sz="2200" b="1" i="1" smtClean="0">
                                  <a:solidFill>
                                    <a:schemeClr val="tx2">
                                      <a:lumMod val="50000"/>
                                    </a:schemeClr>
                                  </a:solidFill>
                                  <a:latin typeface="Cambria Math" panose="02040503050406030204" pitchFamily="18" charset="0"/>
                                  <a:ea typeface="Cambria Math" panose="02040503050406030204" pitchFamily="18" charset="0"/>
                                </a:rPr>
                                <m:t>𝟖𝟗</m:t>
                              </m:r>
                              <m:r>
                                <a:rPr lang="fr-FR" sz="2200" b="1" i="1" smtClean="0">
                                  <a:solidFill>
                                    <a:schemeClr val="tx2">
                                      <a:lumMod val="50000"/>
                                    </a:schemeClr>
                                  </a:solidFill>
                                  <a:latin typeface="Cambria Math" panose="02040503050406030204" pitchFamily="18" charset="0"/>
                                  <a:ea typeface="Cambria Math" panose="02040503050406030204" pitchFamily="18" charset="0"/>
                                </a:rPr>
                                <m:t>)</m:t>
                              </m:r>
                            </m:e>
                            <m:sup>
                              <m:r>
                                <a:rPr lang="fr-FR" sz="2200" b="1" i="1" smtClean="0">
                                  <a:solidFill>
                                    <a:schemeClr val="tx2">
                                      <a:lumMod val="50000"/>
                                    </a:schemeClr>
                                  </a:solidFill>
                                  <a:latin typeface="Cambria Math" panose="02040503050406030204" pitchFamily="18" charset="0"/>
                                  <a:ea typeface="Cambria Math" panose="02040503050406030204" pitchFamily="18" charset="0"/>
                                </a:rPr>
                                <m:t>𝟐</m:t>
                              </m:r>
                            </m:sup>
                          </m:sSup>
                        </m:num>
                        <m:den>
                          <m:r>
                            <a:rPr lang="fr-FR" sz="2200" b="1" i="0" smtClean="0">
                              <a:solidFill>
                                <a:schemeClr val="tx2">
                                  <a:lumMod val="50000"/>
                                </a:schemeClr>
                              </a:solidFill>
                              <a:latin typeface="Cambria Math" panose="02040503050406030204" pitchFamily="18" charset="0"/>
                              <a:ea typeface="MS PGothic" pitchFamily="34" charset="-128"/>
                            </a:rPr>
                            <m:t>𝟐𝟎</m:t>
                          </m:r>
                        </m:den>
                      </m:f>
                      <m:r>
                        <a:rPr lang="fr-FR" sz="2200" b="1" i="0" smtClean="0">
                          <a:solidFill>
                            <a:schemeClr val="tx2">
                              <a:lumMod val="50000"/>
                            </a:schemeClr>
                          </a:solidFill>
                          <a:latin typeface="Cambria Math" panose="02040503050406030204" pitchFamily="18" charset="0"/>
                          <a:ea typeface="MS PGothic" pitchFamily="34" charset="-128"/>
                        </a:rPr>
                        <m:t>=</m:t>
                      </m:r>
                      <m:r>
                        <a:rPr lang="fr-FR" sz="2200" b="1" i="0" smtClean="0">
                          <a:solidFill>
                            <a:schemeClr val="tx2">
                              <a:lumMod val="50000"/>
                            </a:schemeClr>
                          </a:solidFill>
                          <a:latin typeface="Cambria Math" panose="02040503050406030204" pitchFamily="18" charset="0"/>
                          <a:ea typeface="MS PGothic" pitchFamily="34" charset="-128"/>
                        </a:rPr>
                        <m:t>𝟐𝟔𝟔𝟗</m:t>
                      </m:r>
                      <m:r>
                        <a:rPr lang="fr-FR" sz="2200" b="1" i="0" smtClean="0">
                          <a:solidFill>
                            <a:schemeClr val="tx2">
                              <a:lumMod val="50000"/>
                            </a:schemeClr>
                          </a:solidFill>
                          <a:latin typeface="Cambria Math" panose="02040503050406030204" pitchFamily="18" charset="0"/>
                          <a:ea typeface="MS PGothic" pitchFamily="34" charset="-128"/>
                        </a:rPr>
                        <m:t>,</m:t>
                      </m:r>
                      <m:r>
                        <a:rPr lang="fr-FR" sz="2200" b="1" i="0" smtClean="0">
                          <a:solidFill>
                            <a:schemeClr val="tx2">
                              <a:lumMod val="50000"/>
                            </a:schemeClr>
                          </a:solidFill>
                          <a:latin typeface="Cambria Math" panose="02040503050406030204" pitchFamily="18" charset="0"/>
                          <a:ea typeface="MS PGothic" pitchFamily="34" charset="-128"/>
                        </a:rPr>
                        <m:t>𝟑𝟓</m:t>
                      </m:r>
                    </m:oMath>
                  </m:oMathPara>
                </a14:m>
                <a:endParaRPr lang="fr-FR" sz="2200" b="1" dirty="0">
                  <a:solidFill>
                    <a:schemeClr val="tx2">
                      <a:lumMod val="50000"/>
                    </a:schemeClr>
                  </a:solidFill>
                  <a:latin typeface="Bodoni MT Poster Compressed" panose="02070706080601050204" pitchFamily="18" charset="0"/>
                  <a:ea typeface="MS PGothic" pitchFamily="34" charset="-128"/>
                </a:endParaRPr>
              </a:p>
              <a:p>
                <a:endParaRPr lang="fr-FR" sz="2000" b="1" dirty="0">
                  <a:solidFill>
                    <a:schemeClr val="tx2">
                      <a:lumMod val="50000"/>
                    </a:schemeClr>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a:p>
                <a:endParaRPr lang="fr-FR" sz="1600" b="1" dirty="0">
                  <a:solidFill>
                    <a:srgbClr val="FF0000"/>
                  </a:solidFill>
                  <a:latin typeface="Comic Sans MS" panose="030F0702030302020204" pitchFamily="66" charset="0"/>
                  <a:ea typeface="MS PGothic" pitchFamily="34" charset="-128"/>
                </a:endParaRPr>
              </a:p>
            </p:txBody>
          </p:sp>
        </mc:Choice>
        <mc:Fallback xmlns="">
          <p:sp>
            <p:nvSpPr>
              <p:cNvPr id="4" name="Rectangle 3"/>
              <p:cNvSpPr>
                <a:spLocks noRot="1" noChangeAspect="1" noMove="1" noResize="1" noEditPoints="1" noAdjustHandles="1" noChangeArrowheads="1" noChangeShapeType="1" noTextEdit="1"/>
              </p:cNvSpPr>
              <p:nvPr/>
            </p:nvSpPr>
            <p:spPr>
              <a:xfrm>
                <a:off x="85725" y="1412776"/>
                <a:ext cx="8972550" cy="5779659"/>
              </a:xfrm>
              <a:prstGeom prst="rect">
                <a:avLst/>
              </a:prstGeom>
              <a:blipFill>
                <a:blip r:embed="rId2"/>
                <a:stretch>
                  <a:fillRect l="-1155" t="-844" r="-1563"/>
                </a:stretch>
              </a:blipFill>
            </p:spPr>
            <p:txBody>
              <a:bodyPr/>
              <a:lstStyle/>
              <a:p>
                <a:r>
                  <a:rPr lang="fr-FR">
                    <a:noFill/>
                  </a:rPr>
                  <a:t> </a:t>
                </a:r>
              </a:p>
            </p:txBody>
          </p:sp>
        </mc:Fallback>
      </mc:AlternateContent>
      <p:grpSp>
        <p:nvGrpSpPr>
          <p:cNvPr id="4098" name="Group 74933"/>
          <p:cNvGrpSpPr>
            <a:grpSpLocks/>
          </p:cNvGrpSpPr>
          <p:nvPr/>
        </p:nvGrpSpPr>
        <p:grpSpPr bwMode="auto">
          <a:xfrm>
            <a:off x="-42863" y="-1588"/>
            <a:ext cx="517526" cy="320676"/>
            <a:chOff x="0" y="0"/>
            <a:chExt cx="518160" cy="321564"/>
          </a:xfrm>
        </p:grpSpPr>
      </p:grpSp>
      <p:sp>
        <p:nvSpPr>
          <p:cNvPr id="7" name="Title 1">
            <a:extLst>
              <a:ext uri="{FF2B5EF4-FFF2-40B4-BE49-F238E27FC236}">
                <a16:creationId xmlns:a16="http://schemas.microsoft.com/office/drawing/2014/main" id="{3C4CFD47-0411-4BB4-8431-05E099A9BA89}"/>
              </a:ext>
            </a:extLst>
          </p:cNvPr>
          <p:cNvSpPr txBox="1">
            <a:spLocks/>
          </p:cNvSpPr>
          <p:nvPr/>
        </p:nvSpPr>
        <p:spPr>
          <a:xfrm>
            <a:off x="381000" y="116632"/>
            <a:ext cx="8382000" cy="936104"/>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a:lstStyle>
          <a:p>
            <a:pPr algn="just" defTabSz="914400">
              <a:spcBef>
                <a:spcPts val="0"/>
              </a:spcBef>
            </a:pPr>
            <a:r>
              <a:rPr lang="fr-FR" sz="6000" noProof="1">
                <a:solidFill>
                  <a:srgbClr val="1D4775"/>
                </a:solidFill>
                <a:effectLst>
                  <a:outerShdw blurRad="50800" dist="38100" dir="2700000" algn="tl">
                    <a:prstClr val="black">
                      <a:alpha val="40000"/>
                    </a:prstClr>
                  </a:outerShdw>
                </a:effectLst>
                <a:latin typeface="Bauhaus 93" panose="04030905020B02020C02" pitchFamily="82" charset="0"/>
                <a:cs typeface="Arial"/>
              </a:rPr>
              <a:t>4- Analyse des données</a:t>
            </a:r>
          </a:p>
        </p:txBody>
      </p:sp>
    </p:spTree>
    <p:extLst>
      <p:ext uri="{BB962C8B-B14F-4D97-AF65-F5344CB8AC3E}">
        <p14:creationId xmlns:p14="http://schemas.microsoft.com/office/powerpoint/2010/main" val="1606377847"/>
      </p:ext>
    </p:extLst>
  </p:cSld>
  <p:clrMapOvr>
    <a:masterClrMapping/>
  </p:clrMapOvr>
  <p:transition spd="slow">
    <p:push dir="u"/>
  </p:transition>
</p:sld>
</file>

<file path=ppt/theme/theme1.xml><?xml version="1.0" encoding="utf-8"?>
<a:theme xmlns:a="http://schemas.openxmlformats.org/drawingml/2006/main" name="1_White with Blue Bar Segoe Template_TP10286789">
  <a:themeElements>
    <a:clrScheme name="White - blue accents template template">
      <a:dk1>
        <a:srgbClr val="000000"/>
      </a:dk1>
      <a:lt1>
        <a:srgbClr val="FFFFFF"/>
      </a:lt1>
      <a:dk2>
        <a:srgbClr val="1D4775"/>
      </a:dk2>
      <a:lt2>
        <a:srgbClr val="FEF194"/>
      </a:lt2>
      <a:accent1>
        <a:srgbClr val="FFC000"/>
      </a:accent1>
      <a:accent2>
        <a:srgbClr val="3497AE"/>
      </a:accent2>
      <a:accent3>
        <a:srgbClr val="DF8045"/>
      </a:accent3>
      <a:accent4>
        <a:srgbClr val="7DCC2E"/>
      </a:accent4>
      <a:accent5>
        <a:srgbClr val="FF9929"/>
      </a:accent5>
      <a:accent6>
        <a:srgbClr val="A061C3"/>
      </a:accent6>
      <a:hlink>
        <a:srgbClr val="1D4775"/>
      </a:hlink>
      <a:folHlink>
        <a:srgbClr val="1D477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chemeClr val="tx1"/>
            </a:solidFill>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2.xml><?xml version="1.0" encoding="utf-8"?>
<a:theme xmlns:a="http://schemas.openxmlformats.org/drawingml/2006/main" name="White with Courier font for code slides">
  <a:themeElements>
    <a:clrScheme name="Blue Template-Template">
      <a:dk1>
        <a:srgbClr val="000000"/>
      </a:dk1>
      <a:lt1>
        <a:srgbClr val="FFFFFF"/>
      </a:lt1>
      <a:dk2>
        <a:srgbClr val="050595"/>
      </a:dk2>
      <a:lt2>
        <a:srgbClr val="FFFFFF"/>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109728" tIns="54864" rIns="109728" bIns="54864" numCol="1" rtlCol="0" anchor="ctr" anchorCtr="0" compatLnSpc="1">
        <a:prstTxWarp prst="textNoShape">
          <a:avLst/>
        </a:prstTxWarp>
      </a:bodyPr>
      <a:lstStyle>
        <a:defPPr marL="0" marR="0" indent="0" algn="ctr" defTabSz="1096963" rtl="0" eaLnBrk="1" fontAlgn="base" latinLnBrk="0" hangingPunct="1">
          <a:lnSpc>
            <a:spcPct val="100000"/>
          </a:lnSpc>
          <a:spcBef>
            <a:spcPct val="0"/>
          </a:spcBef>
          <a:spcAft>
            <a:spcPct val="0"/>
          </a:spcAft>
          <a:buClrTx/>
          <a:buSzTx/>
          <a:buFontTx/>
          <a:buNone/>
          <a:tabLst/>
          <a:defRPr kumimoji="0" sz="2800" b="0" i="0" u="none" strike="noStrike" cap="none" normalizeH="0" baseline="0" dirty="0" smtClean="0">
            <a:solidFill>
              <a:schemeClr val="tx1"/>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7EEFD162-EDAF-40F1-8DE6-8C07E9AEC85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Exemples de diapositives de présentation (conception Blanc avec barre bleue)</Template>
  <TotalTime>2915</TotalTime>
  <Words>5333</Words>
  <Application>Microsoft Office PowerPoint</Application>
  <PresentationFormat>Affichage à l'écran (4:3)</PresentationFormat>
  <Paragraphs>699</Paragraphs>
  <Slides>61</Slides>
  <Notes>18</Notes>
  <HiddenSlides>0</HiddenSlides>
  <MMClips>0</MMClips>
  <ScaleCrop>false</ScaleCrop>
  <HeadingPairs>
    <vt:vector size="6" baseType="variant">
      <vt:variant>
        <vt:lpstr>Polices utilisées</vt:lpstr>
      </vt:variant>
      <vt:variant>
        <vt:i4>13</vt:i4>
      </vt:variant>
      <vt:variant>
        <vt:lpstr>Thème</vt:lpstr>
      </vt:variant>
      <vt:variant>
        <vt:i4>2</vt:i4>
      </vt:variant>
      <vt:variant>
        <vt:lpstr>Titres des diapositives</vt:lpstr>
      </vt:variant>
      <vt:variant>
        <vt:i4>61</vt:i4>
      </vt:variant>
    </vt:vector>
  </HeadingPairs>
  <TitlesOfParts>
    <vt:vector size="76" baseType="lpstr">
      <vt:lpstr>MS PGothic</vt:lpstr>
      <vt:lpstr>Arial</vt:lpstr>
      <vt:lpstr>Bauhaus 93</vt:lpstr>
      <vt:lpstr>Bodoni MT</vt:lpstr>
      <vt:lpstr>Bodoni MT Condensed</vt:lpstr>
      <vt:lpstr>Bodoni MT Poster Compressed</vt:lpstr>
      <vt:lpstr>Calibri</vt:lpstr>
      <vt:lpstr>Cambria Math</vt:lpstr>
      <vt:lpstr>Comic Sans MS</vt:lpstr>
      <vt:lpstr>Courier New</vt:lpstr>
      <vt:lpstr>Gill Sans Nova Light</vt:lpstr>
      <vt:lpstr>Times New Roman</vt:lpstr>
      <vt:lpstr>Wingdings</vt:lpstr>
      <vt:lpstr>1_White with Blue Bar Segoe Template_TP10286789</vt:lpstr>
      <vt:lpstr>White with Courier font for code slides</vt:lpstr>
      <vt:lpstr>INTRODUCTION GENERALE ET RAPPEL DE STATISTIQUES DESCRIPTIVES</vt:lpstr>
      <vt:lpstr>Plan de la présentation</vt:lpstr>
      <vt:lpstr>INTODUCTION</vt:lpstr>
      <vt:lpstr>INTODUCTION</vt:lpstr>
      <vt:lpstr>INTODUCTION</vt:lpstr>
      <vt:lpstr>INTODUCTION</vt:lpstr>
      <vt:lpstr>INTODUCTION</vt:lpstr>
      <vt:lpstr>INTODUCTION</vt:lpstr>
      <vt:lpstr>INTODUCTION</vt:lpstr>
      <vt:lpstr>INTODUCTION</vt:lpstr>
      <vt:lpstr>INTODUCTION</vt:lpstr>
      <vt:lpstr>INTODUCTION</vt:lpstr>
      <vt:lpstr>INTODUCTION</vt:lpstr>
      <vt:lpstr>LES VARIABLES</vt:lpstr>
      <vt:lpstr>LES VARIABLES</vt:lpstr>
      <vt:lpstr>LES VARIABLES</vt:lpstr>
      <vt:lpstr>LES VARIABLES</vt:lpstr>
      <vt:lpstr>Graphiques</vt:lpstr>
      <vt:lpstr>Graphiques</vt:lpstr>
      <vt:lpstr>Graphiques</vt:lpstr>
      <vt:lpstr>Tendances centrales</vt:lpstr>
      <vt:lpstr>Dispersion</vt:lpstr>
      <vt:lpstr>EXERCICES</vt:lpstr>
      <vt:lpstr>Cas pratiques Sur SPSS</vt:lpstr>
      <vt:lpstr>Cas pratiques Sur SPSS</vt:lpstr>
      <vt:lpstr>1- Généralités</vt:lpstr>
      <vt:lpstr>1- Généralités</vt:lpstr>
      <vt:lpstr>1- Généralités</vt:lpstr>
      <vt:lpstr>1- Généralités</vt:lpstr>
      <vt:lpstr>1- Généralités</vt:lpstr>
      <vt:lpstr>1- Généralités</vt:lpstr>
      <vt:lpstr>1- Généralités</vt:lpstr>
      <vt:lpstr>1- Généralités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EXERCICES</vt:lpstr>
      <vt:lpstr>Présentation PowerPoint</vt:lpstr>
      <vt:lpstr>Présentation PowerPoint</vt:lpstr>
      <vt:lpstr>Présentation PowerPoint</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Titre de la présentation</dc:title>
  <dc:creator>t</dc:creator>
  <cp:keywords/>
  <cp:lastModifiedBy>Sue Ricketts</cp:lastModifiedBy>
  <cp:revision>136</cp:revision>
  <dcterms:created xsi:type="dcterms:W3CDTF">2016-01-15T18:51:43Z</dcterms:created>
  <dcterms:modified xsi:type="dcterms:W3CDTF">2026-03-04T08:40:09Z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TC102867899990</vt:lpwstr>
  </property>
</Properties>
</file>